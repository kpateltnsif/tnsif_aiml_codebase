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Petron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1.png"/><Relationship Id="rId24" Type="http://schemas.openxmlformats.org/officeDocument/2006/relationships/image" Target="../media/image-7-22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5.png"/><Relationship Id="rId28" Type="http://schemas.openxmlformats.org/officeDocument/2006/relationships/image" Target="../media/image-7-26.svg"/><Relationship Id="rId29" Type="http://schemas.openxmlformats.org/officeDocument/2006/relationships/image" Target="../media/image-7-21.png"/><Relationship Id="rId30" Type="http://schemas.openxmlformats.org/officeDocument/2006/relationships/image" Target="../media/image-7-22.svg"/><Relationship Id="rId31" Type="http://schemas.openxmlformats.org/officeDocument/2006/relationships/image" Target="../media/image-7-31.png"/><Relationship Id="rId32" Type="http://schemas.openxmlformats.org/officeDocument/2006/relationships/slideLayout" Target="../slideLayouts/slideLayout2.xml"/><Relationship Id="rId3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image" Target="../media/image-9-2.png"/><Relationship Id="rId11" Type="http://schemas.openxmlformats.org/officeDocument/2006/relationships/image" Target="../media/image-9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5.png"/><Relationship Id="rId8" Type="http://schemas.openxmlformats.org/officeDocument/2006/relationships/image" Target="../media/image-10-6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35113"/>
            <a:ext cx="6296860" cy="1299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Fundamentals of Neural Networks</a:t>
            </a:r>
            <a:endParaRPr lang="en-US" sz="4050" dirty="0"/>
          </a:p>
        </p:txBody>
      </p:sp>
      <p:sp>
        <p:nvSpPr>
          <p:cNvPr id="5" name="Text 2"/>
          <p:cNvSpPr/>
          <p:nvPr/>
        </p:nvSpPr>
        <p:spPr>
          <a:xfrm>
            <a:off x="661475" y="391795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How Neural Networks Learn — A Visual Journey for B.Tech Engineers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15" y="462855"/>
            <a:ext cx="4448957" cy="5932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68586"/>
            <a:ext cx="6296860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5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Biological Neurons to Artificial Neural Networks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233360" y="2112665"/>
            <a:ext cx="2998613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Biological-to-Artificial Analogy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413595"/>
            <a:ext cx="2998613" cy="8989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19689" y="2549128"/>
            <a:ext cx="2676756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Biological Neuron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19689" y="2852737"/>
            <a:ext cx="2676756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signals → Processes information → Produces a signal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392289"/>
            <a:ext cx="2998613" cy="8989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9689" y="3527822"/>
            <a:ext cx="2676756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Artificial Neuron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419689" y="3831431"/>
            <a:ext cx="2676756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inputs → Combines information → Applies activation → Produces output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8537957" y="2112665"/>
            <a:ext cx="2998613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Practical Example: House Price Prediction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537957" y="2624733"/>
            <a:ext cx="2998613" cy="711398"/>
          </a:xfrm>
          <a:prstGeom prst="roundRect">
            <a:avLst>
              <a:gd name="adj" fmla="val 725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667136" y="2753916"/>
            <a:ext cx="2740254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667136" y="3044825"/>
            <a:ext cx="274025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 · Bedrooms · Location · Age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8537957" y="3415903"/>
            <a:ext cx="2998613" cy="873522"/>
          </a:xfrm>
          <a:prstGeom prst="roundRect">
            <a:avLst>
              <a:gd name="adj" fmla="val 590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667136" y="3545086"/>
            <a:ext cx="2740254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Process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667136" y="3835995"/>
            <a:ext cx="274025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Neural Network learns patterns from training data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537957" y="4369197"/>
            <a:ext cx="2998613" cy="711398"/>
          </a:xfrm>
          <a:prstGeom prst="roundRect">
            <a:avLst>
              <a:gd name="adj" fmla="val 725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667136" y="4498380"/>
            <a:ext cx="2740254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67136" y="4789289"/>
            <a:ext cx="274025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Predicted House Price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537957" y="5170388"/>
            <a:ext cx="2998613" cy="529233"/>
          </a:xfrm>
          <a:prstGeom prst="roundRect">
            <a:avLst>
              <a:gd name="adj" fmla="val 9750"/>
            </a:avLst>
          </a:prstGeom>
          <a:solidFill>
            <a:srgbClr val="E0D7F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0786" y="5293916"/>
            <a:ext cx="153488" cy="12283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37104" y="5272881"/>
            <a:ext cx="2476636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Neural networks learn useful patterns from examples.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2357"/>
            <a:ext cx="10868745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spc="-6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Inside a Single Artificial Neuron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997" y="1439466"/>
            <a:ext cx="5548372" cy="2392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8330" y="3370521"/>
            <a:ext cx="1384621" cy="173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2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Activation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728330" y="2816658"/>
            <a:ext cx="1384621" cy="173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2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Combination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728330" y="2268391"/>
            <a:ext cx="1384621" cy="173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2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Weights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728330" y="1714528"/>
            <a:ext cx="1384621" cy="173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2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72226" y="1852712"/>
            <a:ext cx="3564245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Neuron Pipeline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72226" y="2233613"/>
            <a:ext cx="3564245" cy="1197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Spam Detection Example:</a:t>
            </a:r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Words like </a:t>
            </a:r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spc="-24" kern="0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"free," "winner," "urgent"</a:t>
            </a:r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carry higher weights than neutral words like "meeting."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Conceptual Formula: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= Activation(Inputs × Weights)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1475" y="4104184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4342110"/>
            <a:ext cx="5373851" cy="1905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2" name="Text 9"/>
          <p:cNvSpPr/>
          <p:nvPr/>
        </p:nvSpPr>
        <p:spPr>
          <a:xfrm>
            <a:off x="661475" y="4455815"/>
            <a:ext cx="5373851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Inputs (x₁, x₂, x₃, x₄)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1475" y="4788297"/>
            <a:ext cx="53738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data entering the neuron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56270" y="4104184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56270" y="4342110"/>
            <a:ext cx="5373950" cy="1905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6" name="Text 13"/>
          <p:cNvSpPr/>
          <p:nvPr/>
        </p:nvSpPr>
        <p:spPr>
          <a:xfrm>
            <a:off x="6156270" y="4455815"/>
            <a:ext cx="537395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Weights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56270" y="4788297"/>
            <a:ext cx="537395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 how strongly each input influences the decision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61475" y="5240338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61475" y="5478264"/>
            <a:ext cx="5373851" cy="1905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5591969"/>
            <a:ext cx="5373851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Activation Function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1475" y="5924451"/>
            <a:ext cx="53738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Determines how the neuron responds to combined input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156270" y="5240338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156270" y="5478264"/>
            <a:ext cx="5373950" cy="1905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4" name="Text 21"/>
          <p:cNvSpPr/>
          <p:nvPr/>
        </p:nvSpPr>
        <p:spPr>
          <a:xfrm>
            <a:off x="6156270" y="5591969"/>
            <a:ext cx="537395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Output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156270" y="5924451"/>
            <a:ext cx="537395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signal passed to the next layer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4672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Do We Need Layers?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12380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359051"/>
            <a:ext cx="253993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00D9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Layer 1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Edges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61475" y="3797399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basic edges and simple visual patterns from raw pixel data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212380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359051"/>
            <a:ext cx="254003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00F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Layer 2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Shapes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3437645" y="3797399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detected edges into meaningful geometric shapes and contours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212380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359051"/>
            <a:ext cx="254003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FFB8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Layer 3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Parts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6213915" y="3797399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Recognizes object parts — eyes, ears, whiskers — from assembled shapes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212380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359051"/>
            <a:ext cx="254003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00F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Output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 "Cat"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8990184" y="3797399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all parts into a confident classification of the complete object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491728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0D7F4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82" y="5184973"/>
            <a:ext cx="236234" cy="1890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75723" y="5153521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Early layers learn simple features; later layers combine them into rich, complex representations.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35869"/>
            <a:ext cx="10868745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6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Does a Neuron Decide What to Pass Forward?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935758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nonlinear activation functions</a:t>
            </a:r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stacking many layers would severely limit what a network can represent. Activations introduce the complexity needed for real-world learning.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2452191"/>
            <a:ext cx="5381193" cy="1531838"/>
          </a:xfrm>
          <a:prstGeom prst="roundRect">
            <a:avLst>
              <a:gd name="adj" fmla="val 388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506" y="2600226"/>
            <a:ext cx="425241" cy="425252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6482" y="2717105"/>
            <a:ext cx="191289" cy="191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506" y="3131741"/>
            <a:ext cx="5085131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ReLU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9506" y="3439120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Passes positive values through; converts negatives to 0. Simple, efficient — the default choice for hidden layers.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48928" y="2452191"/>
            <a:ext cx="5381292" cy="1531838"/>
          </a:xfrm>
          <a:prstGeom prst="roundRect">
            <a:avLst>
              <a:gd name="adj" fmla="val 388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96959" y="2600226"/>
            <a:ext cx="425241" cy="425252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935" y="2717105"/>
            <a:ext cx="191289" cy="1912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6959" y="3131741"/>
            <a:ext cx="5085231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Sigmoid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296959" y="3439120"/>
            <a:ext cx="50852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values between 0 and 1. Ideal for binary classification and probability-style outputs.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1475" y="4090293"/>
            <a:ext cx="5381193" cy="1531838"/>
          </a:xfrm>
          <a:prstGeom prst="roundRect">
            <a:avLst>
              <a:gd name="adj" fmla="val 388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506" y="4238327"/>
            <a:ext cx="425241" cy="425252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482" y="4355207"/>
            <a:ext cx="191289" cy="1912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506" y="4769842"/>
            <a:ext cx="5085131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Tanh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9506" y="5077222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values between −1 and 1. Similar to sigmoid but centered at zero for better balance.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48928" y="4090293"/>
            <a:ext cx="5381292" cy="1531838"/>
          </a:xfrm>
          <a:prstGeom prst="roundRect">
            <a:avLst>
              <a:gd name="adj" fmla="val 388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96959" y="4238327"/>
            <a:ext cx="425241" cy="425252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935" y="4355207"/>
            <a:ext cx="191289" cy="1912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96959" y="4769842"/>
            <a:ext cx="5085231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3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Softmax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296959" y="5077222"/>
            <a:ext cx="50852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class scores into a probability distribution. Cat: </a:t>
            </a:r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0.80</a:t>
            </a:r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Dog: 0.15 · Horse: 0.05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15" y="462855"/>
            <a:ext cx="4448957" cy="5932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03064"/>
            <a:ext cx="6296860" cy="844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5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Information Moves Through a Neural Network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233360" y="2676823"/>
            <a:ext cx="3987998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Forward Propagation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33360" y="2967732"/>
            <a:ext cx="3987998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Taking input data through the network layer-by-layer to produce a final prediction.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248" y="3381772"/>
            <a:ext cx="2592124" cy="1753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85173" y="4051951"/>
            <a:ext cx="471982" cy="356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Forward Pass Overview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7690568" y="4630851"/>
            <a:ext cx="702157" cy="1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Hidden Layer 1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690568" y="4780268"/>
            <a:ext cx="702157" cy="142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50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 intermediate patterns</a:t>
            </a:r>
            <a:endParaRPr lang="en-US" sz="500" dirty="0"/>
          </a:p>
        </p:txBody>
      </p:sp>
      <p:sp>
        <p:nvSpPr>
          <p:cNvPr id="11" name="Text 7"/>
          <p:cNvSpPr/>
          <p:nvPr/>
        </p:nvSpPr>
        <p:spPr>
          <a:xfrm>
            <a:off x="6045045" y="4630851"/>
            <a:ext cx="702157" cy="1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Hidden Layer 2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6045045" y="4780268"/>
            <a:ext cx="702157" cy="142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50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features into representations</a:t>
            </a:r>
            <a:endParaRPr lang="en-US" sz="500" dirty="0"/>
          </a:p>
        </p:txBody>
      </p:sp>
      <p:sp>
        <p:nvSpPr>
          <p:cNvPr id="13" name="Text 9"/>
          <p:cNvSpPr/>
          <p:nvPr/>
        </p:nvSpPr>
        <p:spPr>
          <a:xfrm>
            <a:off x="6045045" y="3590929"/>
            <a:ext cx="702157" cy="1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Output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6045045" y="3740346"/>
            <a:ext cx="702157" cy="142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50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probability = 0.87</a:t>
            </a:r>
            <a:endParaRPr lang="en-US" sz="500" dirty="0"/>
          </a:p>
        </p:txBody>
      </p:sp>
      <p:sp>
        <p:nvSpPr>
          <p:cNvPr id="15" name="Text 11"/>
          <p:cNvSpPr/>
          <p:nvPr/>
        </p:nvSpPr>
        <p:spPr>
          <a:xfrm>
            <a:off x="7695064" y="3555314"/>
            <a:ext cx="702157" cy="1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695064" y="3704730"/>
            <a:ext cx="702157" cy="213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500" spc="-1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Hours, Attendance, Previous Score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9527341" y="1747143"/>
            <a:ext cx="2009129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Performance Prediction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7341" y="2259211"/>
            <a:ext cx="614248" cy="102294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21359" y="2382044"/>
            <a:ext cx="131511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221359" y="2672953"/>
            <a:ext cx="131511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Hours · Attendance · Previous Score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341" y="3282156"/>
            <a:ext cx="614248" cy="10229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21359" y="3404989"/>
            <a:ext cx="131511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Hidden Layer 1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221359" y="3695898"/>
            <a:ext cx="131511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Learns intermediate patterns between input features</a:t>
            </a:r>
            <a:endParaRPr lang="en-US" sz="9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7341" y="4305102"/>
            <a:ext cx="614248" cy="102294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221359" y="4427934"/>
            <a:ext cx="131511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Hidden Layer 2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0221359" y="4718844"/>
            <a:ext cx="131511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and refines intermediate patterns further</a:t>
            </a:r>
            <a:endParaRPr lang="en-US" sz="9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7341" y="5328047"/>
            <a:ext cx="614248" cy="7370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221359" y="5450880"/>
            <a:ext cx="131511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Output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0221359" y="5741789"/>
            <a:ext cx="13151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probability = 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920"/>
            <a:ext cx="10868745" cy="362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spc="-46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Training: Prediction → Error → Improvement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41202"/>
            <a:ext cx="5305590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Training Loop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4816" y="1288852"/>
            <a:ext cx="2758907" cy="275897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0030" y="1799233"/>
            <a:ext cx="157952" cy="1579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61475" y="4206180"/>
            <a:ext cx="211132" cy="211138"/>
          </a:xfrm>
          <a:prstGeom prst="roundRect">
            <a:avLst>
              <a:gd name="adj" fmla="val 2100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464" y="4239171"/>
            <a:ext cx="145153" cy="1451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31542" y="4229199"/>
            <a:ext cx="5035523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931542" y="4469507"/>
            <a:ext cx="503552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makes a prediction on training data</a:t>
            </a:r>
            <a:endParaRPr lang="en-US" sz="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4816" y="1288852"/>
            <a:ext cx="2758907" cy="2758976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25303" y="2034084"/>
            <a:ext cx="157952" cy="157956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661475" y="4759424"/>
            <a:ext cx="211132" cy="211138"/>
          </a:xfrm>
          <a:prstGeom prst="roundRect">
            <a:avLst>
              <a:gd name="adj" fmla="val 2100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4464" y="4792414"/>
            <a:ext cx="145153" cy="14515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31542" y="4782443"/>
            <a:ext cx="5035523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Measure Error</a:t>
            </a:r>
            <a:endParaRPr lang="en-US" sz="1100" dirty="0"/>
          </a:p>
        </p:txBody>
      </p:sp>
      <p:sp>
        <p:nvSpPr>
          <p:cNvPr id="15" name="Text 7"/>
          <p:cNvSpPr/>
          <p:nvPr/>
        </p:nvSpPr>
        <p:spPr>
          <a:xfrm>
            <a:off x="931542" y="5022751"/>
            <a:ext cx="503552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prediction with actual answer; calculate loss</a:t>
            </a:r>
            <a:endParaRPr lang="en-US" sz="8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4816" y="1288852"/>
            <a:ext cx="2758907" cy="2758976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90458" y="3379391"/>
            <a:ext cx="157952" cy="157956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661475" y="5312668"/>
            <a:ext cx="211132" cy="211138"/>
          </a:xfrm>
          <a:prstGeom prst="roundRect">
            <a:avLst>
              <a:gd name="adj" fmla="val 2100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4464" y="5345658"/>
            <a:ext cx="145153" cy="145157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31542" y="5335687"/>
            <a:ext cx="5035523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Backpropagate</a:t>
            </a:r>
            <a:endParaRPr lang="en-US" sz="1100" dirty="0"/>
          </a:p>
        </p:txBody>
      </p:sp>
      <p:sp>
        <p:nvSpPr>
          <p:cNvPr id="21" name="Text 10"/>
          <p:cNvSpPr/>
          <p:nvPr/>
        </p:nvSpPr>
        <p:spPr>
          <a:xfrm>
            <a:off x="931542" y="5575995"/>
            <a:ext cx="503552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how each parameter contributed to the error</a:t>
            </a:r>
            <a:endParaRPr lang="en-US" sz="8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34816" y="1288852"/>
            <a:ext cx="2758907" cy="2758976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445185" y="3144540"/>
            <a:ext cx="157952" cy="157956"/>
          </a:xfrm>
          <a:prstGeom prst="rect">
            <a:avLst/>
          </a:prstGeom>
        </p:spPr>
      </p:pic>
      <p:sp>
        <p:nvSpPr>
          <p:cNvPr id="24" name="Shape 11"/>
          <p:cNvSpPr/>
          <p:nvPr/>
        </p:nvSpPr>
        <p:spPr>
          <a:xfrm>
            <a:off x="661475" y="5865912"/>
            <a:ext cx="211132" cy="211138"/>
          </a:xfrm>
          <a:prstGeom prst="roundRect">
            <a:avLst>
              <a:gd name="adj" fmla="val 21004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94464" y="5898902"/>
            <a:ext cx="145153" cy="145157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931542" y="5888930"/>
            <a:ext cx="5035523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Update</a:t>
            </a:r>
            <a:endParaRPr lang="en-US" sz="1100" dirty="0"/>
          </a:p>
        </p:txBody>
      </p:sp>
      <p:sp>
        <p:nvSpPr>
          <p:cNvPr id="27" name="Text 13"/>
          <p:cNvSpPr/>
          <p:nvPr/>
        </p:nvSpPr>
        <p:spPr>
          <a:xfrm>
            <a:off x="931542" y="6129238"/>
            <a:ext cx="503552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Optimizer adjusts parameters to reduce error; repeat with next batch</a:t>
            </a:r>
            <a:endParaRPr lang="en-US" sz="800" dirty="0"/>
          </a:p>
        </p:txBody>
      </p:sp>
      <p:sp>
        <p:nvSpPr>
          <p:cNvPr id="28" name="Text 14"/>
          <p:cNvSpPr/>
          <p:nvPr/>
        </p:nvSpPr>
        <p:spPr>
          <a:xfrm>
            <a:off x="6230980" y="1041202"/>
            <a:ext cx="5305590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Conceptual Example: Image Classification</a:t>
            </a:r>
            <a:endParaRPr lang="en-US" sz="110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30980" y="1288852"/>
            <a:ext cx="2623278" cy="608409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6400045" y="1407120"/>
            <a:ext cx="2335948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Actual Label</a:t>
            </a:r>
            <a:endParaRPr lang="en-US" sz="1100" dirty="0"/>
          </a:p>
        </p:txBody>
      </p:sp>
      <p:sp>
        <p:nvSpPr>
          <p:cNvPr id="31" name="Text 16"/>
          <p:cNvSpPr/>
          <p:nvPr/>
        </p:nvSpPr>
        <p:spPr>
          <a:xfrm>
            <a:off x="6400045" y="1647428"/>
            <a:ext cx="2335948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Dog</a:t>
            </a:r>
            <a:endParaRPr lang="en-US" sz="800" dirty="0"/>
          </a:p>
        </p:txBody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913193" y="1288852"/>
            <a:ext cx="2623377" cy="608409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9082257" y="1407120"/>
            <a:ext cx="2336047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Network Prediction</a:t>
            </a:r>
            <a:endParaRPr lang="en-US" sz="1100" dirty="0"/>
          </a:p>
        </p:txBody>
      </p:sp>
      <p:sp>
        <p:nvSpPr>
          <p:cNvPr id="34" name="Text 18"/>
          <p:cNvSpPr/>
          <p:nvPr/>
        </p:nvSpPr>
        <p:spPr>
          <a:xfrm>
            <a:off x="9082257" y="1647428"/>
            <a:ext cx="233604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FF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incorrect</a:t>
            </a:r>
            <a:endParaRPr lang="en-US" sz="800" dirty="0"/>
          </a:p>
        </p:txBody>
      </p:sp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30980" y="1956197"/>
            <a:ext cx="2623278" cy="739973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6400045" y="2074466"/>
            <a:ext cx="2335948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Loss</a:t>
            </a:r>
            <a:endParaRPr lang="en-US" sz="1100" dirty="0"/>
          </a:p>
        </p:txBody>
      </p:sp>
      <p:sp>
        <p:nvSpPr>
          <p:cNvPr id="37" name="Text 20"/>
          <p:cNvSpPr/>
          <p:nvPr/>
        </p:nvSpPr>
        <p:spPr>
          <a:xfrm>
            <a:off x="6400045" y="2314773"/>
            <a:ext cx="2335948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FF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prediction is wrong</a:t>
            </a:r>
            <a:endParaRPr lang="en-US" sz="800" dirty="0"/>
          </a:p>
        </p:txBody>
      </p:sp>
      <p:pic>
        <p:nvPicPr>
          <p:cNvPr id="38" name="Image 15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913193" y="1956197"/>
            <a:ext cx="2623377" cy="739973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9082257" y="2074466"/>
            <a:ext cx="2336047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Update</a:t>
            </a:r>
            <a:endParaRPr lang="en-US" sz="1100" dirty="0"/>
          </a:p>
        </p:txBody>
      </p:sp>
      <p:sp>
        <p:nvSpPr>
          <p:cNvPr id="40" name="Text 22"/>
          <p:cNvSpPr/>
          <p:nvPr/>
        </p:nvSpPr>
        <p:spPr>
          <a:xfrm>
            <a:off x="9082257" y="2314773"/>
            <a:ext cx="2336047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adjusts parameters toward correct answer</a:t>
            </a:r>
            <a:endParaRPr lang="en-US" sz="800" dirty="0"/>
          </a:p>
        </p:txBody>
      </p:sp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230980" y="2755106"/>
            <a:ext cx="2623278" cy="608409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6400045" y="2873375"/>
            <a:ext cx="2335948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2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Next Prediction</a:t>
            </a:r>
            <a:endParaRPr lang="en-US" sz="1100" dirty="0"/>
          </a:p>
        </p:txBody>
      </p:sp>
      <p:sp>
        <p:nvSpPr>
          <p:cNvPr id="43" name="Text 24"/>
          <p:cNvSpPr/>
          <p:nvPr/>
        </p:nvSpPr>
        <p:spPr>
          <a:xfrm>
            <a:off x="6400045" y="3113683"/>
            <a:ext cx="2335948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Closer to correct</a:t>
            </a:r>
            <a:endParaRPr lang="en-US" sz="800" dirty="0"/>
          </a:p>
        </p:txBody>
      </p:sp>
      <p:sp>
        <p:nvSpPr>
          <p:cNvPr id="44" name="Shape 25"/>
          <p:cNvSpPr/>
          <p:nvPr/>
        </p:nvSpPr>
        <p:spPr>
          <a:xfrm>
            <a:off x="6230980" y="3429794"/>
            <a:ext cx="5305590" cy="422077"/>
          </a:xfrm>
          <a:prstGeom prst="roundRect">
            <a:avLst>
              <a:gd name="adj" fmla="val 10507"/>
            </a:avLst>
          </a:prstGeom>
          <a:solidFill>
            <a:srgbClr val="E0D7F4"/>
          </a:solidFill>
          <a:ln/>
        </p:spPr>
      </p:sp>
      <p:pic>
        <p:nvPicPr>
          <p:cNvPr id="45" name="Image 17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36546" y="3524349"/>
            <a:ext cx="131958" cy="105569"/>
          </a:xfrm>
          <a:prstGeom prst="rect">
            <a:avLst/>
          </a:prstGeom>
        </p:spPr>
      </p:pic>
      <p:sp>
        <p:nvSpPr>
          <p:cNvPr id="46" name="Text 26"/>
          <p:cNvSpPr/>
          <p:nvPr/>
        </p:nvSpPr>
        <p:spPr>
          <a:xfrm>
            <a:off x="6574070" y="3509268"/>
            <a:ext cx="4856934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Insight: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Backpropagation traces how each parameter influenced the error, guiding targeted improvements.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5025"/>
            <a:ext cx="10868745" cy="552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7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Training Progresses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924696" y="1740595"/>
            <a:ext cx="2982639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50" b="1" spc="-8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661475" y="2453481"/>
            <a:ext cx="350908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Epochs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61475" y="2811463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passes through training data for convergence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604429" y="1740595"/>
            <a:ext cx="2982739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50" b="1" spc="-8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0.01</a:t>
            </a:r>
            <a:endParaRPr lang="en-US" sz="4150" dirty="0"/>
          </a:p>
        </p:txBody>
      </p:sp>
      <p:sp>
        <p:nvSpPr>
          <p:cNvPr id="7" name="Text 5"/>
          <p:cNvSpPr/>
          <p:nvPr/>
        </p:nvSpPr>
        <p:spPr>
          <a:xfrm>
            <a:off x="4341208" y="2453481"/>
            <a:ext cx="3509180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Learning Rate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41208" y="2811463"/>
            <a:ext cx="35091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common starting point — small enough for stability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84261" y="1740595"/>
            <a:ext cx="2982639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50" b="1" spc="-8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32</a:t>
            </a:r>
            <a:endParaRPr lang="en-US" sz="4150" dirty="0"/>
          </a:p>
        </p:txBody>
      </p:sp>
      <p:sp>
        <p:nvSpPr>
          <p:cNvPr id="10" name="Text 8"/>
          <p:cNvSpPr/>
          <p:nvPr/>
        </p:nvSpPr>
        <p:spPr>
          <a:xfrm>
            <a:off x="8021040" y="2453481"/>
            <a:ext cx="350908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Batch Size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21040" y="2811463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mini-batch for balanced speed and stability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1475" y="3491706"/>
            <a:ext cx="1086874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Training Concepts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61475" y="3972620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9441" y="4027785"/>
            <a:ext cx="4851080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59441" y="4385766"/>
            <a:ext cx="48510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how far predictions are from desired answers. Lower loss = better training performance.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81173" y="3972620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9140" y="4027785"/>
            <a:ext cx="4851080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Epoch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79140" y="4385766"/>
            <a:ext cx="485108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complete pass through the entire training dataset.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1475" y="5134273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9441" y="5189438"/>
            <a:ext cx="4851080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Batch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59441" y="5547420"/>
            <a:ext cx="48510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smaller group of examples processed together before updating parameters.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81173" y="5134273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9140" y="5189438"/>
            <a:ext cx="4851080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Learning Rate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79140" y="5547420"/>
            <a:ext cx="48510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FF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high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unstable training · 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FFB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low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very slow · 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right</a:t>
            </a:r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smooth &amp; steady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7577"/>
            <a:ext cx="10868745" cy="45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5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When a Neural Network Learns Too Much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1475" y="1933773"/>
            <a:ext cx="58325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Three Scenarios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265363"/>
            <a:ext cx="5832528" cy="1914327"/>
          </a:xfrm>
          <a:prstGeom prst="roundRect">
            <a:avLst>
              <a:gd name="adj" fmla="val 2903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271713"/>
            <a:ext cx="2909914" cy="1130796"/>
          </a:xfrm>
          <a:custGeom>
            <a:avLst/>
            <a:gdLst/>
            <a:ahLst/>
            <a:cxnLst/>
            <a:rect l="l" t="t" r="r" b="b"/>
            <a:pathLst>
              <a:path w="2909914" h="1130796">
                <a:moveTo>
                  <a:pt x="46310" y="0"/>
                </a:moveTo>
                <a:lnTo>
                  <a:pt x="2909914" y="0"/>
                </a:lnTo>
                <a:lnTo>
                  <a:pt x="2909914" y="1130796"/>
                </a:lnTo>
                <a:lnTo>
                  <a:pt x="0" y="1130796"/>
                </a:lnTo>
                <a:lnTo>
                  <a:pt x="0" y="46311"/>
                </a:lnTo>
                <a:arcTo hR="46311" wR="46310" stAng="10800000" swAng="5400000"/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6" name="Text 4"/>
          <p:cNvSpPr/>
          <p:nvPr/>
        </p:nvSpPr>
        <p:spPr>
          <a:xfrm>
            <a:off x="800080" y="2403971"/>
            <a:ext cx="264540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😕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Underfitting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080" y="2730302"/>
            <a:ext cx="2645403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too simple — poor performance on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both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training and validation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77739" y="2271713"/>
            <a:ext cx="2909914" cy="1130796"/>
          </a:xfrm>
          <a:custGeom>
            <a:avLst/>
            <a:gdLst/>
            <a:ahLst/>
            <a:cxnLst/>
            <a:rect l="l" t="t" r="r" b="b"/>
            <a:pathLst>
              <a:path w="2909914" h="1130796">
                <a:moveTo>
                  <a:pt x="0" y="0"/>
                </a:moveTo>
                <a:lnTo>
                  <a:pt x="2863604" y="0"/>
                </a:lnTo>
                <a:arcTo hR="46311" wR="46310" stAng="16200000" swAng="5400000"/>
                <a:lnTo>
                  <a:pt x="2909914" y="1130796"/>
                </a:lnTo>
                <a:lnTo>
                  <a:pt x="0" y="1130796"/>
                </a:lnTo>
                <a:lnTo>
                  <a:pt x="0" y="0"/>
                </a:lnTo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9" name="Shape 7"/>
          <p:cNvSpPr/>
          <p:nvPr/>
        </p:nvSpPr>
        <p:spPr>
          <a:xfrm>
            <a:off x="3577739" y="2271713"/>
            <a:ext cx="19050" cy="1130796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10" name="Text 8"/>
          <p:cNvSpPr/>
          <p:nvPr/>
        </p:nvSpPr>
        <p:spPr>
          <a:xfrm>
            <a:off x="3709994" y="2403971"/>
            <a:ext cx="264540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Good Fit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9994" y="2730302"/>
            <a:ext cx="2645403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Learns useful patterns — good performance on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both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training and validation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825" y="3402509"/>
            <a:ext cx="5819828" cy="770830"/>
          </a:xfrm>
          <a:custGeom>
            <a:avLst/>
            <a:gdLst/>
            <a:ahLst/>
            <a:cxnLst/>
            <a:rect l="l" t="t" r="r" b="b"/>
            <a:pathLst>
              <a:path w="5819828" h="770830">
                <a:moveTo>
                  <a:pt x="0" y="0"/>
                </a:moveTo>
                <a:lnTo>
                  <a:pt x="5819828" y="0"/>
                </a:lnTo>
                <a:lnTo>
                  <a:pt x="5819828" y="724520"/>
                </a:lnTo>
                <a:arcTo hR="46311" wR="46310" stAng="0" swAng="5400000"/>
                <a:lnTo>
                  <a:pt x="46310" y="770830"/>
                </a:lnTo>
                <a:arcTo hR="46311" wR="46310" stAng="5400000" swAng="5400000"/>
                <a:lnTo>
                  <a:pt x="0" y="0"/>
                </a:lnTo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825" y="3402509"/>
            <a:ext cx="5819828" cy="19050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14" name="Text 12"/>
          <p:cNvSpPr/>
          <p:nvPr/>
        </p:nvSpPr>
        <p:spPr>
          <a:xfrm>
            <a:off x="800080" y="3534767"/>
            <a:ext cx="555531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Overfitting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0080" y="3861098"/>
            <a:ext cx="555531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Memorizes training data — 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 training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 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FF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 validation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1475" y="4283869"/>
            <a:ext cx="5832528" cy="412750"/>
          </a:xfrm>
          <a:prstGeom prst="roundRect">
            <a:avLst>
              <a:gd name="adj" fmla="val 13464"/>
            </a:avLst>
          </a:prstGeom>
          <a:solidFill>
            <a:srgbClr val="E0D7F4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30" y="4427041"/>
            <a:ext cx="165294" cy="13225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1280" y="4400252"/>
            <a:ext cx="588005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Goal: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Generalize to unseen data — not memorize training data.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23004" y="1933773"/>
            <a:ext cx="4713467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Common Solutions</a:t>
            </a:r>
            <a:endParaRPr lang="en-US" sz="14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72612" y="2269430"/>
            <a:ext cx="198433" cy="19843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52908" y="2265363"/>
            <a:ext cx="428356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More Data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252908" y="2585343"/>
            <a:ext cx="428356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more training examples or use data augmentation</a:t>
            </a:r>
            <a:endParaRPr lang="en-US" sz="1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2612" y="2954635"/>
            <a:ext cx="198433" cy="19843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252908" y="2950567"/>
            <a:ext cx="428356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Dropout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252908" y="3270548"/>
            <a:ext cx="428356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Randomly disable neurons during training to prevent co-dependence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2612" y="3639840"/>
            <a:ext cx="198433" cy="19843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52908" y="3635772"/>
            <a:ext cx="428356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Regularization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252908" y="3955752"/>
            <a:ext cx="428356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Penalize excessively large weights to keep the model general</a:t>
            </a:r>
            <a:endParaRPr lang="en-US" sz="1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72612" y="4325045"/>
            <a:ext cx="198433" cy="19843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52908" y="4320977"/>
            <a:ext cx="428356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Early Stopping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7252908" y="4640957"/>
            <a:ext cx="428356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Halt training when validation performance plateaus or declines</a:t>
            </a:r>
            <a:endParaRPr lang="en-US" sz="10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72612" y="5010249"/>
            <a:ext cx="198433" cy="1984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52908" y="5006181"/>
            <a:ext cx="428356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Simpler Architecture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7252908" y="5326162"/>
            <a:ext cx="428356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layers or neurons so the model cannot over-memorize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8344"/>
            <a:ext cx="10868745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5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Building a Neural Network with Python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340148"/>
            <a:ext cx="5842945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TensorFlow / Keras Implementation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641078"/>
            <a:ext cx="5842945" cy="4174728"/>
          </a:xfrm>
          <a:prstGeom prst="roundRect">
            <a:avLst>
              <a:gd name="adj" fmla="val 1236"/>
            </a:avLst>
          </a:prstGeom>
          <a:solidFill>
            <a:srgbClr val="F0EDEA"/>
          </a:solidFill>
          <a:ln/>
        </p:spPr>
      </p:sp>
      <p:sp>
        <p:nvSpPr>
          <p:cNvPr id="5" name="Text 3"/>
          <p:cNvSpPr/>
          <p:nvPr/>
        </p:nvSpPr>
        <p:spPr>
          <a:xfrm>
            <a:off x="808811" y="1763911"/>
            <a:ext cx="5548273" cy="39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tensorflow.keras.models import Sequential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tensorflow.keras.layers import Dense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Dense(64, activation="relu", input_shape=(10,)),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Dense(32, activation="relu"),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Dense(1,  activation="sigmoid")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optimizer="adam",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loss="binary_crossentropy",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metrics=["accuracy"]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X_train, y_train,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epochs=20,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validation_split=0.2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19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5905599"/>
            <a:ext cx="64525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Architecture: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inputs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 neurons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neurons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FFB8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output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10403" y="1340148"/>
            <a:ext cx="4726068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Component Breakdown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0403" y="1641078"/>
            <a:ext cx="2323149" cy="8862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96731" y="1776611"/>
            <a:ext cx="200129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Dense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96731" y="2067520"/>
            <a:ext cx="200129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connected layer — every neuron connects to all inputs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13322" y="1641078"/>
            <a:ext cx="2323149" cy="8862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99650" y="1776611"/>
            <a:ext cx="200129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ReLU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399650" y="2067520"/>
            <a:ext cx="200129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Nonlinear activation for all hidden layers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0403" y="2607072"/>
            <a:ext cx="2323149" cy="104834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96731" y="2742605"/>
            <a:ext cx="200129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Sigmoid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996731" y="3033514"/>
            <a:ext cx="2001291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activation — probability between 0 and 1 for binary classification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13322" y="2607072"/>
            <a:ext cx="2323149" cy="104834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99650" y="2742605"/>
            <a:ext cx="200129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Adam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399650" y="3033514"/>
            <a:ext cx="200129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Optimizer that adapts learning rates automatically during training</a:t>
            </a:r>
            <a:endParaRPr lang="en-US" sz="9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0403" y="3735189"/>
            <a:ext cx="2323149" cy="88622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96731" y="3870722"/>
            <a:ext cx="200129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Validation Split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996731" y="4161631"/>
            <a:ext cx="200129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Reserves 20% of data to continuously monitor generalization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2026-09-16T05:06:49Z</dcterms:created>
  <dcterms:modified xsi:type="dcterms:W3CDTF">2026-09-16T05:06:49Z</dcterms:modified>
</cp:coreProperties>
</file>