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Inter Bold"/>
      <p:regular r:id="rId201314"/>
    </p:embeddedFont>
    <p:embeddedFont>
      <p:font typeface="Inter"/>
      <p:regular r:id="rId201315"/>
    </p:embeddedFont>
    <p:embeddedFont>
      <p:font typeface="Petrona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2E9"/>
          </a:solidFill>
          <a:ln/>
        </p:spPr>
      </p:sp>
      <p:sp>
        <p:nvSpPr>
          <p:cNvPr id="3" name="Shape 1"/>
          <p:cNvSpPr/>
          <p:nvPr/>
        </p:nvSpPr>
        <p:spPr>
          <a:xfrm>
            <a:off x="0" y="0"/>
            <a:ext cx="12191695" cy="6858000"/>
          </a:xfrm>
          <a:prstGeom prst="rect">
            <a:avLst/>
          </a:prstGeom>
          <a:solidFill>
            <a:srgbClr val="FDFAF7"/>
          </a:solidFill>
          <a:ln/>
        </p:spPr>
      </p:sp>
      <p:pic>
        <p:nvPicPr>
          <p:cNvPr id="4"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image" Target="../media/image-2-1.png"/><Relationship Id="rId4" Type="http://schemas.openxmlformats.org/officeDocument/2006/relationships/image" Target="../media/image-2-2.sv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image" Target="../media/image-5-9.png"/><Relationship Id="rId10" Type="http://schemas.openxmlformats.org/officeDocument/2006/relationships/image" Target="../media/image-5-10.svg"/><Relationship Id="rId11" Type="http://schemas.openxmlformats.org/officeDocument/2006/relationships/image" Target="../media/image-5-11.png"/><Relationship Id="rId12" Type="http://schemas.openxmlformats.org/officeDocument/2006/relationships/image" Target="../media/image-5-12.svg"/><Relationship Id="rId13" Type="http://schemas.openxmlformats.org/officeDocument/2006/relationships/image" Target="../media/image-5-13.png"/><Relationship Id="rId14" Type="http://schemas.openxmlformats.org/officeDocument/2006/relationships/image" Target="../media/image-5-14.svg"/><Relationship Id="rId15" Type="http://schemas.openxmlformats.org/officeDocument/2006/relationships/image" Target="../media/image-5-15.png"/><Relationship Id="rId16" Type="http://schemas.openxmlformats.org/officeDocument/2006/relationships/image" Target="../media/image-5-15.png"/><Relationship Id="rId17" Type="http://schemas.openxmlformats.org/officeDocument/2006/relationships/image" Target="../media/image-5-15.png"/><Relationship Id="rId18" Type="http://schemas.openxmlformats.org/officeDocument/2006/relationships/slideLayout" Target="../slideLayouts/slideLayout2.xml"/><Relationship Id="rId1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image" Target="../media/image-6-1.png"/><Relationship Id="rId6" Type="http://schemas.openxmlformats.org/officeDocument/2006/relationships/image" Target="../media/image-6-2.sv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2.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svg"/><Relationship Id="rId3" Type="http://schemas.openxmlformats.org/officeDocument/2006/relationships/image" Target="../media/image-8-1.png"/><Relationship Id="rId4" Type="http://schemas.openxmlformats.org/officeDocument/2006/relationships/image" Target="../media/image-8-2.svg"/><Relationship Id="rId5" Type="http://schemas.openxmlformats.org/officeDocument/2006/relationships/image" Target="../media/image-8-1.png"/><Relationship Id="rId6" Type="http://schemas.openxmlformats.org/officeDocument/2006/relationships/image" Target="../media/image-8-2.svg"/><Relationship Id="rId7" Type="http://schemas.openxmlformats.org/officeDocument/2006/relationships/slideLayout" Target="../slideLayouts/slideLayout2.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svg"/><Relationship Id="rId3" Type="http://schemas.openxmlformats.org/officeDocument/2006/relationships/image" Target="../media/image-9-3.png"/><Relationship Id="rId4" Type="http://schemas.openxmlformats.org/officeDocument/2006/relationships/image" Target="../media/image-9-4.svg"/><Relationship Id="rId5" Type="http://schemas.openxmlformats.org/officeDocument/2006/relationships/image" Target="../media/image-9-5.png"/><Relationship Id="rId6" Type="http://schemas.openxmlformats.org/officeDocument/2006/relationships/image" Target="../media/image-9-6.sv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2.png"/><Relationship Id="rId5" Type="http://schemas.openxmlformats.org/officeDocument/2006/relationships/image" Target="../media/image-10-3.svg"/><Relationship Id="rId6" Type="http://schemas.openxmlformats.org/officeDocument/2006/relationships/image" Target="../media/image-10-2.png"/><Relationship Id="rId7" Type="http://schemas.openxmlformats.org/officeDocument/2006/relationships/image" Target="../media/image-10-3.svg"/><Relationship Id="rId8" Type="http://schemas.openxmlformats.org/officeDocument/2006/relationships/image" Target="../media/image-10-2.png"/><Relationship Id="rId9" Type="http://schemas.openxmlformats.org/officeDocument/2006/relationships/image" Target="../media/image-10-3.sv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983931" y="468511"/>
            <a:ext cx="2223833" cy="4976912"/>
          </a:xfrm>
          <a:prstGeom prst="rect">
            <a:avLst/>
          </a:prstGeom>
        </p:spPr>
      </p:pic>
      <p:sp>
        <p:nvSpPr>
          <p:cNvPr id="3" name="Text 0"/>
          <p:cNvSpPr/>
          <p:nvPr/>
        </p:nvSpPr>
        <p:spPr>
          <a:xfrm>
            <a:off x="5519039" y="2376680"/>
            <a:ext cx="1136295" cy="1143252"/>
          </a:xfrm>
          <a:prstGeom prst="rect">
            <a:avLst/>
          </a:prstGeom>
          <a:noFill/>
          <a:ln/>
        </p:spPr>
        <p:txBody>
          <a:bodyPr wrap="square" lIns="0" tIns="0" rIns="0" bIns="0" rtlCol="0" anchor="t">
            <a:normAutofit/>
          </a:bodyPr>
          <a:lstStyle/>
          <a:p>
            <a:pPr algn="ctr" indent="0" marL="0">
              <a:lnSpc>
                <a:spcPct val="104000"/>
              </a:lnSpc>
              <a:buNone/>
            </a:pPr>
            <a:r>
              <a:rPr lang="en-US" sz="1800" b="1" spc="-36" kern="0" dirty="0">
                <a:solidFill>
                  <a:srgbClr val="FFFFFF"/>
                </a:solidFill>
                <a:latin typeface="Petrona Bold" pitchFamily="34" charset="0"/>
                <a:ea typeface="Petrona Bold" pitchFamily="34" charset="-122"/>
                <a:cs typeface="Petrona Bold" pitchFamily="34" charset="-120"/>
              </a:rPr>
              <a:t>Deep Learning Applications</a:t>
            </a:r>
            <a:endParaRPr lang="en-US" sz="1800" dirty="0"/>
          </a:p>
        </p:txBody>
      </p:sp>
      <p:sp>
        <p:nvSpPr>
          <p:cNvPr id="4" name="Text 1"/>
          <p:cNvSpPr/>
          <p:nvPr/>
        </p:nvSpPr>
        <p:spPr>
          <a:xfrm>
            <a:off x="5222551" y="4217865"/>
            <a:ext cx="1736632" cy="571626"/>
          </a:xfrm>
          <a:prstGeom prst="rect">
            <a:avLst/>
          </a:prstGeom>
          <a:noFill/>
          <a:ln/>
        </p:spPr>
        <p:txBody>
          <a:bodyPr wrap="square" lIns="0" tIns="0" rIns="0" bIns="0" rtlCol="0" anchor="t">
            <a:normAutofit/>
          </a:bodyPr>
          <a:lstStyle/>
          <a:p>
            <a:pPr algn="ctr" indent="0" marL="0">
              <a:lnSpc>
                <a:spcPct val="104000"/>
              </a:lnSpc>
              <a:buNone/>
            </a:pPr>
            <a:r>
              <a:rPr lang="en-US" sz="1800" b="1" spc="-36" kern="0" dirty="0">
                <a:solidFill>
                  <a:srgbClr val="272525"/>
                </a:solidFill>
                <a:latin typeface="Petrona Bold" pitchFamily="34" charset="0"/>
                <a:ea typeface="Petrona Bold" pitchFamily="34" charset="-122"/>
                <a:cs typeface="Petrona Bold" pitchFamily="34" charset="-120"/>
              </a:rPr>
              <a:t>RNN (Sequential)</a:t>
            </a:r>
            <a:endParaRPr lang="en-US" sz="1800" dirty="0"/>
          </a:p>
        </p:txBody>
      </p:sp>
      <p:sp>
        <p:nvSpPr>
          <p:cNvPr id="5" name="Text 2"/>
          <p:cNvSpPr/>
          <p:nvPr/>
        </p:nvSpPr>
        <p:spPr>
          <a:xfrm>
            <a:off x="5222551" y="4863398"/>
            <a:ext cx="1736632" cy="307177"/>
          </a:xfrm>
          <a:prstGeom prst="rect">
            <a:avLst/>
          </a:prstGeom>
          <a:noFill/>
          <a:ln/>
        </p:spPr>
        <p:txBody>
          <a:bodyPr wrap="square" lIns="0" tIns="0" rIns="0" bIns="0" rtlCol="0" anchor="t">
            <a:normAutofit/>
          </a:bodyPr>
          <a:lstStyle/>
          <a:p>
            <a:pPr algn="ctr" indent="0" marL="0">
              <a:lnSpc>
                <a:spcPct val="77000"/>
              </a:lnSpc>
              <a:buNone/>
            </a:pPr>
            <a:r>
              <a:rPr lang="en-US" sz="1300" spc="-18" kern="0" dirty="0">
                <a:solidFill>
                  <a:srgbClr val="272525"/>
                </a:solidFill>
                <a:latin typeface="Inter" pitchFamily="34" charset="0"/>
                <a:ea typeface="Inter" pitchFamily="34" charset="-122"/>
                <a:cs typeface="Inter" pitchFamily="34" charset="-120"/>
              </a:rPr>
              <a:t>Text and time-series modeling</a:t>
            </a:r>
            <a:endParaRPr lang="en-US" sz="1300" dirty="0"/>
          </a:p>
        </p:txBody>
      </p:sp>
      <p:sp>
        <p:nvSpPr>
          <p:cNvPr id="6" name="Text 3"/>
          <p:cNvSpPr/>
          <p:nvPr/>
        </p:nvSpPr>
        <p:spPr>
          <a:xfrm>
            <a:off x="5214180" y="859417"/>
            <a:ext cx="1736632" cy="285813"/>
          </a:xfrm>
          <a:prstGeom prst="rect">
            <a:avLst/>
          </a:prstGeom>
          <a:noFill/>
          <a:ln/>
        </p:spPr>
        <p:txBody>
          <a:bodyPr wrap="none" lIns="0" tIns="0" rIns="0" bIns="0" rtlCol="0" anchor="t"/>
          <a:lstStyle/>
          <a:p>
            <a:pPr algn="ctr" indent="0" marL="0">
              <a:lnSpc>
                <a:spcPct val="104000"/>
              </a:lnSpc>
              <a:buNone/>
            </a:pPr>
            <a:r>
              <a:rPr lang="en-US" sz="1800" b="1" spc="-36" kern="0" dirty="0">
                <a:solidFill>
                  <a:srgbClr val="272525"/>
                </a:solidFill>
                <a:latin typeface="Petrona Bold" pitchFamily="34" charset="0"/>
                <a:ea typeface="Petrona Bold" pitchFamily="34" charset="-122"/>
                <a:cs typeface="Petrona Bold" pitchFamily="34" charset="-120"/>
              </a:rPr>
              <a:t>CNN (Spatial)</a:t>
            </a:r>
            <a:endParaRPr lang="en-US" sz="1800" dirty="0"/>
          </a:p>
        </p:txBody>
      </p:sp>
      <p:sp>
        <p:nvSpPr>
          <p:cNvPr id="7" name="Text 4"/>
          <p:cNvSpPr/>
          <p:nvPr/>
        </p:nvSpPr>
        <p:spPr>
          <a:xfrm>
            <a:off x="5214180" y="1219137"/>
            <a:ext cx="1736632" cy="307177"/>
          </a:xfrm>
          <a:prstGeom prst="rect">
            <a:avLst/>
          </a:prstGeom>
          <a:noFill/>
          <a:ln/>
        </p:spPr>
        <p:txBody>
          <a:bodyPr wrap="square" lIns="0" tIns="0" rIns="0" bIns="0" rtlCol="0" anchor="t">
            <a:normAutofit/>
          </a:bodyPr>
          <a:lstStyle/>
          <a:p>
            <a:pPr algn="ctr" indent="0" marL="0">
              <a:lnSpc>
                <a:spcPct val="77000"/>
              </a:lnSpc>
              <a:buNone/>
            </a:pPr>
            <a:r>
              <a:rPr lang="en-US" sz="1300" spc="-18" kern="0" dirty="0">
                <a:solidFill>
                  <a:srgbClr val="272525"/>
                </a:solidFill>
                <a:latin typeface="Inter" pitchFamily="34" charset="0"/>
                <a:ea typeface="Inter" pitchFamily="34" charset="-122"/>
                <a:cs typeface="Inter" pitchFamily="34" charset="-120"/>
              </a:rPr>
              <a:t>Image and visual feature learning</a:t>
            </a:r>
            <a:endParaRPr lang="en-US" sz="1300" dirty="0"/>
          </a:p>
        </p:txBody>
      </p:sp>
      <p:sp>
        <p:nvSpPr>
          <p:cNvPr id="8" name="Text 5"/>
          <p:cNvSpPr/>
          <p:nvPr/>
        </p:nvSpPr>
        <p:spPr>
          <a:xfrm>
            <a:off x="661475" y="5502077"/>
            <a:ext cx="10868745" cy="271859"/>
          </a:xfrm>
          <a:prstGeom prst="rect">
            <a:avLst/>
          </a:prstGeom>
          <a:noFill/>
          <a:ln/>
        </p:spPr>
        <p:txBody>
          <a:bodyPr wrap="none" lIns="0" tIns="0" rIns="0" bIns="0" rtlCol="0" anchor="t"/>
          <a:lstStyle/>
          <a:p>
            <a:pPr algn="l" indent="0" marL="0">
              <a:lnSpc>
                <a:spcPct val="104000"/>
              </a:lnSpc>
              <a:buNone/>
            </a:pPr>
            <a:r>
              <a:rPr lang="en-US" sz="1700" b="1" spc="-34" kern="0" dirty="0">
                <a:solidFill>
                  <a:srgbClr val="F95F88"/>
                </a:solidFill>
                <a:latin typeface="Petrona Bold" pitchFamily="34" charset="0"/>
                <a:ea typeface="Petrona Bold" pitchFamily="34" charset="-122"/>
                <a:cs typeface="Petrona Bold" pitchFamily="34" charset="-120"/>
              </a:rPr>
              <a:t>Convolutional Neural Networks (CNN) &amp; Recurrent Neural Networks (RNN)</a:t>
            </a:r>
            <a:endParaRPr lang="en-US" sz="1700" dirty="0"/>
          </a:p>
        </p:txBody>
      </p:sp>
      <p:sp>
        <p:nvSpPr>
          <p:cNvPr id="9" name="Text 6"/>
          <p:cNvSpPr/>
          <p:nvPr/>
        </p:nvSpPr>
        <p:spPr>
          <a:xfrm>
            <a:off x="661475" y="5830590"/>
            <a:ext cx="11478330" cy="93464"/>
          </a:xfrm>
          <a:prstGeom prst="rect">
            <a:avLst/>
          </a:prstGeom>
          <a:noFill/>
          <a:ln/>
        </p:spPr>
        <p:txBody>
          <a:bodyPr wrap="none" lIns="0" tIns="0" rIns="0" bIns="0" rtlCol="0" anchor="t"/>
          <a:lstStyle/>
          <a:p>
            <a:pPr algn="l" indent="0" marL="0">
              <a:lnSpc>
                <a:spcPct val="99000"/>
              </a:lnSpc>
              <a:buNone/>
            </a:pPr>
            <a:r>
              <a:rPr lang="en-US" sz="600" spc="-12" kern="0" dirty="0">
                <a:solidFill>
                  <a:srgbClr val="272525"/>
                </a:solidFill>
                <a:latin typeface="Inter" pitchFamily="34" charset="0"/>
                <a:ea typeface="Inter" pitchFamily="34" charset="-122"/>
                <a:cs typeface="Inter" pitchFamily="34" charset="-120"/>
              </a:rPr>
              <a:t>Deep Learning Architectures for Spatial and Sequential Data</a:t>
            </a:r>
            <a:endParaRPr lang="en-US" sz="600" dirty="0"/>
          </a:p>
        </p:txBody>
      </p:sp>
      <p:sp>
        <p:nvSpPr>
          <p:cNvPr id="10" name="Shape 7"/>
          <p:cNvSpPr/>
          <p:nvPr/>
        </p:nvSpPr>
        <p:spPr>
          <a:xfrm>
            <a:off x="661475" y="5966520"/>
            <a:ext cx="10868745" cy="422870"/>
          </a:xfrm>
          <a:prstGeom prst="roundRect">
            <a:avLst>
              <a:gd name="adj" fmla="val 7854"/>
            </a:avLst>
          </a:prstGeom>
          <a:solidFill>
            <a:srgbClr val="E0D7F4"/>
          </a:solidFill>
          <a:ln w="6350">
            <a:solidFill>
              <a:srgbClr val="C6BDDA"/>
            </a:solidFill>
            <a:prstDash val="solid"/>
          </a:ln>
        </p:spPr>
      </p:sp>
      <p:sp>
        <p:nvSpPr>
          <p:cNvPr id="11" name="Shape 8"/>
          <p:cNvSpPr/>
          <p:nvPr/>
        </p:nvSpPr>
        <p:spPr>
          <a:xfrm>
            <a:off x="667825" y="5972870"/>
            <a:ext cx="3618616" cy="410170"/>
          </a:xfrm>
          <a:custGeom>
            <a:avLst/>
            <a:gdLst/>
            <a:ahLst/>
            <a:cxnLst/>
            <a:rect l="l" t="t" r="r" b="b"/>
            <a:pathLst>
              <a:path w="3618616" h="410170">
                <a:moveTo>
                  <a:pt x="27677" y="0"/>
                </a:moveTo>
                <a:lnTo>
                  <a:pt x="3618616" y="0"/>
                </a:lnTo>
                <a:lnTo>
                  <a:pt x="3618616" y="410170"/>
                </a:lnTo>
                <a:lnTo>
                  <a:pt x="27677" y="410170"/>
                </a:lnTo>
                <a:arcTo hR="27678" wR="27677" stAng="5400000" swAng="5400000"/>
                <a:lnTo>
                  <a:pt x="0" y="27678"/>
                </a:lnTo>
                <a:arcTo hR="27678" wR="27677" stAng="10800000" swAng="5400000"/>
                <a:close/>
              </a:path>
            </a:pathLst>
          </a:custGeom>
          <a:solidFill>
            <a:srgbClr val="E0D7F4"/>
          </a:solidFill>
          <a:ln/>
        </p:spPr>
      </p:sp>
      <p:sp>
        <p:nvSpPr>
          <p:cNvPr id="12" name="Text 9"/>
          <p:cNvSpPr/>
          <p:nvPr/>
        </p:nvSpPr>
        <p:spPr>
          <a:xfrm>
            <a:off x="746900" y="6051947"/>
            <a:ext cx="3460465" cy="135930"/>
          </a:xfrm>
          <a:prstGeom prst="rect">
            <a:avLst/>
          </a:prstGeom>
          <a:noFill/>
          <a:ln/>
        </p:spPr>
        <p:txBody>
          <a:bodyPr wrap="none" lIns="0" tIns="0" rIns="0" bIns="0" rtlCol="0" anchor="t"/>
          <a:lstStyle/>
          <a:p>
            <a:pPr algn="l" indent="0" marL="0">
              <a:lnSpc>
                <a:spcPct val="104000"/>
              </a:lnSpc>
              <a:buNone/>
            </a:pPr>
            <a:r>
              <a:rPr lang="en-US" sz="850" b="1" spc="-17" kern="0" dirty="0">
                <a:solidFill>
                  <a:srgbClr val="272525"/>
                </a:solidFill>
                <a:latin typeface="Petrona Bold" pitchFamily="34" charset="0"/>
                <a:ea typeface="Petrona Bold" pitchFamily="34" charset="-122"/>
                <a:cs typeface="Petrona Bold" pitchFamily="34" charset="-120"/>
              </a:rPr>
              <a:t>CNN</a:t>
            </a:r>
            <a:endParaRPr lang="en-US" sz="850" dirty="0"/>
          </a:p>
        </p:txBody>
      </p:sp>
      <p:sp>
        <p:nvSpPr>
          <p:cNvPr id="13" name="Text 10"/>
          <p:cNvSpPr/>
          <p:nvPr/>
        </p:nvSpPr>
        <p:spPr>
          <a:xfrm>
            <a:off x="746900" y="6210498"/>
            <a:ext cx="3460465" cy="93464"/>
          </a:xfrm>
          <a:prstGeom prst="rect">
            <a:avLst/>
          </a:prstGeom>
          <a:noFill/>
          <a:ln/>
        </p:spPr>
        <p:txBody>
          <a:bodyPr wrap="none" lIns="0" tIns="0" rIns="0" bIns="0" rtlCol="0" anchor="t"/>
          <a:lstStyle/>
          <a:p>
            <a:pPr algn="l" indent="0" marL="0">
              <a:lnSpc>
                <a:spcPct val="99000"/>
              </a:lnSpc>
              <a:buNone/>
            </a:pPr>
            <a:r>
              <a:rPr lang="en-US" sz="600" spc="-12" kern="0" dirty="0">
                <a:solidFill>
                  <a:srgbClr val="272525"/>
                </a:solidFill>
                <a:latin typeface="Inter" pitchFamily="34" charset="0"/>
                <a:ea typeface="Inter" pitchFamily="34" charset="-122"/>
                <a:cs typeface="Inter" pitchFamily="34" charset="-120"/>
              </a:rPr>
              <a:t>Spatial feature learning for images and visual data</a:t>
            </a:r>
            <a:endParaRPr lang="en-US" sz="600" dirty="0"/>
          </a:p>
        </p:txBody>
      </p:sp>
      <p:sp>
        <p:nvSpPr>
          <p:cNvPr id="14" name="Shape 11"/>
          <p:cNvSpPr/>
          <p:nvPr/>
        </p:nvSpPr>
        <p:spPr>
          <a:xfrm>
            <a:off x="4286440" y="5972870"/>
            <a:ext cx="3618715" cy="410170"/>
          </a:xfrm>
          <a:prstGeom prst="rect">
            <a:avLst/>
          </a:prstGeom>
          <a:solidFill>
            <a:srgbClr val="E0D7F4"/>
          </a:solidFill>
          <a:ln/>
        </p:spPr>
      </p:sp>
      <p:sp>
        <p:nvSpPr>
          <p:cNvPr id="15" name="Shape 12"/>
          <p:cNvSpPr/>
          <p:nvPr/>
        </p:nvSpPr>
        <p:spPr>
          <a:xfrm>
            <a:off x="4286440" y="5972870"/>
            <a:ext cx="12700" cy="410170"/>
          </a:xfrm>
          <a:prstGeom prst="roundRect">
            <a:avLst>
              <a:gd name="adj" fmla="val 49999"/>
            </a:avLst>
          </a:prstGeom>
          <a:solidFill>
            <a:srgbClr val="C6BDDA"/>
          </a:solidFill>
          <a:ln/>
        </p:spPr>
      </p:sp>
      <p:sp>
        <p:nvSpPr>
          <p:cNvPr id="16" name="Text 13"/>
          <p:cNvSpPr/>
          <p:nvPr/>
        </p:nvSpPr>
        <p:spPr>
          <a:xfrm>
            <a:off x="4365516" y="6051947"/>
            <a:ext cx="3460564" cy="135930"/>
          </a:xfrm>
          <a:prstGeom prst="rect">
            <a:avLst/>
          </a:prstGeom>
          <a:noFill/>
          <a:ln/>
        </p:spPr>
        <p:txBody>
          <a:bodyPr wrap="none" lIns="0" tIns="0" rIns="0" bIns="0" rtlCol="0" anchor="t"/>
          <a:lstStyle/>
          <a:p>
            <a:pPr algn="l" indent="0" marL="0">
              <a:lnSpc>
                <a:spcPct val="104000"/>
              </a:lnSpc>
              <a:buNone/>
            </a:pPr>
            <a:r>
              <a:rPr lang="en-US" sz="850" b="1" spc="-17" kern="0" dirty="0">
                <a:solidFill>
                  <a:srgbClr val="272525"/>
                </a:solidFill>
                <a:latin typeface="Petrona Bold" pitchFamily="34" charset="0"/>
                <a:ea typeface="Petrona Bold" pitchFamily="34" charset="-122"/>
                <a:cs typeface="Petrona Bold" pitchFamily="34" charset="-120"/>
              </a:rPr>
              <a:t>RNN</a:t>
            </a:r>
            <a:endParaRPr lang="en-US" sz="850" dirty="0"/>
          </a:p>
        </p:txBody>
      </p:sp>
      <p:sp>
        <p:nvSpPr>
          <p:cNvPr id="17" name="Text 14"/>
          <p:cNvSpPr/>
          <p:nvPr/>
        </p:nvSpPr>
        <p:spPr>
          <a:xfrm>
            <a:off x="4365516" y="6210498"/>
            <a:ext cx="3460564" cy="93464"/>
          </a:xfrm>
          <a:prstGeom prst="rect">
            <a:avLst/>
          </a:prstGeom>
          <a:noFill/>
          <a:ln/>
        </p:spPr>
        <p:txBody>
          <a:bodyPr wrap="none" lIns="0" tIns="0" rIns="0" bIns="0" rtlCol="0" anchor="t"/>
          <a:lstStyle/>
          <a:p>
            <a:pPr algn="l" indent="0" marL="0">
              <a:lnSpc>
                <a:spcPct val="99000"/>
              </a:lnSpc>
              <a:buNone/>
            </a:pPr>
            <a:r>
              <a:rPr lang="en-US" sz="600" spc="-12" kern="0" dirty="0">
                <a:solidFill>
                  <a:srgbClr val="272525"/>
                </a:solidFill>
                <a:latin typeface="Inter" pitchFamily="34" charset="0"/>
                <a:ea typeface="Inter" pitchFamily="34" charset="-122"/>
                <a:cs typeface="Inter" pitchFamily="34" charset="-120"/>
              </a:rPr>
              <a:t>Temporal dependency modeling for sequences and text</a:t>
            </a:r>
            <a:endParaRPr lang="en-US" sz="600" dirty="0"/>
          </a:p>
        </p:txBody>
      </p:sp>
      <p:sp>
        <p:nvSpPr>
          <p:cNvPr id="18" name="Shape 15"/>
          <p:cNvSpPr/>
          <p:nvPr/>
        </p:nvSpPr>
        <p:spPr>
          <a:xfrm>
            <a:off x="7905155" y="5972870"/>
            <a:ext cx="3618715" cy="410170"/>
          </a:xfrm>
          <a:custGeom>
            <a:avLst/>
            <a:gdLst/>
            <a:ahLst/>
            <a:cxnLst/>
            <a:rect l="l" t="t" r="r" b="b"/>
            <a:pathLst>
              <a:path w="3618715" h="410170">
                <a:moveTo>
                  <a:pt x="0" y="0"/>
                </a:moveTo>
                <a:lnTo>
                  <a:pt x="3591038" y="0"/>
                </a:lnTo>
                <a:arcTo hR="27678" wR="27677" stAng="16200000" swAng="5400000"/>
                <a:lnTo>
                  <a:pt x="3618715" y="382492"/>
                </a:lnTo>
                <a:arcTo hR="27678" wR="27677" stAng="0" swAng="5400000"/>
                <a:lnTo>
                  <a:pt x="0" y="410170"/>
                </a:lnTo>
                <a:lnTo>
                  <a:pt x="0" y="0"/>
                </a:lnTo>
                <a:close/>
              </a:path>
            </a:pathLst>
          </a:custGeom>
          <a:solidFill>
            <a:srgbClr val="E0D7F4"/>
          </a:solidFill>
          <a:ln/>
        </p:spPr>
      </p:sp>
      <p:sp>
        <p:nvSpPr>
          <p:cNvPr id="19" name="Shape 16"/>
          <p:cNvSpPr/>
          <p:nvPr/>
        </p:nvSpPr>
        <p:spPr>
          <a:xfrm>
            <a:off x="7905155" y="5972870"/>
            <a:ext cx="12700" cy="410170"/>
          </a:xfrm>
          <a:prstGeom prst="roundRect">
            <a:avLst>
              <a:gd name="adj" fmla="val 49999"/>
            </a:avLst>
          </a:prstGeom>
          <a:solidFill>
            <a:srgbClr val="C6BDDA"/>
          </a:solidFill>
          <a:ln/>
        </p:spPr>
      </p:sp>
      <p:sp>
        <p:nvSpPr>
          <p:cNvPr id="20" name="Text 17"/>
          <p:cNvSpPr/>
          <p:nvPr/>
        </p:nvSpPr>
        <p:spPr>
          <a:xfrm>
            <a:off x="7984231" y="6051947"/>
            <a:ext cx="3460564" cy="135930"/>
          </a:xfrm>
          <a:prstGeom prst="rect">
            <a:avLst/>
          </a:prstGeom>
          <a:noFill/>
          <a:ln/>
        </p:spPr>
        <p:txBody>
          <a:bodyPr wrap="none" lIns="0" tIns="0" rIns="0" bIns="0" rtlCol="0" anchor="t"/>
          <a:lstStyle/>
          <a:p>
            <a:pPr algn="l" indent="0" marL="0">
              <a:lnSpc>
                <a:spcPct val="104000"/>
              </a:lnSpc>
              <a:buNone/>
            </a:pPr>
            <a:r>
              <a:rPr lang="en-US" sz="850" b="1" spc="-17" kern="0" dirty="0">
                <a:solidFill>
                  <a:srgbClr val="272525"/>
                </a:solidFill>
                <a:latin typeface="Petrona Bold" pitchFamily="34" charset="0"/>
                <a:ea typeface="Petrona Bold" pitchFamily="34" charset="-122"/>
                <a:cs typeface="Petrona Bold" pitchFamily="34" charset="-120"/>
              </a:rPr>
              <a:t>Audience</a:t>
            </a:r>
            <a:endParaRPr lang="en-US" sz="850" dirty="0"/>
          </a:p>
        </p:txBody>
      </p:sp>
      <p:sp>
        <p:nvSpPr>
          <p:cNvPr id="21" name="Text 18"/>
          <p:cNvSpPr/>
          <p:nvPr/>
        </p:nvSpPr>
        <p:spPr>
          <a:xfrm>
            <a:off x="7984231" y="6210498"/>
            <a:ext cx="3460564" cy="93464"/>
          </a:xfrm>
          <a:prstGeom prst="rect">
            <a:avLst/>
          </a:prstGeom>
          <a:noFill/>
          <a:ln/>
        </p:spPr>
        <p:txBody>
          <a:bodyPr wrap="none" lIns="0" tIns="0" rIns="0" bIns="0" rtlCol="0" anchor="t"/>
          <a:lstStyle/>
          <a:p>
            <a:pPr algn="l" indent="0" marL="0">
              <a:lnSpc>
                <a:spcPct val="99000"/>
              </a:lnSpc>
              <a:buNone/>
            </a:pPr>
            <a:r>
              <a:rPr lang="en-US" sz="600" spc="-12" kern="0" dirty="0">
                <a:solidFill>
                  <a:srgbClr val="272525"/>
                </a:solidFill>
                <a:latin typeface="Inter" pitchFamily="34" charset="0"/>
                <a:ea typeface="Inter" pitchFamily="34" charset="-122"/>
                <a:cs typeface="Inter" pitchFamily="34" charset="-120"/>
              </a:rPr>
              <a:t>B.Tech AI/ML — foundational deep learning curriculum</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1830685"/>
            <a:ext cx="10868745" cy="426343"/>
          </a:xfrm>
          <a:prstGeom prst="rect">
            <a:avLst/>
          </a:prstGeom>
          <a:noFill/>
          <a:ln/>
        </p:spPr>
        <p:txBody>
          <a:bodyPr wrap="none" lIns="0" tIns="0" rIns="0" bIns="0" rtlCol="0" anchor="t"/>
          <a:lstStyle/>
          <a:p>
            <a:pPr algn="l" indent="0" marL="0">
              <a:lnSpc>
                <a:spcPct val="104000"/>
              </a:lnSpc>
              <a:buNone/>
            </a:pPr>
            <a:r>
              <a:rPr lang="en-US" sz="2650" b="1" spc="-54" kern="0" dirty="0">
                <a:solidFill>
                  <a:srgbClr val="F95F88"/>
                </a:solidFill>
                <a:latin typeface="Petrona Bold" pitchFamily="34" charset="0"/>
                <a:ea typeface="Petrona Bold" pitchFamily="34" charset="-122"/>
                <a:cs typeface="Petrona Bold" pitchFamily="34" charset="-120"/>
              </a:rPr>
              <a:t>Why Specialized Neural Networks?</a:t>
            </a:r>
            <a:endParaRPr lang="en-US" sz="2650" dirty="0"/>
          </a:p>
        </p:txBody>
      </p:sp>
      <p:sp>
        <p:nvSpPr>
          <p:cNvPr id="3" name="Text 1"/>
          <p:cNvSpPr/>
          <p:nvPr/>
        </p:nvSpPr>
        <p:spPr>
          <a:xfrm>
            <a:off x="661475" y="2443063"/>
            <a:ext cx="10868745" cy="347266"/>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Standard fully connected networks treat every input neuron independently — they are computationally expensive, prone to overfitting, and destroy the inherent structure of spatial and sequential data. Specialized architectures are designed to exploit that structure.</a:t>
            </a:r>
            <a:endParaRPr lang="en-US" sz="950" dirty="0"/>
          </a:p>
        </p:txBody>
      </p:sp>
      <p:sp>
        <p:nvSpPr>
          <p:cNvPr id="4" name="Shape 2"/>
          <p:cNvSpPr/>
          <p:nvPr/>
        </p:nvSpPr>
        <p:spPr>
          <a:xfrm>
            <a:off x="572180" y="2894905"/>
            <a:ext cx="5461657" cy="1615678"/>
          </a:xfrm>
          <a:prstGeom prst="roundRect">
            <a:avLst>
              <a:gd name="adj" fmla="val 5528"/>
            </a:avLst>
          </a:prstGeom>
          <a:solidFill>
            <a:srgbClr val="AC9EF5"/>
          </a:solidFill>
          <a:ln/>
        </p:spPr>
      </p:sp>
      <p:sp>
        <p:nvSpPr>
          <p:cNvPr id="5" name="Text 3"/>
          <p:cNvSpPr/>
          <p:nvPr/>
        </p:nvSpPr>
        <p:spPr>
          <a:xfrm>
            <a:off x="696201" y="2987873"/>
            <a:ext cx="5213616"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000000"/>
                </a:solidFill>
                <a:latin typeface="Petrona Bold" pitchFamily="34" charset="0"/>
                <a:ea typeface="Petrona Bold" pitchFamily="34" charset="-122"/>
                <a:cs typeface="Petrona Bold" pitchFamily="34" charset="-120"/>
              </a:rPr>
              <a:t>The Core Problem</a:t>
            </a:r>
            <a:endParaRPr lang="en-US" sz="1300" dirty="0"/>
          </a:p>
        </p:txBody>
      </p:sp>
      <p:sp>
        <p:nvSpPr>
          <p:cNvPr id="6" name="Text 4"/>
          <p:cNvSpPr/>
          <p:nvPr/>
        </p:nvSpPr>
        <p:spPr>
          <a:xfrm>
            <a:off x="696201" y="3293963"/>
            <a:ext cx="5823201" cy="173633"/>
          </a:xfrm>
          <a:prstGeom prst="rect">
            <a:avLst/>
          </a:prstGeom>
          <a:noFill/>
          <a:ln/>
        </p:spPr>
        <p:txBody>
          <a:bodyPr wrap="none" lIns="0" tIns="0" rIns="0" bIns="0" rtlCol="0" anchor="t"/>
          <a:lstStyle/>
          <a:p>
            <a:pPr algn="l" indent="0" marL="0">
              <a:lnSpc>
                <a:spcPct val="117000"/>
              </a:lnSpc>
              <a:buNone/>
            </a:pPr>
            <a:r>
              <a:rPr lang="en-US" sz="950" b="1" spc="-20" kern="0" dirty="0">
                <a:solidFill>
                  <a:srgbClr val="272525"/>
                </a:solidFill>
                <a:latin typeface="Inter Bold" pitchFamily="34" charset="0"/>
                <a:ea typeface="Inter Bold" pitchFamily="34" charset="-122"/>
                <a:cs typeface="Inter Bold" pitchFamily="34" charset="-120"/>
              </a:rPr>
              <a:t>Fully Connected Limitations</a:t>
            </a:r>
            <a:endParaRPr lang="en-US" sz="950" dirty="0"/>
          </a:p>
        </p:txBody>
      </p:sp>
      <p:sp>
        <p:nvSpPr>
          <p:cNvPr id="7" name="Text 5"/>
          <p:cNvSpPr/>
          <p:nvPr/>
        </p:nvSpPr>
        <p:spPr>
          <a:xfrm>
            <a:off x="696201" y="3551238"/>
            <a:ext cx="5213616" cy="585986"/>
          </a:xfrm>
          <a:prstGeom prst="rect">
            <a:avLst/>
          </a:prstGeom>
          <a:noFill/>
          <a:ln/>
        </p:spPr>
        <p:txBody>
          <a:bodyPr wrap="square" lIns="0" tIns="0" rIns="0" bIns="0" rtlCol="0" anchor="t">
            <a:normAutofit/>
          </a:bodyPr>
          <a:lstStyle/>
          <a:p>
            <a:pPr algn="l" marL="193040" indent="-193040">
              <a:lnSpc>
                <a:spcPct val="117000"/>
              </a:lnSpc>
              <a:buSzPct val="100000"/>
              <a:buChar char="•"/>
            </a:pPr>
            <a:r>
              <a:rPr lang="en-US" sz="950" spc="-20" kern="0" dirty="0">
                <a:solidFill>
                  <a:srgbClr val="272525"/>
                </a:solidFill>
                <a:latin typeface="Inter" pitchFamily="34" charset="0"/>
                <a:ea typeface="Inter" pitchFamily="34" charset="-122"/>
                <a:cs typeface="Inter" pitchFamily="34" charset="-120"/>
              </a:rPr>
              <a:t>Millions of redundant parameters for high-dimensional inputs</a:t>
            </a:r>
            <a:endParaRPr lang="en-US" sz="950" dirty="0"/>
          </a:p>
          <a:p>
            <a:pPr algn="l" marL="193040" indent="-193040">
              <a:lnSpc>
                <a:spcPct val="117000"/>
              </a:lnSpc>
              <a:buSzPct val="100000"/>
              <a:buChar char="•"/>
            </a:pPr>
            <a:r>
              <a:rPr lang="en-US" sz="950" spc="-20" kern="0" dirty="0">
                <a:solidFill>
                  <a:srgbClr val="272525"/>
                </a:solidFill>
                <a:latin typeface="Inter" pitchFamily="34" charset="0"/>
                <a:ea typeface="Inter" pitchFamily="34" charset="-122"/>
                <a:cs typeface="Inter" pitchFamily="34" charset="-120"/>
              </a:rPr>
              <a:t>No awareness of local pixel correlations in images</a:t>
            </a:r>
            <a:endParaRPr lang="en-US" sz="950" dirty="0"/>
          </a:p>
          <a:p>
            <a:pPr algn="l" marL="193040" indent="-193040">
              <a:lnSpc>
                <a:spcPct val="117000"/>
              </a:lnSpc>
              <a:buSzPct val="100000"/>
              <a:buChar char="•"/>
            </a:pPr>
            <a:r>
              <a:rPr lang="en-US" sz="950" spc="-20" kern="0" dirty="0">
                <a:solidFill>
                  <a:srgbClr val="272525"/>
                </a:solidFill>
                <a:latin typeface="Inter" pitchFamily="34" charset="0"/>
                <a:ea typeface="Inter" pitchFamily="34" charset="-122"/>
                <a:cs typeface="Inter" pitchFamily="34" charset="-120"/>
              </a:rPr>
              <a:t>No awareness of word order or time ordering in sequences</a:t>
            </a:r>
            <a:endParaRPr lang="en-US" sz="950" dirty="0"/>
          </a:p>
        </p:txBody>
      </p:sp>
      <p:sp>
        <p:nvSpPr>
          <p:cNvPr id="8" name="Text 6"/>
          <p:cNvSpPr/>
          <p:nvPr/>
        </p:nvSpPr>
        <p:spPr>
          <a:xfrm>
            <a:off x="6253502" y="2987873"/>
            <a:ext cx="5283068"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F95F88"/>
                </a:solidFill>
                <a:latin typeface="Petrona Bold" pitchFamily="34" charset="0"/>
                <a:ea typeface="Petrona Bold" pitchFamily="34" charset="-122"/>
                <a:cs typeface="Petrona Bold" pitchFamily="34" charset="-120"/>
              </a:rPr>
              <a:t>The Specialized Solution</a:t>
            </a:r>
            <a:endParaRPr lang="en-US" sz="1300" dirty="0"/>
          </a:p>
        </p:txBody>
      </p:sp>
      <p:pic>
        <p:nvPicPr>
          <p:cNvPr id="9"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253502" y="3305572"/>
            <a:ext cx="2595001" cy="1100435"/>
          </a:xfrm>
          <a:prstGeom prst="rect">
            <a:avLst/>
          </a:prstGeom>
        </p:spPr>
      </p:pic>
      <p:sp>
        <p:nvSpPr>
          <p:cNvPr id="10" name="Text 7"/>
          <p:cNvSpPr/>
          <p:nvPr/>
        </p:nvSpPr>
        <p:spPr>
          <a:xfrm>
            <a:off x="6441021" y="3442295"/>
            <a:ext cx="2270763"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CNN — Spatial Data</a:t>
            </a:r>
            <a:endParaRPr lang="en-US" sz="1300" dirty="0"/>
          </a:p>
        </p:txBody>
      </p:sp>
      <p:sp>
        <p:nvSpPr>
          <p:cNvPr id="11" name="Text 8"/>
          <p:cNvSpPr/>
          <p:nvPr/>
        </p:nvSpPr>
        <p:spPr>
          <a:xfrm>
            <a:off x="6441021" y="3748385"/>
            <a:ext cx="2270763" cy="520898"/>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Exploits local pixel correlations via </a:t>
            </a:r>
            <a:pPr algn="l" indent="0" marL="0">
              <a:lnSpc>
                <a:spcPct val="117000"/>
              </a:lnSpc>
              <a:buNone/>
            </a:pPr>
            <a:r>
              <a:rPr lang="en-US" sz="950" b="1" spc="-20" kern="0" dirty="0">
                <a:solidFill>
                  <a:srgbClr val="272525"/>
                </a:solidFill>
                <a:latin typeface="Inter Bold" pitchFamily="34" charset="0"/>
                <a:ea typeface="Inter Bold" pitchFamily="34" charset="-122"/>
                <a:cs typeface="Inter Bold" pitchFamily="34" charset="-120"/>
              </a:rPr>
              <a:t>weight sharing</a:t>
            </a:r>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 Learns hierarchical features: edges → shapes → objects.</a:t>
            </a:r>
            <a:endParaRPr lang="en-US" sz="950" dirty="0"/>
          </a:p>
        </p:txBody>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941469" y="3305572"/>
            <a:ext cx="2595101" cy="1100435"/>
          </a:xfrm>
          <a:prstGeom prst="rect">
            <a:avLst/>
          </a:prstGeom>
        </p:spPr>
      </p:pic>
      <p:sp>
        <p:nvSpPr>
          <p:cNvPr id="13" name="Text 9"/>
          <p:cNvSpPr/>
          <p:nvPr/>
        </p:nvSpPr>
        <p:spPr>
          <a:xfrm>
            <a:off x="9128988" y="3442295"/>
            <a:ext cx="2270862"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RNN — Sequential Data</a:t>
            </a:r>
            <a:endParaRPr lang="en-US" sz="1300" dirty="0"/>
          </a:p>
        </p:txBody>
      </p:sp>
      <p:sp>
        <p:nvSpPr>
          <p:cNvPr id="14" name="Text 10"/>
          <p:cNvSpPr/>
          <p:nvPr/>
        </p:nvSpPr>
        <p:spPr>
          <a:xfrm>
            <a:off x="9128988" y="3748385"/>
            <a:ext cx="2270862" cy="520898"/>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Maintains a </a:t>
            </a:r>
            <a:pPr algn="l" indent="0" marL="0">
              <a:lnSpc>
                <a:spcPct val="117000"/>
              </a:lnSpc>
              <a:buNone/>
            </a:pPr>
            <a:r>
              <a:rPr lang="en-US" sz="950" b="1" spc="-20" kern="0" dirty="0">
                <a:solidFill>
                  <a:srgbClr val="272525"/>
                </a:solidFill>
                <a:latin typeface="Inter Bold" pitchFamily="34" charset="0"/>
                <a:ea typeface="Inter Bold" pitchFamily="34" charset="-122"/>
                <a:cs typeface="Inter Bold" pitchFamily="34" charset="-120"/>
              </a:rPr>
              <a:t>hidden state</a:t>
            </a:r>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 across time steps. Captures temporal dependencies in text, speech, and time series.</a:t>
            </a:r>
            <a:endParaRPr lang="en-US" sz="950" dirty="0"/>
          </a:p>
        </p:txBody>
      </p:sp>
      <p:sp>
        <p:nvSpPr>
          <p:cNvPr id="15" name="Shape 11"/>
          <p:cNvSpPr/>
          <p:nvPr/>
        </p:nvSpPr>
        <p:spPr>
          <a:xfrm>
            <a:off x="661475" y="4615160"/>
            <a:ext cx="10868745" cy="412155"/>
          </a:xfrm>
          <a:prstGeom prst="roundRect">
            <a:avLst>
              <a:gd name="adj" fmla="val 12640"/>
            </a:avLst>
          </a:prstGeom>
          <a:solidFill>
            <a:srgbClr val="E0D7F4"/>
          </a:solidFill>
          <a:ln/>
        </p:spPr>
      </p:sp>
      <p:pic>
        <p:nvPicPr>
          <p:cNvPr id="16" name="Image 2" descr="preencoded.png">    </p:cNvPr>
          <p:cNvPicPr>
            <a:picLocks noChangeAspect="1"/>
          </p:cNvPicPr>
          <p:nvPr/>
        </p:nvPicPr>
        <p:blipFill>
          <a:blip r:embed="rId5"/>
          <a:stretch>
            <a:fillRect/>
          </a:stretch>
        </p:blipFill>
        <p:spPr>
          <a:xfrm>
            <a:off x="785495" y="4751189"/>
            <a:ext cx="154976" cy="124023"/>
          </a:xfrm>
          <a:prstGeom prst="rect">
            <a:avLst/>
          </a:prstGeom>
        </p:spPr>
      </p:pic>
      <p:sp>
        <p:nvSpPr>
          <p:cNvPr id="17" name="Text 12"/>
          <p:cNvSpPr/>
          <p:nvPr/>
        </p:nvSpPr>
        <p:spPr>
          <a:xfrm>
            <a:off x="1064491" y="4739084"/>
            <a:ext cx="10951293" cy="173633"/>
          </a:xfrm>
          <a:prstGeom prst="rect">
            <a:avLst/>
          </a:prstGeom>
          <a:noFill/>
          <a:ln/>
        </p:spPr>
        <p:txBody>
          <a:bodyPr wrap="none" lIns="0" tIns="0" rIns="0" bIns="0" rtlCol="0" anchor="t"/>
          <a:lstStyle/>
          <a:p>
            <a:pPr algn="l" indent="0" marL="0">
              <a:lnSpc>
                <a:spcPct val="117000"/>
              </a:lnSpc>
              <a:buNone/>
            </a:pPr>
            <a:r>
              <a:rPr lang="en-US" sz="950" b="1" spc="-20" kern="0" dirty="0">
                <a:solidFill>
                  <a:srgbClr val="000000"/>
                </a:solidFill>
                <a:latin typeface="Inter Bold" pitchFamily="34" charset="0"/>
                <a:ea typeface="Inter Bold" pitchFamily="34" charset="-122"/>
                <a:cs typeface="Inter Bold" pitchFamily="34" charset="-120"/>
              </a:rPr>
              <a:t>Key Insight:</a:t>
            </a:r>
            <a:pPr algn="l" indent="0" marL="0">
              <a:lnSpc>
                <a:spcPct val="117000"/>
              </a:lnSpc>
              <a:buNone/>
            </a:pPr>
            <a:r>
              <a:rPr lang="en-US" sz="950" spc="-20" kern="0" dirty="0">
                <a:solidFill>
                  <a:srgbClr val="000000"/>
                </a:solidFill>
                <a:latin typeface="Inter" pitchFamily="34" charset="0"/>
                <a:ea typeface="Inter" pitchFamily="34" charset="-122"/>
                <a:cs typeface="Inter" pitchFamily="34" charset="-120"/>
              </a:rPr>
              <a:t> Architecture should always match data structure. Forcing the wrong architecture wastes computation and loses critical structural information.</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103313"/>
            <a:ext cx="10868745" cy="426343"/>
          </a:xfrm>
          <a:prstGeom prst="rect">
            <a:avLst/>
          </a:prstGeom>
          <a:noFill/>
          <a:ln/>
        </p:spPr>
        <p:txBody>
          <a:bodyPr wrap="none" lIns="0" tIns="0" rIns="0" bIns="0" rtlCol="0" anchor="t"/>
          <a:lstStyle/>
          <a:p>
            <a:pPr algn="l" indent="0" marL="0">
              <a:lnSpc>
                <a:spcPct val="104000"/>
              </a:lnSpc>
              <a:buNone/>
            </a:pPr>
            <a:r>
              <a:rPr lang="en-US" sz="2650" b="1" spc="-54" kern="0" dirty="0">
                <a:solidFill>
                  <a:srgbClr val="F95F88"/>
                </a:solidFill>
                <a:latin typeface="Petrona Bold" pitchFamily="34" charset="0"/>
                <a:ea typeface="Petrona Bold" pitchFamily="34" charset="-122"/>
                <a:cs typeface="Petrona Bold" pitchFamily="34" charset="-120"/>
              </a:rPr>
              <a:t>CNN Fundamentals</a:t>
            </a:r>
            <a:endParaRPr lang="en-US" sz="2650" dirty="0"/>
          </a:p>
        </p:txBody>
      </p:sp>
      <p:sp>
        <p:nvSpPr>
          <p:cNvPr id="3" name="Text 1"/>
          <p:cNvSpPr/>
          <p:nvPr/>
        </p:nvSpPr>
        <p:spPr>
          <a:xfrm>
            <a:off x="661475" y="1715691"/>
            <a:ext cx="10868745" cy="347266"/>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The convolution operation is the engine of a CNN. A small learnable filter slides across the input, computing element-wise products and summing them into a single value — detecting a local feature at each position.</a:t>
            </a:r>
            <a:endParaRPr lang="en-US" sz="950" dirty="0"/>
          </a:p>
        </p:txBody>
      </p:sp>
      <p:sp>
        <p:nvSpPr>
          <p:cNvPr id="4" name="Text 2"/>
          <p:cNvSpPr/>
          <p:nvPr/>
        </p:nvSpPr>
        <p:spPr>
          <a:xfrm>
            <a:off x="661475" y="2260501"/>
            <a:ext cx="5283068"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F95F88"/>
                </a:solidFill>
                <a:latin typeface="Petrona Bold" pitchFamily="34" charset="0"/>
                <a:ea typeface="Petrona Bold" pitchFamily="34" charset="-122"/>
                <a:cs typeface="Petrona Bold" pitchFamily="34" charset="-120"/>
              </a:rPr>
              <a:t>Core Concepts</a:t>
            </a:r>
            <a:endParaRPr lang="en-US" sz="1300" dirty="0"/>
          </a:p>
        </p:txBody>
      </p:sp>
      <p:sp>
        <p:nvSpPr>
          <p:cNvPr id="5" name="Text 3"/>
          <p:cNvSpPr/>
          <p:nvPr/>
        </p:nvSpPr>
        <p:spPr>
          <a:xfrm>
            <a:off x="1033536" y="2620764"/>
            <a:ext cx="4911007"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Filters / Kernels</a:t>
            </a:r>
            <a:endParaRPr lang="en-US" sz="1300" dirty="0"/>
          </a:p>
        </p:txBody>
      </p:sp>
      <p:sp>
        <p:nvSpPr>
          <p:cNvPr id="6" name="Text 4"/>
          <p:cNvSpPr/>
          <p:nvPr/>
        </p:nvSpPr>
        <p:spPr>
          <a:xfrm>
            <a:off x="1033536" y="2926854"/>
            <a:ext cx="4911007" cy="347266"/>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Small learnable matrices (e.g., 3×3, 5×5) that detect specific features such as edges, corners, or textures. Each filter produces one </a:t>
            </a:r>
            <a:pPr algn="l" indent="0" marL="0">
              <a:lnSpc>
                <a:spcPct val="117000"/>
              </a:lnSpc>
              <a:buNone/>
            </a:pPr>
            <a:r>
              <a:rPr lang="en-US" sz="950" b="1" spc="-20" kern="0" dirty="0">
                <a:solidFill>
                  <a:srgbClr val="272525"/>
                </a:solidFill>
                <a:latin typeface="Inter Bold" pitchFamily="34" charset="0"/>
                <a:ea typeface="Inter Bold" pitchFamily="34" charset="-122"/>
                <a:cs typeface="Inter Bold" pitchFamily="34" charset="-120"/>
              </a:rPr>
              <a:t>feature map</a:t>
            </a:r>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a:t>
            </a:r>
            <a:endParaRPr lang="en-US" sz="950" dirty="0"/>
          </a:p>
        </p:txBody>
      </p:sp>
      <p:sp>
        <p:nvSpPr>
          <p:cNvPr id="7" name="Text 5"/>
          <p:cNvSpPr/>
          <p:nvPr/>
        </p:nvSpPr>
        <p:spPr>
          <a:xfrm>
            <a:off x="1033536" y="3502720"/>
            <a:ext cx="4911007"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Stride</a:t>
            </a:r>
            <a:endParaRPr lang="en-US" sz="1300" dirty="0"/>
          </a:p>
        </p:txBody>
      </p:sp>
      <p:sp>
        <p:nvSpPr>
          <p:cNvPr id="8" name="Text 6"/>
          <p:cNvSpPr/>
          <p:nvPr/>
        </p:nvSpPr>
        <p:spPr>
          <a:xfrm>
            <a:off x="1033536" y="3808809"/>
            <a:ext cx="4911007" cy="347266"/>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Step size of filter movement across the input. Stride = 1 moves one pixel at a time; Stride = 2 skips every other position, halving spatial dimensions.</a:t>
            </a:r>
            <a:endParaRPr lang="en-US" sz="950" dirty="0"/>
          </a:p>
        </p:txBody>
      </p:sp>
      <p:sp>
        <p:nvSpPr>
          <p:cNvPr id="9" name="Text 7"/>
          <p:cNvSpPr/>
          <p:nvPr/>
        </p:nvSpPr>
        <p:spPr>
          <a:xfrm>
            <a:off x="1033536" y="4384675"/>
            <a:ext cx="4911007"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Padding</a:t>
            </a:r>
            <a:endParaRPr lang="en-US" sz="1300" dirty="0"/>
          </a:p>
        </p:txBody>
      </p:sp>
      <p:sp>
        <p:nvSpPr>
          <p:cNvPr id="10" name="Text 8"/>
          <p:cNvSpPr/>
          <p:nvPr/>
        </p:nvSpPr>
        <p:spPr>
          <a:xfrm>
            <a:off x="1033536" y="4690765"/>
            <a:ext cx="4911007" cy="347266"/>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Zero-padding added around the input border. Preserves spatial dimensions and ensures border pixels contribute equally to learning.</a:t>
            </a:r>
            <a:endParaRPr lang="en-US" sz="950" dirty="0"/>
          </a:p>
        </p:txBody>
      </p:sp>
      <p:sp>
        <p:nvSpPr>
          <p:cNvPr id="11" name="Text 9"/>
          <p:cNvSpPr/>
          <p:nvPr/>
        </p:nvSpPr>
        <p:spPr>
          <a:xfrm>
            <a:off x="6253502" y="2260501"/>
            <a:ext cx="5283068"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F95F88"/>
                </a:solidFill>
                <a:latin typeface="Petrona Bold" pitchFamily="34" charset="0"/>
                <a:ea typeface="Petrona Bold" pitchFamily="34" charset="-122"/>
                <a:cs typeface="Petrona Bold" pitchFamily="34" charset="-120"/>
              </a:rPr>
              <a:t>Output Size Formula</a:t>
            </a:r>
            <a:endParaRPr lang="en-US" sz="1300" dirty="0"/>
          </a:p>
        </p:txBody>
      </p:sp>
      <p:sp>
        <p:nvSpPr>
          <p:cNvPr id="12" name="Shape 10"/>
          <p:cNvSpPr/>
          <p:nvPr/>
        </p:nvSpPr>
        <p:spPr>
          <a:xfrm>
            <a:off x="6253502" y="2578199"/>
            <a:ext cx="5283068" cy="937022"/>
          </a:xfrm>
          <a:prstGeom prst="roundRect">
            <a:avLst>
              <a:gd name="adj" fmla="val 5560"/>
            </a:avLst>
          </a:prstGeom>
          <a:solidFill>
            <a:srgbClr val="E0D7F4"/>
          </a:solidFill>
          <a:ln w="6350">
            <a:solidFill>
              <a:srgbClr val="C6BDDA"/>
            </a:solidFill>
            <a:prstDash val="solid"/>
          </a:ln>
        </p:spPr>
      </p:sp>
      <p:sp>
        <p:nvSpPr>
          <p:cNvPr id="13" name="Text 11"/>
          <p:cNvSpPr/>
          <p:nvPr/>
        </p:nvSpPr>
        <p:spPr>
          <a:xfrm>
            <a:off x="6383872" y="2708573"/>
            <a:ext cx="5022327"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Formula</a:t>
            </a:r>
            <a:endParaRPr lang="en-US" sz="1300" dirty="0"/>
          </a:p>
        </p:txBody>
      </p:sp>
      <p:pic>
        <p:nvPicPr>
          <p:cNvPr id="14" name="Image 0" descr="preencoded.png">    </p:cNvPr>
          <p:cNvPicPr>
            <a:picLocks noChangeAspect="1"/>
          </p:cNvPicPr>
          <p:nvPr/>
        </p:nvPicPr>
        <p:blipFill>
          <a:blip r:embed="rId1"/>
          <a:stretch>
            <a:fillRect/>
          </a:stretch>
        </p:blipFill>
        <p:spPr>
          <a:xfrm>
            <a:off x="6383872" y="3039368"/>
            <a:ext cx="5022327" cy="345480"/>
          </a:xfrm>
          <a:prstGeom prst="rect">
            <a:avLst/>
          </a:prstGeom>
        </p:spPr>
      </p:pic>
      <p:sp>
        <p:nvSpPr>
          <p:cNvPr id="15" name="Shape 12"/>
          <p:cNvSpPr/>
          <p:nvPr/>
        </p:nvSpPr>
        <p:spPr>
          <a:xfrm>
            <a:off x="6253502" y="3619798"/>
            <a:ext cx="2595001" cy="753170"/>
          </a:xfrm>
          <a:prstGeom prst="roundRect">
            <a:avLst>
              <a:gd name="adj" fmla="val 6917"/>
            </a:avLst>
          </a:prstGeom>
          <a:solidFill>
            <a:srgbClr val="FDFAF7"/>
          </a:solidFill>
          <a:ln w="12700">
            <a:solidFill>
              <a:srgbClr val="C6BDDA"/>
            </a:solidFill>
            <a:prstDash val="solid"/>
          </a:ln>
        </p:spPr>
      </p:sp>
      <p:sp>
        <p:nvSpPr>
          <p:cNvPr id="16" name="Text 13"/>
          <p:cNvSpPr/>
          <p:nvPr/>
        </p:nvSpPr>
        <p:spPr>
          <a:xfrm>
            <a:off x="6390222" y="3756521"/>
            <a:ext cx="2321561"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AC9EF5"/>
                </a:solidFill>
                <a:latin typeface="Petrona Bold" pitchFamily="34" charset="0"/>
                <a:ea typeface="Petrona Bold" pitchFamily="34" charset="-122"/>
                <a:cs typeface="Petrona Bold" pitchFamily="34" charset="-120"/>
              </a:rPr>
              <a:t>W</a:t>
            </a:r>
            <a:endParaRPr lang="en-US" sz="1300" dirty="0"/>
          </a:p>
        </p:txBody>
      </p:sp>
      <p:sp>
        <p:nvSpPr>
          <p:cNvPr id="17" name="Text 14"/>
          <p:cNvSpPr/>
          <p:nvPr/>
        </p:nvSpPr>
        <p:spPr>
          <a:xfrm>
            <a:off x="6390222" y="4062611"/>
            <a:ext cx="2321561" cy="173633"/>
          </a:xfrm>
          <a:prstGeom prst="rect">
            <a:avLst/>
          </a:prstGeom>
          <a:noFill/>
          <a:ln/>
        </p:spPr>
        <p:txBody>
          <a:bodyPr wrap="none" lIns="0" tIns="0" rIns="0" bIns="0" rtlCol="0" anchor="t"/>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Input width/height</a:t>
            </a:r>
            <a:endParaRPr lang="en-US" sz="950" dirty="0"/>
          </a:p>
        </p:txBody>
      </p:sp>
      <p:sp>
        <p:nvSpPr>
          <p:cNvPr id="18" name="Shape 15"/>
          <p:cNvSpPr/>
          <p:nvPr/>
        </p:nvSpPr>
        <p:spPr>
          <a:xfrm>
            <a:off x="8941469" y="3619798"/>
            <a:ext cx="2595101" cy="753170"/>
          </a:xfrm>
          <a:prstGeom prst="roundRect">
            <a:avLst>
              <a:gd name="adj" fmla="val 6917"/>
            </a:avLst>
          </a:prstGeom>
          <a:solidFill>
            <a:srgbClr val="FDFAF7"/>
          </a:solidFill>
          <a:ln w="12700">
            <a:solidFill>
              <a:srgbClr val="C6BDDA"/>
            </a:solidFill>
            <a:prstDash val="solid"/>
          </a:ln>
        </p:spPr>
      </p:sp>
      <p:sp>
        <p:nvSpPr>
          <p:cNvPr id="19" name="Text 16"/>
          <p:cNvSpPr/>
          <p:nvPr/>
        </p:nvSpPr>
        <p:spPr>
          <a:xfrm>
            <a:off x="9078189" y="3756521"/>
            <a:ext cx="2321661"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AC9EF5"/>
                </a:solidFill>
                <a:latin typeface="Petrona Bold" pitchFamily="34" charset="0"/>
                <a:ea typeface="Petrona Bold" pitchFamily="34" charset="-122"/>
                <a:cs typeface="Petrona Bold" pitchFamily="34" charset="-120"/>
              </a:rPr>
              <a:t>F</a:t>
            </a:r>
            <a:endParaRPr lang="en-US" sz="1300" dirty="0"/>
          </a:p>
        </p:txBody>
      </p:sp>
      <p:sp>
        <p:nvSpPr>
          <p:cNvPr id="20" name="Text 17"/>
          <p:cNvSpPr/>
          <p:nvPr/>
        </p:nvSpPr>
        <p:spPr>
          <a:xfrm>
            <a:off x="9078189" y="4062611"/>
            <a:ext cx="2321661" cy="173633"/>
          </a:xfrm>
          <a:prstGeom prst="rect">
            <a:avLst/>
          </a:prstGeom>
          <a:noFill/>
          <a:ln/>
        </p:spPr>
        <p:txBody>
          <a:bodyPr wrap="none" lIns="0" tIns="0" rIns="0" bIns="0" rtlCol="0" anchor="t"/>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Filter size</a:t>
            </a:r>
            <a:endParaRPr lang="en-US" sz="950" dirty="0"/>
          </a:p>
        </p:txBody>
      </p:sp>
      <p:sp>
        <p:nvSpPr>
          <p:cNvPr id="21" name="Shape 18"/>
          <p:cNvSpPr/>
          <p:nvPr/>
        </p:nvSpPr>
        <p:spPr>
          <a:xfrm>
            <a:off x="6253502" y="4465935"/>
            <a:ext cx="2595001" cy="753170"/>
          </a:xfrm>
          <a:prstGeom prst="roundRect">
            <a:avLst>
              <a:gd name="adj" fmla="val 6917"/>
            </a:avLst>
          </a:prstGeom>
          <a:solidFill>
            <a:srgbClr val="FDFAF7"/>
          </a:solidFill>
          <a:ln w="12700">
            <a:solidFill>
              <a:srgbClr val="C6BDDA"/>
            </a:solidFill>
            <a:prstDash val="solid"/>
          </a:ln>
        </p:spPr>
      </p:sp>
      <p:sp>
        <p:nvSpPr>
          <p:cNvPr id="22" name="Text 19"/>
          <p:cNvSpPr/>
          <p:nvPr/>
        </p:nvSpPr>
        <p:spPr>
          <a:xfrm>
            <a:off x="6390222" y="4602659"/>
            <a:ext cx="2321561"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AC9EF5"/>
                </a:solidFill>
                <a:latin typeface="Petrona Bold" pitchFamily="34" charset="0"/>
                <a:ea typeface="Petrona Bold" pitchFamily="34" charset="-122"/>
                <a:cs typeface="Petrona Bold" pitchFamily="34" charset="-120"/>
              </a:rPr>
              <a:t>P</a:t>
            </a:r>
            <a:endParaRPr lang="en-US" sz="1300" dirty="0"/>
          </a:p>
        </p:txBody>
      </p:sp>
      <p:sp>
        <p:nvSpPr>
          <p:cNvPr id="23" name="Text 20"/>
          <p:cNvSpPr/>
          <p:nvPr/>
        </p:nvSpPr>
        <p:spPr>
          <a:xfrm>
            <a:off x="6390222" y="4908748"/>
            <a:ext cx="2321561" cy="173633"/>
          </a:xfrm>
          <a:prstGeom prst="rect">
            <a:avLst/>
          </a:prstGeom>
          <a:noFill/>
          <a:ln/>
        </p:spPr>
        <p:txBody>
          <a:bodyPr wrap="none" lIns="0" tIns="0" rIns="0" bIns="0" rtlCol="0" anchor="t"/>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Padding amount</a:t>
            </a:r>
            <a:endParaRPr lang="en-US" sz="950" dirty="0"/>
          </a:p>
        </p:txBody>
      </p:sp>
      <p:sp>
        <p:nvSpPr>
          <p:cNvPr id="24" name="Shape 21"/>
          <p:cNvSpPr/>
          <p:nvPr/>
        </p:nvSpPr>
        <p:spPr>
          <a:xfrm>
            <a:off x="8941469" y="4465935"/>
            <a:ext cx="2595101" cy="753170"/>
          </a:xfrm>
          <a:prstGeom prst="roundRect">
            <a:avLst>
              <a:gd name="adj" fmla="val 6917"/>
            </a:avLst>
          </a:prstGeom>
          <a:solidFill>
            <a:srgbClr val="FDFAF7"/>
          </a:solidFill>
          <a:ln w="12700">
            <a:solidFill>
              <a:srgbClr val="C6BDDA"/>
            </a:solidFill>
            <a:prstDash val="solid"/>
          </a:ln>
        </p:spPr>
      </p:sp>
      <p:sp>
        <p:nvSpPr>
          <p:cNvPr id="25" name="Text 22"/>
          <p:cNvSpPr/>
          <p:nvPr/>
        </p:nvSpPr>
        <p:spPr>
          <a:xfrm>
            <a:off x="9078189" y="4602659"/>
            <a:ext cx="2321661"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AC9EF5"/>
                </a:solidFill>
                <a:latin typeface="Petrona Bold" pitchFamily="34" charset="0"/>
                <a:ea typeface="Petrona Bold" pitchFamily="34" charset="-122"/>
                <a:cs typeface="Petrona Bold" pitchFamily="34" charset="-120"/>
              </a:rPr>
              <a:t>S</a:t>
            </a:r>
            <a:endParaRPr lang="en-US" sz="1300" dirty="0"/>
          </a:p>
        </p:txBody>
      </p:sp>
      <p:sp>
        <p:nvSpPr>
          <p:cNvPr id="26" name="Text 23"/>
          <p:cNvSpPr/>
          <p:nvPr/>
        </p:nvSpPr>
        <p:spPr>
          <a:xfrm>
            <a:off x="9078189" y="4908748"/>
            <a:ext cx="2321661" cy="173633"/>
          </a:xfrm>
          <a:prstGeom prst="rect">
            <a:avLst/>
          </a:prstGeom>
          <a:noFill/>
          <a:ln/>
        </p:spPr>
        <p:txBody>
          <a:bodyPr wrap="none" lIns="0" tIns="0" rIns="0" bIns="0" rtlCol="0" anchor="t"/>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Stride value</a:t>
            </a:r>
            <a:endParaRPr lang="en-US" sz="950" dirty="0"/>
          </a:p>
        </p:txBody>
      </p:sp>
      <p:sp>
        <p:nvSpPr>
          <p:cNvPr id="27" name="Text 24"/>
          <p:cNvSpPr/>
          <p:nvPr/>
        </p:nvSpPr>
        <p:spPr>
          <a:xfrm>
            <a:off x="6253502" y="5323681"/>
            <a:ext cx="5283068" cy="347266"/>
          </a:xfrm>
          <a:prstGeom prst="rect">
            <a:avLst/>
          </a:prstGeom>
          <a:noFill/>
          <a:ln/>
        </p:spPr>
        <p:txBody>
          <a:bodyPr wrap="square" lIns="0" tIns="0" rIns="0" bIns="0" rtlCol="0" anchor="t">
            <a:normAutofit/>
          </a:bodyPr>
          <a:lstStyle/>
          <a:p>
            <a:pPr algn="l" indent="0" marL="0">
              <a:lnSpc>
                <a:spcPct val="117000"/>
              </a:lnSpc>
              <a:buNone/>
            </a:pPr>
            <a:r>
              <a:rPr lang="en-US" sz="950" b="1" spc="-20" kern="0" dirty="0">
                <a:solidFill>
                  <a:srgbClr val="272525"/>
                </a:solidFill>
                <a:latin typeface="Inter Bold" pitchFamily="34" charset="0"/>
                <a:ea typeface="Inter Bold" pitchFamily="34" charset="-122"/>
                <a:cs typeface="Inter Bold" pitchFamily="34" charset="-120"/>
              </a:rPr>
              <a:t>Example:</a:t>
            </a:r>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 Input 32×32, filter 3×3, padding 1, stride 1 → Output = (32 − 3 + 2) / 1 + 1 = </a:t>
            </a:r>
            <a:pPr algn="l" indent="0" marL="0">
              <a:lnSpc>
                <a:spcPct val="117000"/>
              </a:lnSpc>
              <a:buNone/>
            </a:pPr>
            <a:r>
              <a:rPr lang="en-US" sz="950" b="1" spc="-20" kern="0" dirty="0">
                <a:solidFill>
                  <a:srgbClr val="272525"/>
                </a:solidFill>
                <a:latin typeface="Inter Bold" pitchFamily="34" charset="0"/>
                <a:ea typeface="Inter Bold" pitchFamily="34" charset="-122"/>
                <a:cs typeface="Inter Bold" pitchFamily="34" charset="-120"/>
              </a:rPr>
              <a:t>32×32</a:t>
            </a:r>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 (same size preserved).</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492423"/>
            <a:ext cx="10868745" cy="354409"/>
          </a:xfrm>
          <a:prstGeom prst="rect">
            <a:avLst/>
          </a:prstGeom>
          <a:noFill/>
          <a:ln/>
        </p:spPr>
        <p:txBody>
          <a:bodyPr wrap="none" lIns="0" tIns="0" rIns="0" bIns="0" rtlCol="0" anchor="t"/>
          <a:lstStyle/>
          <a:p>
            <a:pPr algn="l" indent="0" marL="0">
              <a:lnSpc>
                <a:spcPct val="104000"/>
              </a:lnSpc>
              <a:buNone/>
            </a:pPr>
            <a:r>
              <a:rPr lang="en-US" sz="2200" b="1" spc="-45" kern="0" dirty="0">
                <a:solidFill>
                  <a:srgbClr val="F95F88"/>
                </a:solidFill>
                <a:latin typeface="Petrona Bold" pitchFamily="34" charset="0"/>
                <a:ea typeface="Petrona Bold" pitchFamily="34" charset="-122"/>
                <a:cs typeface="Petrona Bold" pitchFamily="34" charset="-120"/>
              </a:rPr>
              <a:t>CNN Architecture Pipeline</a:t>
            </a:r>
            <a:endParaRPr lang="en-US" sz="2200" dirty="0"/>
          </a:p>
        </p:txBody>
      </p:sp>
      <p:sp>
        <p:nvSpPr>
          <p:cNvPr id="3" name="Text 1"/>
          <p:cNvSpPr/>
          <p:nvPr/>
        </p:nvSpPr>
        <p:spPr>
          <a:xfrm>
            <a:off x="661475" y="975320"/>
            <a:ext cx="11478330" cy="133846"/>
          </a:xfrm>
          <a:prstGeom prst="rect">
            <a:avLst/>
          </a:prstGeom>
          <a:noFill/>
          <a:ln/>
        </p:spPr>
        <p:txBody>
          <a:bodyPr wrap="none" lIns="0" tIns="0" rIns="0" bIns="0" rtlCol="0" anchor="t"/>
          <a:lstStyle/>
          <a:p>
            <a:pPr algn="l" indent="0" marL="0">
              <a:lnSpc>
                <a:spcPct val="108000"/>
              </a:lnSpc>
              <a:buNone/>
            </a:pPr>
            <a:r>
              <a:rPr lang="en-US" sz="800" spc="-16" kern="0" dirty="0">
                <a:solidFill>
                  <a:srgbClr val="272525"/>
                </a:solidFill>
                <a:latin typeface="Inter" pitchFamily="34" charset="0"/>
                <a:ea typeface="Inter" pitchFamily="34" charset="-122"/>
                <a:cs typeface="Inter" pitchFamily="34" charset="-120"/>
              </a:rPr>
              <a:t>A complete CNN stacks multiple functional layers into a pipeline. Early layers detect low-level features; deeper layers combine them into progressively abstract representations before a classification head produces the final output.</a:t>
            </a:r>
            <a:endParaRPr lang="en-US" sz="800" dirty="0"/>
          </a:p>
        </p:txBody>
      </p:sp>
      <p:pic>
        <p:nvPicPr>
          <p:cNvPr id="4" name="Image 0" descr="preencoded.png">    </p:cNvPr>
          <p:cNvPicPr>
            <a:picLocks noChangeAspect="1"/>
          </p:cNvPicPr>
          <p:nvPr/>
        </p:nvPicPr>
        <p:blipFill>
          <a:blip r:embed="rId1"/>
          <a:stretch>
            <a:fillRect/>
          </a:stretch>
        </p:blipFill>
        <p:spPr>
          <a:xfrm>
            <a:off x="2413634" y="1181398"/>
            <a:ext cx="7364427" cy="2763540"/>
          </a:xfrm>
          <a:prstGeom prst="rect">
            <a:avLst/>
          </a:prstGeom>
        </p:spPr>
      </p:pic>
      <p:sp>
        <p:nvSpPr>
          <p:cNvPr id="5" name="Text 2"/>
          <p:cNvSpPr/>
          <p:nvPr/>
        </p:nvSpPr>
        <p:spPr>
          <a:xfrm>
            <a:off x="8364021" y="3145673"/>
            <a:ext cx="1110776" cy="470760"/>
          </a:xfrm>
          <a:prstGeom prst="rect">
            <a:avLst/>
          </a:prstGeom>
          <a:noFill/>
          <a:ln/>
        </p:spPr>
        <p:txBody>
          <a:bodyPr wrap="square" lIns="0" tIns="0" rIns="0" bIns="0" rtlCol="0" anchor="t">
            <a:normAutofit/>
          </a:bodyPr>
          <a:lstStyle/>
          <a:p>
            <a:pPr algn="ctr" indent="0" marL="0">
              <a:lnSpc>
                <a:spcPct val="104000"/>
              </a:lnSpc>
              <a:buNone/>
            </a:pPr>
            <a:r>
              <a:rPr lang="en-US" sz="1450" b="1" spc="-30" kern="0" dirty="0">
                <a:solidFill>
                  <a:srgbClr val="272525"/>
                </a:solidFill>
                <a:latin typeface="Petrona Bold" pitchFamily="34" charset="0"/>
                <a:ea typeface="Petrona Bold" pitchFamily="34" charset="-122"/>
                <a:cs typeface="Petrona Bold" pitchFamily="34" charset="-120"/>
              </a:rPr>
              <a:t>Repeat Blocks</a:t>
            </a:r>
            <a:endParaRPr lang="en-US" sz="1450" dirty="0"/>
          </a:p>
        </p:txBody>
      </p:sp>
      <p:sp>
        <p:nvSpPr>
          <p:cNvPr id="6" name="Text 3"/>
          <p:cNvSpPr/>
          <p:nvPr/>
        </p:nvSpPr>
        <p:spPr>
          <a:xfrm>
            <a:off x="6964139" y="3263364"/>
            <a:ext cx="1110776" cy="235380"/>
          </a:xfrm>
          <a:prstGeom prst="rect">
            <a:avLst/>
          </a:prstGeom>
          <a:noFill/>
          <a:ln/>
        </p:spPr>
        <p:txBody>
          <a:bodyPr wrap="none" lIns="0" tIns="0" rIns="0" bIns="0" rtlCol="0" anchor="t"/>
          <a:lstStyle/>
          <a:p>
            <a:pPr algn="ctr" indent="0" marL="0">
              <a:lnSpc>
                <a:spcPct val="104000"/>
              </a:lnSpc>
              <a:buNone/>
            </a:pPr>
            <a:r>
              <a:rPr lang="en-US" sz="1450" b="1" spc="-30" kern="0" dirty="0">
                <a:solidFill>
                  <a:srgbClr val="272525"/>
                </a:solidFill>
                <a:latin typeface="Petrona Bold" pitchFamily="34" charset="0"/>
                <a:ea typeface="Petrona Bold" pitchFamily="34" charset="-122"/>
                <a:cs typeface="Petrona Bold" pitchFamily="34" charset="-120"/>
              </a:rPr>
              <a:t>Pooling</a:t>
            </a:r>
            <a:endParaRPr lang="en-US" sz="1450" dirty="0"/>
          </a:p>
        </p:txBody>
      </p:sp>
      <p:sp>
        <p:nvSpPr>
          <p:cNvPr id="7" name="Text 4"/>
          <p:cNvSpPr/>
          <p:nvPr/>
        </p:nvSpPr>
        <p:spPr>
          <a:xfrm>
            <a:off x="5571866" y="3263364"/>
            <a:ext cx="1110775" cy="235380"/>
          </a:xfrm>
          <a:prstGeom prst="rect">
            <a:avLst/>
          </a:prstGeom>
          <a:noFill/>
          <a:ln/>
        </p:spPr>
        <p:txBody>
          <a:bodyPr wrap="none" lIns="0" tIns="0" rIns="0" bIns="0" rtlCol="0" anchor="t"/>
          <a:lstStyle/>
          <a:p>
            <a:pPr algn="ctr" indent="0" marL="0">
              <a:lnSpc>
                <a:spcPct val="104000"/>
              </a:lnSpc>
              <a:buNone/>
            </a:pPr>
            <a:r>
              <a:rPr lang="en-US" sz="1450" b="1" spc="-30" kern="0" dirty="0">
                <a:solidFill>
                  <a:srgbClr val="272525"/>
                </a:solidFill>
                <a:latin typeface="Petrona Bold" pitchFamily="34" charset="0"/>
                <a:ea typeface="Petrona Bold" pitchFamily="34" charset="-122"/>
                <a:cs typeface="Petrona Bold" pitchFamily="34" charset="-120"/>
              </a:rPr>
              <a:t>ReLU</a:t>
            </a:r>
            <a:endParaRPr lang="en-US" sz="1450" dirty="0"/>
          </a:p>
        </p:txBody>
      </p:sp>
      <p:sp>
        <p:nvSpPr>
          <p:cNvPr id="8" name="Text 5"/>
          <p:cNvSpPr/>
          <p:nvPr/>
        </p:nvSpPr>
        <p:spPr>
          <a:xfrm>
            <a:off x="4179592" y="3263364"/>
            <a:ext cx="1110776" cy="235380"/>
          </a:xfrm>
          <a:prstGeom prst="rect">
            <a:avLst/>
          </a:prstGeom>
          <a:noFill/>
          <a:ln/>
        </p:spPr>
        <p:txBody>
          <a:bodyPr wrap="none" lIns="0" tIns="0" rIns="0" bIns="0" rtlCol="0" anchor="t"/>
          <a:lstStyle/>
          <a:p>
            <a:pPr algn="ctr" indent="0" marL="0">
              <a:lnSpc>
                <a:spcPct val="104000"/>
              </a:lnSpc>
              <a:buNone/>
            </a:pPr>
            <a:r>
              <a:rPr lang="en-US" sz="1450" b="1" spc="-30" kern="0" dirty="0">
                <a:solidFill>
                  <a:srgbClr val="272525"/>
                </a:solidFill>
                <a:latin typeface="Petrona Bold" pitchFamily="34" charset="0"/>
                <a:ea typeface="Petrona Bold" pitchFamily="34" charset="-122"/>
                <a:cs typeface="Petrona Bold" pitchFamily="34" charset="-120"/>
              </a:rPr>
              <a:t>Convolution</a:t>
            </a:r>
            <a:endParaRPr lang="en-US" sz="1450" dirty="0"/>
          </a:p>
        </p:txBody>
      </p:sp>
      <p:sp>
        <p:nvSpPr>
          <p:cNvPr id="9" name="Text 6"/>
          <p:cNvSpPr/>
          <p:nvPr/>
        </p:nvSpPr>
        <p:spPr>
          <a:xfrm>
            <a:off x="2756887" y="3263364"/>
            <a:ext cx="1110776" cy="235380"/>
          </a:xfrm>
          <a:prstGeom prst="rect">
            <a:avLst/>
          </a:prstGeom>
          <a:noFill/>
          <a:ln/>
        </p:spPr>
        <p:txBody>
          <a:bodyPr wrap="none" lIns="0" tIns="0" rIns="0" bIns="0" rtlCol="0" anchor="t"/>
          <a:lstStyle/>
          <a:p>
            <a:pPr algn="ctr" indent="0" marL="0">
              <a:lnSpc>
                <a:spcPct val="104000"/>
              </a:lnSpc>
              <a:buNone/>
            </a:pPr>
            <a:r>
              <a:rPr lang="en-US" sz="1450" b="1" spc="-30" kern="0" dirty="0">
                <a:solidFill>
                  <a:srgbClr val="272525"/>
                </a:solidFill>
                <a:latin typeface="Petrona Bold" pitchFamily="34" charset="0"/>
                <a:ea typeface="Petrona Bold" pitchFamily="34" charset="-122"/>
                <a:cs typeface="Petrona Bold" pitchFamily="34" charset="-120"/>
              </a:rPr>
              <a:t>Input Image</a:t>
            </a:r>
            <a:endParaRPr lang="en-US" sz="1450" dirty="0"/>
          </a:p>
        </p:txBody>
      </p:sp>
      <p:sp>
        <p:nvSpPr>
          <p:cNvPr id="10" name="Text 7"/>
          <p:cNvSpPr/>
          <p:nvPr/>
        </p:nvSpPr>
        <p:spPr>
          <a:xfrm>
            <a:off x="661475" y="4089400"/>
            <a:ext cx="206171" cy="128885"/>
          </a:xfrm>
          <a:prstGeom prst="rect">
            <a:avLst/>
          </a:prstGeom>
          <a:noFill/>
          <a:ln/>
        </p:spPr>
        <p:txBody>
          <a:bodyPr wrap="none" lIns="0" tIns="0" rIns="0" bIns="0" rtlCol="0" anchor="ctr"/>
          <a:lstStyle/>
          <a:p>
            <a:pPr algn="l" indent="0" marL="0">
              <a:lnSpc>
                <a:spcPct val="100000"/>
              </a:lnSpc>
              <a:buNone/>
            </a:pPr>
            <a:r>
              <a:rPr lang="en-US" sz="800" spc="-16" kern="0" dirty="0">
                <a:solidFill>
                  <a:srgbClr val="272525"/>
                </a:solidFill>
                <a:latin typeface="Petrona Light" pitchFamily="34" charset="0"/>
                <a:ea typeface="Petrona Light" pitchFamily="34" charset="-122"/>
                <a:cs typeface="Petrona Light" pitchFamily="34" charset="-120"/>
              </a:rPr>
              <a:t>01</a:t>
            </a:r>
            <a:endParaRPr lang="en-US" sz="800" dirty="0"/>
          </a:p>
        </p:txBody>
      </p:sp>
      <p:sp>
        <p:nvSpPr>
          <p:cNvPr id="11" name="Shape 8"/>
          <p:cNvSpPr/>
          <p:nvPr/>
        </p:nvSpPr>
        <p:spPr>
          <a:xfrm>
            <a:off x="661475" y="4251821"/>
            <a:ext cx="5308666" cy="12700"/>
          </a:xfrm>
          <a:prstGeom prst="rect">
            <a:avLst/>
          </a:prstGeom>
          <a:solidFill>
            <a:srgbClr val="6237C8"/>
          </a:solidFill>
          <a:ln/>
        </p:spPr>
      </p:sp>
      <p:sp>
        <p:nvSpPr>
          <p:cNvPr id="12" name="Text 9"/>
          <p:cNvSpPr/>
          <p:nvPr/>
        </p:nvSpPr>
        <p:spPr>
          <a:xfrm>
            <a:off x="661475" y="4328716"/>
            <a:ext cx="5308666" cy="177205"/>
          </a:xfrm>
          <a:prstGeom prst="rect">
            <a:avLst/>
          </a:prstGeom>
          <a:noFill/>
          <a:ln/>
        </p:spPr>
        <p:txBody>
          <a:bodyPr wrap="none" lIns="0" tIns="0" rIns="0" bIns="0" rtlCol="0" anchor="t"/>
          <a:lstStyle/>
          <a:p>
            <a:pPr algn="l" indent="0" marL="0">
              <a:lnSpc>
                <a:spcPct val="104000"/>
              </a:lnSpc>
              <a:buNone/>
            </a:pPr>
            <a:r>
              <a:rPr lang="en-US" sz="1100" b="1" spc="-22" kern="0" dirty="0">
                <a:solidFill>
                  <a:srgbClr val="272525"/>
                </a:solidFill>
                <a:latin typeface="Petrona Bold" pitchFamily="34" charset="0"/>
                <a:ea typeface="Petrona Bold" pitchFamily="34" charset="-122"/>
                <a:cs typeface="Petrona Bold" pitchFamily="34" charset="-120"/>
              </a:rPr>
              <a:t>Input Image</a:t>
            </a:r>
            <a:endParaRPr lang="en-US" sz="1100" dirty="0"/>
          </a:p>
        </p:txBody>
      </p:sp>
      <p:sp>
        <p:nvSpPr>
          <p:cNvPr id="13" name="Text 10"/>
          <p:cNvSpPr/>
          <p:nvPr/>
        </p:nvSpPr>
        <p:spPr>
          <a:xfrm>
            <a:off x="661475" y="4570115"/>
            <a:ext cx="5308666" cy="133846"/>
          </a:xfrm>
          <a:prstGeom prst="rect">
            <a:avLst/>
          </a:prstGeom>
          <a:noFill/>
          <a:ln/>
        </p:spPr>
        <p:txBody>
          <a:bodyPr wrap="none" lIns="0" tIns="0" rIns="0" bIns="0" rtlCol="0" anchor="t"/>
          <a:lstStyle/>
          <a:p>
            <a:pPr algn="l" indent="0" marL="0">
              <a:lnSpc>
                <a:spcPct val="108000"/>
              </a:lnSpc>
              <a:buNone/>
            </a:pPr>
            <a:r>
              <a:rPr lang="en-US" sz="800" spc="-16" kern="0" dirty="0">
                <a:solidFill>
                  <a:srgbClr val="272525"/>
                </a:solidFill>
                <a:latin typeface="Inter" pitchFamily="34" charset="0"/>
                <a:ea typeface="Inter" pitchFamily="34" charset="-122"/>
                <a:cs typeface="Inter" pitchFamily="34" charset="-120"/>
              </a:rPr>
              <a:t>Raw pixel values — e.g., 224×224×3 tensor for a color RGB image.</a:t>
            </a:r>
            <a:endParaRPr lang="en-US" sz="800" dirty="0"/>
          </a:p>
        </p:txBody>
      </p:sp>
      <p:sp>
        <p:nvSpPr>
          <p:cNvPr id="14" name="Text 11"/>
          <p:cNvSpPr/>
          <p:nvPr/>
        </p:nvSpPr>
        <p:spPr>
          <a:xfrm>
            <a:off x="661475" y="4845447"/>
            <a:ext cx="206171" cy="128885"/>
          </a:xfrm>
          <a:prstGeom prst="rect">
            <a:avLst/>
          </a:prstGeom>
          <a:noFill/>
          <a:ln/>
        </p:spPr>
        <p:txBody>
          <a:bodyPr wrap="none" lIns="0" tIns="0" rIns="0" bIns="0" rtlCol="0" anchor="ctr"/>
          <a:lstStyle/>
          <a:p>
            <a:pPr algn="l" indent="0" marL="0">
              <a:lnSpc>
                <a:spcPct val="100000"/>
              </a:lnSpc>
              <a:buNone/>
            </a:pPr>
            <a:r>
              <a:rPr lang="en-US" sz="800" spc="-16" kern="0" dirty="0">
                <a:solidFill>
                  <a:srgbClr val="272525"/>
                </a:solidFill>
                <a:latin typeface="Petrona Light" pitchFamily="34" charset="0"/>
                <a:ea typeface="Petrona Light" pitchFamily="34" charset="-122"/>
                <a:cs typeface="Petrona Light" pitchFamily="34" charset="-120"/>
              </a:rPr>
              <a:t>02</a:t>
            </a:r>
            <a:endParaRPr lang="en-US" sz="800" dirty="0"/>
          </a:p>
        </p:txBody>
      </p:sp>
      <p:sp>
        <p:nvSpPr>
          <p:cNvPr id="15" name="Shape 12"/>
          <p:cNvSpPr/>
          <p:nvPr/>
        </p:nvSpPr>
        <p:spPr>
          <a:xfrm>
            <a:off x="661475" y="5007868"/>
            <a:ext cx="5308666" cy="12700"/>
          </a:xfrm>
          <a:prstGeom prst="rect">
            <a:avLst/>
          </a:prstGeom>
          <a:solidFill>
            <a:srgbClr val="6237C8"/>
          </a:solidFill>
          <a:ln/>
        </p:spPr>
      </p:sp>
      <p:sp>
        <p:nvSpPr>
          <p:cNvPr id="16" name="Text 13"/>
          <p:cNvSpPr/>
          <p:nvPr/>
        </p:nvSpPr>
        <p:spPr>
          <a:xfrm>
            <a:off x="661475" y="5084763"/>
            <a:ext cx="5308666" cy="177205"/>
          </a:xfrm>
          <a:prstGeom prst="rect">
            <a:avLst/>
          </a:prstGeom>
          <a:noFill/>
          <a:ln/>
        </p:spPr>
        <p:txBody>
          <a:bodyPr wrap="none" lIns="0" tIns="0" rIns="0" bIns="0" rtlCol="0" anchor="t"/>
          <a:lstStyle/>
          <a:p>
            <a:pPr algn="l" indent="0" marL="0">
              <a:lnSpc>
                <a:spcPct val="104000"/>
              </a:lnSpc>
              <a:buNone/>
            </a:pPr>
            <a:r>
              <a:rPr lang="en-US" sz="1100" b="1" spc="-22" kern="0" dirty="0">
                <a:solidFill>
                  <a:srgbClr val="272525"/>
                </a:solidFill>
                <a:latin typeface="Petrona Bold" pitchFamily="34" charset="0"/>
                <a:ea typeface="Petrona Bold" pitchFamily="34" charset="-122"/>
                <a:cs typeface="Petrona Bold" pitchFamily="34" charset="-120"/>
              </a:rPr>
              <a:t>Convolution + ReLU</a:t>
            </a:r>
            <a:endParaRPr lang="en-US" sz="1100" dirty="0"/>
          </a:p>
        </p:txBody>
      </p:sp>
      <p:sp>
        <p:nvSpPr>
          <p:cNvPr id="17" name="Text 14"/>
          <p:cNvSpPr/>
          <p:nvPr/>
        </p:nvSpPr>
        <p:spPr>
          <a:xfrm>
            <a:off x="661475" y="5326162"/>
            <a:ext cx="5308666" cy="133846"/>
          </a:xfrm>
          <a:prstGeom prst="rect">
            <a:avLst/>
          </a:prstGeom>
          <a:noFill/>
          <a:ln/>
        </p:spPr>
        <p:txBody>
          <a:bodyPr wrap="none" lIns="0" tIns="0" rIns="0" bIns="0" rtlCol="0" anchor="t"/>
          <a:lstStyle/>
          <a:p>
            <a:pPr algn="l" indent="0" marL="0">
              <a:lnSpc>
                <a:spcPct val="108000"/>
              </a:lnSpc>
              <a:buNone/>
            </a:pPr>
            <a:r>
              <a:rPr lang="en-US" sz="800" spc="-16" kern="0" dirty="0">
                <a:solidFill>
                  <a:srgbClr val="272525"/>
                </a:solidFill>
                <a:latin typeface="Inter" pitchFamily="34" charset="0"/>
                <a:ea typeface="Inter" pitchFamily="34" charset="-122"/>
                <a:cs typeface="Inter" pitchFamily="34" charset="-120"/>
              </a:rPr>
              <a:t>Apply N filters; apply ReLU: </a:t>
            </a:r>
            <a:pPr algn="l" indent="0" marL="0">
              <a:lnSpc>
                <a:spcPct val="108000"/>
              </a:lnSpc>
              <a:buNone/>
            </a:pPr>
            <a:r>
              <a:rPr lang="en-US" sz="800" b="1" spc="-16" kern="0" dirty="0">
                <a:solidFill>
                  <a:srgbClr val="272525"/>
                </a:solidFill>
                <a:latin typeface="Inter Bold" pitchFamily="34" charset="0"/>
                <a:ea typeface="Inter Bold" pitchFamily="34" charset="-122"/>
                <a:cs typeface="Inter Bold" pitchFamily="34" charset="-120"/>
              </a:rPr>
              <a:t>f(x) = max(0, x)</a:t>
            </a:r>
            <a:pPr algn="l" indent="0" marL="0">
              <a:lnSpc>
                <a:spcPct val="108000"/>
              </a:lnSpc>
              <a:buNone/>
            </a:pPr>
            <a:r>
              <a:rPr lang="en-US" sz="800" spc="-16" kern="0" dirty="0">
                <a:solidFill>
                  <a:srgbClr val="272525"/>
                </a:solidFill>
                <a:latin typeface="Inter" pitchFamily="34" charset="0"/>
                <a:ea typeface="Inter" pitchFamily="34" charset="-122"/>
                <a:cs typeface="Inter" pitchFamily="34" charset="-120"/>
              </a:rPr>
              <a:t> to introduce non-linearity.</a:t>
            </a:r>
            <a:endParaRPr lang="en-US" sz="800" dirty="0"/>
          </a:p>
        </p:txBody>
      </p:sp>
      <p:sp>
        <p:nvSpPr>
          <p:cNvPr id="18" name="Text 15"/>
          <p:cNvSpPr/>
          <p:nvPr/>
        </p:nvSpPr>
        <p:spPr>
          <a:xfrm>
            <a:off x="661475" y="5601494"/>
            <a:ext cx="206171" cy="128885"/>
          </a:xfrm>
          <a:prstGeom prst="rect">
            <a:avLst/>
          </a:prstGeom>
          <a:noFill/>
          <a:ln/>
        </p:spPr>
        <p:txBody>
          <a:bodyPr wrap="none" lIns="0" tIns="0" rIns="0" bIns="0" rtlCol="0" anchor="ctr"/>
          <a:lstStyle/>
          <a:p>
            <a:pPr algn="l" indent="0" marL="0">
              <a:lnSpc>
                <a:spcPct val="100000"/>
              </a:lnSpc>
              <a:buNone/>
            </a:pPr>
            <a:r>
              <a:rPr lang="en-US" sz="800" spc="-16" kern="0" dirty="0">
                <a:solidFill>
                  <a:srgbClr val="272525"/>
                </a:solidFill>
                <a:latin typeface="Petrona Light" pitchFamily="34" charset="0"/>
                <a:ea typeface="Petrona Light" pitchFamily="34" charset="-122"/>
                <a:cs typeface="Petrona Light" pitchFamily="34" charset="-120"/>
              </a:rPr>
              <a:t>03</a:t>
            </a:r>
            <a:endParaRPr lang="en-US" sz="800" dirty="0"/>
          </a:p>
        </p:txBody>
      </p:sp>
      <p:sp>
        <p:nvSpPr>
          <p:cNvPr id="19" name="Shape 16"/>
          <p:cNvSpPr/>
          <p:nvPr/>
        </p:nvSpPr>
        <p:spPr>
          <a:xfrm>
            <a:off x="661475" y="5763915"/>
            <a:ext cx="5308666" cy="12700"/>
          </a:xfrm>
          <a:prstGeom prst="rect">
            <a:avLst/>
          </a:prstGeom>
          <a:solidFill>
            <a:srgbClr val="6237C8"/>
          </a:solidFill>
          <a:ln/>
        </p:spPr>
      </p:sp>
      <p:sp>
        <p:nvSpPr>
          <p:cNvPr id="20" name="Text 17"/>
          <p:cNvSpPr/>
          <p:nvPr/>
        </p:nvSpPr>
        <p:spPr>
          <a:xfrm>
            <a:off x="661475" y="5840809"/>
            <a:ext cx="5308666" cy="177205"/>
          </a:xfrm>
          <a:prstGeom prst="rect">
            <a:avLst/>
          </a:prstGeom>
          <a:noFill/>
          <a:ln/>
        </p:spPr>
        <p:txBody>
          <a:bodyPr wrap="none" lIns="0" tIns="0" rIns="0" bIns="0" rtlCol="0" anchor="t"/>
          <a:lstStyle/>
          <a:p>
            <a:pPr algn="l" indent="0" marL="0">
              <a:lnSpc>
                <a:spcPct val="104000"/>
              </a:lnSpc>
              <a:buNone/>
            </a:pPr>
            <a:r>
              <a:rPr lang="en-US" sz="1100" b="1" spc="-22" kern="0" dirty="0">
                <a:solidFill>
                  <a:srgbClr val="272525"/>
                </a:solidFill>
                <a:latin typeface="Petrona Bold" pitchFamily="34" charset="0"/>
                <a:ea typeface="Petrona Bold" pitchFamily="34" charset="-122"/>
                <a:cs typeface="Petrona Bold" pitchFamily="34" charset="-120"/>
              </a:rPr>
              <a:t>Pooling Layer</a:t>
            </a:r>
            <a:endParaRPr lang="en-US" sz="1100" dirty="0"/>
          </a:p>
        </p:txBody>
      </p:sp>
      <p:sp>
        <p:nvSpPr>
          <p:cNvPr id="21" name="Text 18"/>
          <p:cNvSpPr/>
          <p:nvPr/>
        </p:nvSpPr>
        <p:spPr>
          <a:xfrm>
            <a:off x="661475" y="6082209"/>
            <a:ext cx="5308666" cy="133846"/>
          </a:xfrm>
          <a:prstGeom prst="rect">
            <a:avLst/>
          </a:prstGeom>
          <a:noFill/>
          <a:ln/>
        </p:spPr>
        <p:txBody>
          <a:bodyPr wrap="none" lIns="0" tIns="0" rIns="0" bIns="0" rtlCol="0" anchor="t"/>
          <a:lstStyle/>
          <a:p>
            <a:pPr algn="l" indent="0" marL="0">
              <a:lnSpc>
                <a:spcPct val="108000"/>
              </a:lnSpc>
              <a:buNone/>
            </a:pPr>
            <a:r>
              <a:rPr lang="en-US" sz="800" spc="-16" kern="0" dirty="0">
                <a:solidFill>
                  <a:srgbClr val="272525"/>
                </a:solidFill>
                <a:latin typeface="Inter" pitchFamily="34" charset="0"/>
                <a:ea typeface="Inter" pitchFamily="34" charset="-122"/>
                <a:cs typeface="Inter" pitchFamily="34" charset="-120"/>
              </a:rPr>
              <a:t>Max or average pooling reduces spatial size, retains dominant features, adds translation invariance.</a:t>
            </a:r>
            <a:endParaRPr lang="en-US" sz="800" dirty="0"/>
          </a:p>
        </p:txBody>
      </p:sp>
      <p:sp>
        <p:nvSpPr>
          <p:cNvPr id="22" name="Text 19"/>
          <p:cNvSpPr/>
          <p:nvPr/>
        </p:nvSpPr>
        <p:spPr>
          <a:xfrm>
            <a:off x="6227904" y="4089400"/>
            <a:ext cx="206171" cy="128885"/>
          </a:xfrm>
          <a:prstGeom prst="rect">
            <a:avLst/>
          </a:prstGeom>
          <a:noFill/>
          <a:ln/>
        </p:spPr>
        <p:txBody>
          <a:bodyPr wrap="none" lIns="0" tIns="0" rIns="0" bIns="0" rtlCol="0" anchor="ctr"/>
          <a:lstStyle/>
          <a:p>
            <a:pPr algn="l" indent="0" marL="0">
              <a:lnSpc>
                <a:spcPct val="100000"/>
              </a:lnSpc>
              <a:buNone/>
            </a:pPr>
            <a:r>
              <a:rPr lang="en-US" sz="800" spc="-16" kern="0" dirty="0">
                <a:solidFill>
                  <a:srgbClr val="272525"/>
                </a:solidFill>
                <a:latin typeface="Petrona Light" pitchFamily="34" charset="0"/>
                <a:ea typeface="Petrona Light" pitchFamily="34" charset="-122"/>
                <a:cs typeface="Petrona Light" pitchFamily="34" charset="-120"/>
              </a:rPr>
              <a:t>01</a:t>
            </a:r>
            <a:endParaRPr lang="en-US" sz="800" dirty="0"/>
          </a:p>
        </p:txBody>
      </p:sp>
      <p:sp>
        <p:nvSpPr>
          <p:cNvPr id="23" name="Shape 20"/>
          <p:cNvSpPr/>
          <p:nvPr/>
        </p:nvSpPr>
        <p:spPr>
          <a:xfrm>
            <a:off x="6227904" y="4251821"/>
            <a:ext cx="5308666" cy="12700"/>
          </a:xfrm>
          <a:prstGeom prst="rect">
            <a:avLst/>
          </a:prstGeom>
          <a:solidFill>
            <a:srgbClr val="6237C8"/>
          </a:solidFill>
          <a:ln/>
        </p:spPr>
      </p:sp>
      <p:sp>
        <p:nvSpPr>
          <p:cNvPr id="24" name="Text 21"/>
          <p:cNvSpPr/>
          <p:nvPr/>
        </p:nvSpPr>
        <p:spPr>
          <a:xfrm>
            <a:off x="6227904" y="4328716"/>
            <a:ext cx="5308666" cy="177205"/>
          </a:xfrm>
          <a:prstGeom prst="rect">
            <a:avLst/>
          </a:prstGeom>
          <a:noFill/>
          <a:ln/>
        </p:spPr>
        <p:txBody>
          <a:bodyPr wrap="none" lIns="0" tIns="0" rIns="0" bIns="0" rtlCol="0" anchor="t"/>
          <a:lstStyle/>
          <a:p>
            <a:pPr algn="l" indent="0" marL="0">
              <a:lnSpc>
                <a:spcPct val="104000"/>
              </a:lnSpc>
              <a:buNone/>
            </a:pPr>
            <a:r>
              <a:rPr lang="en-US" sz="1100" b="1" spc="-22" kern="0" dirty="0">
                <a:solidFill>
                  <a:srgbClr val="272525"/>
                </a:solidFill>
                <a:latin typeface="Petrona Bold" pitchFamily="34" charset="0"/>
                <a:ea typeface="Petrona Bold" pitchFamily="34" charset="-122"/>
                <a:cs typeface="Petrona Bold" pitchFamily="34" charset="-120"/>
              </a:rPr>
              <a:t>Repeat Blocks</a:t>
            </a:r>
            <a:endParaRPr lang="en-US" sz="1100" dirty="0"/>
          </a:p>
        </p:txBody>
      </p:sp>
      <p:sp>
        <p:nvSpPr>
          <p:cNvPr id="25" name="Text 22"/>
          <p:cNvSpPr/>
          <p:nvPr/>
        </p:nvSpPr>
        <p:spPr>
          <a:xfrm>
            <a:off x="6227904" y="4570115"/>
            <a:ext cx="5308666" cy="133846"/>
          </a:xfrm>
          <a:prstGeom prst="rect">
            <a:avLst/>
          </a:prstGeom>
          <a:noFill/>
          <a:ln/>
        </p:spPr>
        <p:txBody>
          <a:bodyPr wrap="none" lIns="0" tIns="0" rIns="0" bIns="0" rtlCol="0" anchor="t"/>
          <a:lstStyle/>
          <a:p>
            <a:pPr algn="l" indent="0" marL="0">
              <a:lnSpc>
                <a:spcPct val="108000"/>
              </a:lnSpc>
              <a:buNone/>
            </a:pPr>
            <a:r>
              <a:rPr lang="en-US" sz="800" spc="-16" kern="0" dirty="0">
                <a:solidFill>
                  <a:srgbClr val="272525"/>
                </a:solidFill>
                <a:latin typeface="Inter" pitchFamily="34" charset="0"/>
                <a:ea typeface="Inter" pitchFamily="34" charset="-122"/>
                <a:cs typeface="Inter" pitchFamily="34" charset="-120"/>
              </a:rPr>
              <a:t>Stack Conv-ReLU-Pool blocks. Depth increases, spatial dimensions shrink — hierarchy emerges.</a:t>
            </a:r>
            <a:endParaRPr lang="en-US" sz="800" dirty="0"/>
          </a:p>
        </p:txBody>
      </p:sp>
      <p:sp>
        <p:nvSpPr>
          <p:cNvPr id="26" name="Text 23"/>
          <p:cNvSpPr/>
          <p:nvPr/>
        </p:nvSpPr>
        <p:spPr>
          <a:xfrm>
            <a:off x="6227904" y="4845447"/>
            <a:ext cx="206171" cy="128885"/>
          </a:xfrm>
          <a:prstGeom prst="rect">
            <a:avLst/>
          </a:prstGeom>
          <a:noFill/>
          <a:ln/>
        </p:spPr>
        <p:txBody>
          <a:bodyPr wrap="none" lIns="0" tIns="0" rIns="0" bIns="0" rtlCol="0" anchor="ctr"/>
          <a:lstStyle/>
          <a:p>
            <a:pPr algn="l" indent="0" marL="0">
              <a:lnSpc>
                <a:spcPct val="100000"/>
              </a:lnSpc>
              <a:buNone/>
            </a:pPr>
            <a:r>
              <a:rPr lang="en-US" sz="800" spc="-16" kern="0" dirty="0">
                <a:solidFill>
                  <a:srgbClr val="272525"/>
                </a:solidFill>
                <a:latin typeface="Petrona Light" pitchFamily="34" charset="0"/>
                <a:ea typeface="Petrona Light" pitchFamily="34" charset="-122"/>
                <a:cs typeface="Petrona Light" pitchFamily="34" charset="-120"/>
              </a:rPr>
              <a:t>02</a:t>
            </a:r>
            <a:endParaRPr lang="en-US" sz="800" dirty="0"/>
          </a:p>
        </p:txBody>
      </p:sp>
      <p:sp>
        <p:nvSpPr>
          <p:cNvPr id="27" name="Shape 24"/>
          <p:cNvSpPr/>
          <p:nvPr/>
        </p:nvSpPr>
        <p:spPr>
          <a:xfrm>
            <a:off x="6227904" y="5007868"/>
            <a:ext cx="5308666" cy="12700"/>
          </a:xfrm>
          <a:prstGeom prst="rect">
            <a:avLst/>
          </a:prstGeom>
          <a:solidFill>
            <a:srgbClr val="6237C8"/>
          </a:solidFill>
          <a:ln/>
        </p:spPr>
      </p:sp>
      <p:sp>
        <p:nvSpPr>
          <p:cNvPr id="28" name="Text 25"/>
          <p:cNvSpPr/>
          <p:nvPr/>
        </p:nvSpPr>
        <p:spPr>
          <a:xfrm>
            <a:off x="6227904" y="5084763"/>
            <a:ext cx="5308666" cy="177205"/>
          </a:xfrm>
          <a:prstGeom prst="rect">
            <a:avLst/>
          </a:prstGeom>
          <a:noFill/>
          <a:ln/>
        </p:spPr>
        <p:txBody>
          <a:bodyPr wrap="none" lIns="0" tIns="0" rIns="0" bIns="0" rtlCol="0" anchor="t"/>
          <a:lstStyle/>
          <a:p>
            <a:pPr algn="l" indent="0" marL="0">
              <a:lnSpc>
                <a:spcPct val="104000"/>
              </a:lnSpc>
              <a:buNone/>
            </a:pPr>
            <a:r>
              <a:rPr lang="en-US" sz="1100" b="1" spc="-22" kern="0" dirty="0">
                <a:solidFill>
                  <a:srgbClr val="272525"/>
                </a:solidFill>
                <a:latin typeface="Petrona Bold" pitchFamily="34" charset="0"/>
                <a:ea typeface="Petrona Bold" pitchFamily="34" charset="-122"/>
                <a:cs typeface="Petrona Bold" pitchFamily="34" charset="-120"/>
              </a:rPr>
              <a:t>Flatten</a:t>
            </a:r>
            <a:endParaRPr lang="en-US" sz="1100" dirty="0"/>
          </a:p>
        </p:txBody>
      </p:sp>
      <p:sp>
        <p:nvSpPr>
          <p:cNvPr id="29" name="Text 26"/>
          <p:cNvSpPr/>
          <p:nvPr/>
        </p:nvSpPr>
        <p:spPr>
          <a:xfrm>
            <a:off x="6227904" y="5326162"/>
            <a:ext cx="5308666" cy="133846"/>
          </a:xfrm>
          <a:prstGeom prst="rect">
            <a:avLst/>
          </a:prstGeom>
          <a:noFill/>
          <a:ln/>
        </p:spPr>
        <p:txBody>
          <a:bodyPr wrap="none" lIns="0" tIns="0" rIns="0" bIns="0" rtlCol="0" anchor="t"/>
          <a:lstStyle/>
          <a:p>
            <a:pPr algn="l" indent="0" marL="0">
              <a:lnSpc>
                <a:spcPct val="108000"/>
              </a:lnSpc>
              <a:buNone/>
            </a:pPr>
            <a:r>
              <a:rPr lang="en-US" sz="800" spc="-16" kern="0" dirty="0">
                <a:solidFill>
                  <a:srgbClr val="272525"/>
                </a:solidFill>
                <a:latin typeface="Inter" pitchFamily="34" charset="0"/>
                <a:ea typeface="Inter" pitchFamily="34" charset="-122"/>
                <a:cs typeface="Inter" pitchFamily="34" charset="-120"/>
              </a:rPr>
              <a:t>Convert the final 3D feature volume into a 1D vector for the classification head.</a:t>
            </a:r>
            <a:endParaRPr lang="en-US" sz="800" dirty="0"/>
          </a:p>
        </p:txBody>
      </p:sp>
      <p:sp>
        <p:nvSpPr>
          <p:cNvPr id="30" name="Text 27"/>
          <p:cNvSpPr/>
          <p:nvPr/>
        </p:nvSpPr>
        <p:spPr>
          <a:xfrm>
            <a:off x="6227904" y="5601494"/>
            <a:ext cx="206171" cy="128885"/>
          </a:xfrm>
          <a:prstGeom prst="rect">
            <a:avLst/>
          </a:prstGeom>
          <a:noFill/>
          <a:ln/>
        </p:spPr>
        <p:txBody>
          <a:bodyPr wrap="none" lIns="0" tIns="0" rIns="0" bIns="0" rtlCol="0" anchor="ctr"/>
          <a:lstStyle/>
          <a:p>
            <a:pPr algn="l" indent="0" marL="0">
              <a:lnSpc>
                <a:spcPct val="100000"/>
              </a:lnSpc>
              <a:buNone/>
            </a:pPr>
            <a:r>
              <a:rPr lang="en-US" sz="800" spc="-16" kern="0" dirty="0">
                <a:solidFill>
                  <a:srgbClr val="272525"/>
                </a:solidFill>
                <a:latin typeface="Petrona Light" pitchFamily="34" charset="0"/>
                <a:ea typeface="Petrona Light" pitchFamily="34" charset="-122"/>
                <a:cs typeface="Petrona Light" pitchFamily="34" charset="-120"/>
              </a:rPr>
              <a:t>03</a:t>
            </a:r>
            <a:endParaRPr lang="en-US" sz="800" dirty="0"/>
          </a:p>
        </p:txBody>
      </p:sp>
      <p:sp>
        <p:nvSpPr>
          <p:cNvPr id="31" name="Shape 28"/>
          <p:cNvSpPr/>
          <p:nvPr/>
        </p:nvSpPr>
        <p:spPr>
          <a:xfrm>
            <a:off x="6227904" y="5763915"/>
            <a:ext cx="5308666" cy="12700"/>
          </a:xfrm>
          <a:prstGeom prst="rect">
            <a:avLst/>
          </a:prstGeom>
          <a:solidFill>
            <a:srgbClr val="6237C8"/>
          </a:solidFill>
          <a:ln/>
        </p:spPr>
      </p:sp>
      <p:sp>
        <p:nvSpPr>
          <p:cNvPr id="32" name="Text 29"/>
          <p:cNvSpPr/>
          <p:nvPr/>
        </p:nvSpPr>
        <p:spPr>
          <a:xfrm>
            <a:off x="6227904" y="5840809"/>
            <a:ext cx="5308666" cy="177205"/>
          </a:xfrm>
          <a:prstGeom prst="rect">
            <a:avLst/>
          </a:prstGeom>
          <a:noFill/>
          <a:ln/>
        </p:spPr>
        <p:txBody>
          <a:bodyPr wrap="none" lIns="0" tIns="0" rIns="0" bIns="0" rtlCol="0" anchor="t"/>
          <a:lstStyle/>
          <a:p>
            <a:pPr algn="l" indent="0" marL="0">
              <a:lnSpc>
                <a:spcPct val="104000"/>
              </a:lnSpc>
              <a:buNone/>
            </a:pPr>
            <a:r>
              <a:rPr lang="en-US" sz="1100" b="1" spc="-22" kern="0" dirty="0">
                <a:solidFill>
                  <a:srgbClr val="272525"/>
                </a:solidFill>
                <a:latin typeface="Petrona Bold" pitchFamily="34" charset="0"/>
                <a:ea typeface="Petrona Bold" pitchFamily="34" charset="-122"/>
                <a:cs typeface="Petrona Bold" pitchFamily="34" charset="-120"/>
              </a:rPr>
              <a:t>FC Layers → Output</a:t>
            </a:r>
            <a:endParaRPr lang="en-US" sz="1100" dirty="0"/>
          </a:p>
        </p:txBody>
      </p:sp>
      <p:sp>
        <p:nvSpPr>
          <p:cNvPr id="33" name="Text 30"/>
          <p:cNvSpPr/>
          <p:nvPr/>
        </p:nvSpPr>
        <p:spPr>
          <a:xfrm>
            <a:off x="6227904" y="6082209"/>
            <a:ext cx="5308666" cy="133846"/>
          </a:xfrm>
          <a:prstGeom prst="rect">
            <a:avLst/>
          </a:prstGeom>
          <a:noFill/>
          <a:ln/>
        </p:spPr>
        <p:txBody>
          <a:bodyPr wrap="none" lIns="0" tIns="0" rIns="0" bIns="0" rtlCol="0" anchor="t"/>
          <a:lstStyle/>
          <a:p>
            <a:pPr algn="l" indent="0" marL="0">
              <a:lnSpc>
                <a:spcPct val="108000"/>
              </a:lnSpc>
              <a:buNone/>
            </a:pPr>
            <a:r>
              <a:rPr lang="en-US" sz="800" spc="-16" kern="0" dirty="0">
                <a:solidFill>
                  <a:srgbClr val="272525"/>
                </a:solidFill>
                <a:latin typeface="Inter" pitchFamily="34" charset="0"/>
                <a:ea typeface="Inter" pitchFamily="34" charset="-122"/>
                <a:cs typeface="Inter" pitchFamily="34" charset="-120"/>
              </a:rPr>
              <a:t>Fully connected layers map features to class scores. Softmax outputs class probabilities summing to 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057672"/>
            <a:ext cx="10868745" cy="369590"/>
          </a:xfrm>
          <a:prstGeom prst="rect">
            <a:avLst/>
          </a:prstGeom>
          <a:noFill/>
          <a:ln/>
        </p:spPr>
        <p:txBody>
          <a:bodyPr wrap="none" lIns="0" tIns="0" rIns="0" bIns="0" rtlCol="0" anchor="t"/>
          <a:lstStyle/>
          <a:p>
            <a:pPr algn="l" indent="0" marL="0">
              <a:lnSpc>
                <a:spcPct val="104000"/>
              </a:lnSpc>
              <a:buNone/>
            </a:pPr>
            <a:r>
              <a:rPr lang="en-US" sz="2300" b="1" spc="-47" kern="0" dirty="0">
                <a:solidFill>
                  <a:srgbClr val="F95F88"/>
                </a:solidFill>
                <a:latin typeface="Petrona Bold" pitchFamily="34" charset="0"/>
                <a:ea typeface="Petrona Bold" pitchFamily="34" charset="-122"/>
                <a:cs typeface="Petrona Bold" pitchFamily="34" charset="-120"/>
              </a:rPr>
              <a:t>CNN Example: Image Classification &amp; Applications</a:t>
            </a:r>
            <a:endParaRPr lang="en-US" sz="2300" dirty="0"/>
          </a:p>
        </p:txBody>
      </p:sp>
      <p:sp>
        <p:nvSpPr>
          <p:cNvPr id="3" name="Text 1"/>
          <p:cNvSpPr/>
          <p:nvPr/>
        </p:nvSpPr>
        <p:spPr>
          <a:xfrm>
            <a:off x="661475" y="1601887"/>
            <a:ext cx="5303308"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F95F88"/>
                </a:solidFill>
                <a:latin typeface="Petrona Bold" pitchFamily="34" charset="0"/>
                <a:ea typeface="Petrona Bold" pitchFamily="34" charset="-122"/>
                <a:cs typeface="Petrona Bold" pitchFamily="34" charset="-120"/>
              </a:rPr>
              <a:t>Feature Hierarchy: Cat vs. Dog</a:t>
            </a:r>
            <a:endParaRPr lang="en-US" sz="1150" dirty="0"/>
          </a:p>
        </p:txBody>
      </p:sp>
      <p:sp>
        <p:nvSpPr>
          <p:cNvPr id="4" name="Text 2"/>
          <p:cNvSpPr/>
          <p:nvPr/>
        </p:nvSpPr>
        <p:spPr>
          <a:xfrm>
            <a:off x="661475" y="1856482"/>
            <a:ext cx="5303308"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CNNs learn progressively abstract representations layer by layer. Each stage builds upon the previous, transforming raw pixels into semantic class labels.</a:t>
            </a:r>
            <a:endParaRPr lang="en-US" sz="800" dirty="0"/>
          </a:p>
        </p:txBody>
      </p:sp>
      <p:sp>
        <p:nvSpPr>
          <p:cNvPr id="5" name="Shape 3"/>
          <p:cNvSpPr/>
          <p:nvPr/>
        </p:nvSpPr>
        <p:spPr>
          <a:xfrm>
            <a:off x="661475" y="2218829"/>
            <a:ext cx="662864" cy="611386"/>
          </a:xfrm>
          <a:prstGeom prst="roundRect">
            <a:avLst>
              <a:gd name="adj" fmla="val 7385"/>
            </a:avLst>
          </a:prstGeom>
          <a:solidFill>
            <a:srgbClr val="E0D7F4"/>
          </a:solidFill>
          <a:ln w="6350">
            <a:solidFill>
              <a:srgbClr val="C6BDDA"/>
            </a:solidFill>
            <a:prstDash val="solid"/>
          </a:ln>
        </p:spPr>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17354" y="2448917"/>
            <a:ext cx="151106" cy="151110"/>
          </a:xfrm>
          <a:prstGeom prst="rect">
            <a:avLst/>
          </a:prstGeom>
        </p:spPr>
      </p:pic>
      <p:sp>
        <p:nvSpPr>
          <p:cNvPr id="7" name="Text 4"/>
          <p:cNvSpPr/>
          <p:nvPr/>
        </p:nvSpPr>
        <p:spPr>
          <a:xfrm>
            <a:off x="1431790" y="2326283"/>
            <a:ext cx="4425542"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Layer 1 — Edges</a:t>
            </a:r>
            <a:endParaRPr lang="en-US" sz="1150" dirty="0"/>
          </a:p>
        </p:txBody>
      </p:sp>
      <p:sp>
        <p:nvSpPr>
          <p:cNvPr id="8" name="Text 5"/>
          <p:cNvSpPr/>
          <p:nvPr/>
        </p:nvSpPr>
        <p:spPr>
          <a:xfrm>
            <a:off x="1431790" y="2580878"/>
            <a:ext cx="4425542" cy="141883"/>
          </a:xfrm>
          <a:prstGeom prst="rect">
            <a:avLst/>
          </a:prstGeom>
          <a:noFill/>
          <a:ln/>
        </p:spPr>
        <p:txBody>
          <a:bodyPr wrap="none" lIns="0" tIns="0" rIns="0" bIns="0" rtlCol="0" anchor="t"/>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Horizontal, vertical, and diagonal edge detectors</a:t>
            </a:r>
            <a:endParaRPr lang="en-US" sz="800" dirty="0"/>
          </a:p>
        </p:txBody>
      </p:sp>
      <p:sp>
        <p:nvSpPr>
          <p:cNvPr id="9" name="Shape 6"/>
          <p:cNvSpPr/>
          <p:nvPr/>
        </p:nvSpPr>
        <p:spPr>
          <a:xfrm>
            <a:off x="1378015" y="2827040"/>
            <a:ext cx="4533092" cy="6350"/>
          </a:xfrm>
          <a:prstGeom prst="roundRect">
            <a:avLst>
              <a:gd name="adj" fmla="val 49999"/>
            </a:avLst>
          </a:prstGeom>
          <a:solidFill>
            <a:srgbClr val="C6BDDA"/>
          </a:solidFill>
          <a:ln/>
        </p:spPr>
      </p:sp>
      <p:sp>
        <p:nvSpPr>
          <p:cNvPr id="10" name="Shape 7"/>
          <p:cNvSpPr/>
          <p:nvPr/>
        </p:nvSpPr>
        <p:spPr>
          <a:xfrm>
            <a:off x="661475" y="2883892"/>
            <a:ext cx="1325827" cy="611386"/>
          </a:xfrm>
          <a:prstGeom prst="roundRect">
            <a:avLst>
              <a:gd name="adj" fmla="val 7385"/>
            </a:avLst>
          </a:prstGeom>
          <a:solidFill>
            <a:srgbClr val="E0D7F4"/>
          </a:solidFill>
          <a:ln w="6350">
            <a:solidFill>
              <a:srgbClr val="C6BDDA"/>
            </a:solidFill>
            <a:prstDash val="solid"/>
          </a:ln>
        </p:spPr>
      </p:sp>
      <p:pic>
        <p:nvPicPr>
          <p:cNvPr id="11"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48835" y="3113980"/>
            <a:ext cx="151106" cy="151110"/>
          </a:xfrm>
          <a:prstGeom prst="rect">
            <a:avLst/>
          </a:prstGeom>
        </p:spPr>
      </p:pic>
      <p:sp>
        <p:nvSpPr>
          <p:cNvPr id="12" name="Text 8"/>
          <p:cNvSpPr/>
          <p:nvPr/>
        </p:nvSpPr>
        <p:spPr>
          <a:xfrm>
            <a:off x="2094753" y="2991346"/>
            <a:ext cx="3762579"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Layer 2 — Textures</a:t>
            </a:r>
            <a:endParaRPr lang="en-US" sz="1150" dirty="0"/>
          </a:p>
        </p:txBody>
      </p:sp>
      <p:sp>
        <p:nvSpPr>
          <p:cNvPr id="13" name="Text 9"/>
          <p:cNvSpPr/>
          <p:nvPr/>
        </p:nvSpPr>
        <p:spPr>
          <a:xfrm>
            <a:off x="2094753" y="3245941"/>
            <a:ext cx="3762579" cy="141883"/>
          </a:xfrm>
          <a:prstGeom prst="rect">
            <a:avLst/>
          </a:prstGeom>
          <a:noFill/>
          <a:ln/>
        </p:spPr>
        <p:txBody>
          <a:bodyPr wrap="none" lIns="0" tIns="0" rIns="0" bIns="0" rtlCol="0" anchor="t"/>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Fur patterns, skin, repeated structural motifs</a:t>
            </a:r>
            <a:endParaRPr lang="en-US" sz="800" dirty="0"/>
          </a:p>
        </p:txBody>
      </p:sp>
      <p:sp>
        <p:nvSpPr>
          <p:cNvPr id="14" name="Shape 10"/>
          <p:cNvSpPr/>
          <p:nvPr/>
        </p:nvSpPr>
        <p:spPr>
          <a:xfrm>
            <a:off x="2040978" y="3492103"/>
            <a:ext cx="3870129" cy="6350"/>
          </a:xfrm>
          <a:prstGeom prst="roundRect">
            <a:avLst>
              <a:gd name="adj" fmla="val 49999"/>
            </a:avLst>
          </a:prstGeom>
          <a:solidFill>
            <a:srgbClr val="C6BDDA"/>
          </a:solidFill>
          <a:ln/>
        </p:spPr>
      </p:sp>
      <p:sp>
        <p:nvSpPr>
          <p:cNvPr id="15" name="Shape 11"/>
          <p:cNvSpPr/>
          <p:nvPr/>
        </p:nvSpPr>
        <p:spPr>
          <a:xfrm>
            <a:off x="661475" y="3548955"/>
            <a:ext cx="1988691" cy="611386"/>
          </a:xfrm>
          <a:prstGeom prst="roundRect">
            <a:avLst>
              <a:gd name="adj" fmla="val 7385"/>
            </a:avLst>
          </a:prstGeom>
          <a:solidFill>
            <a:srgbClr val="E0D7F4"/>
          </a:solidFill>
          <a:ln w="6350">
            <a:solidFill>
              <a:srgbClr val="C6BDDA"/>
            </a:solidFill>
            <a:prstDash val="solid"/>
          </a:ln>
        </p:spPr>
      </p:sp>
      <p:pic>
        <p:nvPicPr>
          <p:cNvPr id="16"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580217" y="3779044"/>
            <a:ext cx="151106" cy="151110"/>
          </a:xfrm>
          <a:prstGeom prst="rect">
            <a:avLst/>
          </a:prstGeom>
        </p:spPr>
      </p:pic>
      <p:sp>
        <p:nvSpPr>
          <p:cNvPr id="17" name="Text 12"/>
          <p:cNvSpPr/>
          <p:nvPr/>
        </p:nvSpPr>
        <p:spPr>
          <a:xfrm>
            <a:off x="2757617" y="3656409"/>
            <a:ext cx="3099715"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Layer 3 — Parts</a:t>
            </a:r>
            <a:endParaRPr lang="en-US" sz="1150" dirty="0"/>
          </a:p>
        </p:txBody>
      </p:sp>
      <p:sp>
        <p:nvSpPr>
          <p:cNvPr id="18" name="Text 13"/>
          <p:cNvSpPr/>
          <p:nvPr/>
        </p:nvSpPr>
        <p:spPr>
          <a:xfrm>
            <a:off x="2757617" y="3911005"/>
            <a:ext cx="3099715" cy="141883"/>
          </a:xfrm>
          <a:prstGeom prst="rect">
            <a:avLst/>
          </a:prstGeom>
          <a:noFill/>
          <a:ln/>
        </p:spPr>
        <p:txBody>
          <a:bodyPr wrap="none" lIns="0" tIns="0" rIns="0" bIns="0" rtlCol="0" anchor="t"/>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Eyes, nose, ears — recognizable anatomical components</a:t>
            </a:r>
            <a:endParaRPr lang="en-US" sz="800" dirty="0"/>
          </a:p>
        </p:txBody>
      </p:sp>
      <p:sp>
        <p:nvSpPr>
          <p:cNvPr id="19" name="Shape 14"/>
          <p:cNvSpPr/>
          <p:nvPr/>
        </p:nvSpPr>
        <p:spPr>
          <a:xfrm>
            <a:off x="2703842" y="4157166"/>
            <a:ext cx="3207265" cy="6350"/>
          </a:xfrm>
          <a:prstGeom prst="roundRect">
            <a:avLst>
              <a:gd name="adj" fmla="val 49999"/>
            </a:avLst>
          </a:prstGeom>
          <a:solidFill>
            <a:srgbClr val="C6BDDA"/>
          </a:solidFill>
          <a:ln/>
        </p:spPr>
      </p:sp>
      <p:sp>
        <p:nvSpPr>
          <p:cNvPr id="20" name="Shape 15"/>
          <p:cNvSpPr/>
          <p:nvPr/>
        </p:nvSpPr>
        <p:spPr>
          <a:xfrm>
            <a:off x="661475" y="4214019"/>
            <a:ext cx="2651654" cy="753269"/>
          </a:xfrm>
          <a:prstGeom prst="roundRect">
            <a:avLst>
              <a:gd name="adj" fmla="val 5994"/>
            </a:avLst>
          </a:prstGeom>
          <a:solidFill>
            <a:srgbClr val="E0D7F4"/>
          </a:solidFill>
          <a:ln w="6350">
            <a:solidFill>
              <a:srgbClr val="C6BDDA"/>
            </a:solidFill>
            <a:prstDash val="solid"/>
          </a:ln>
        </p:spPr>
      </p:sp>
      <p:pic>
        <p:nvPicPr>
          <p:cNvPr id="21"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11699" y="4515048"/>
            <a:ext cx="151106" cy="151110"/>
          </a:xfrm>
          <a:prstGeom prst="rect">
            <a:avLst/>
          </a:prstGeom>
        </p:spPr>
      </p:pic>
      <p:sp>
        <p:nvSpPr>
          <p:cNvPr id="22" name="Text 16"/>
          <p:cNvSpPr/>
          <p:nvPr/>
        </p:nvSpPr>
        <p:spPr>
          <a:xfrm>
            <a:off x="3420580" y="4321473"/>
            <a:ext cx="2436752"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Layer 4 — Objects</a:t>
            </a:r>
            <a:endParaRPr lang="en-US" sz="1150" dirty="0"/>
          </a:p>
        </p:txBody>
      </p:sp>
      <p:sp>
        <p:nvSpPr>
          <p:cNvPr id="23" name="Text 17"/>
          <p:cNvSpPr/>
          <p:nvPr/>
        </p:nvSpPr>
        <p:spPr>
          <a:xfrm>
            <a:off x="3420580" y="4576068"/>
            <a:ext cx="2436752"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Cat face vs. dog face — full semantic classification</a:t>
            </a:r>
            <a:endParaRPr lang="en-US" sz="800" dirty="0"/>
          </a:p>
        </p:txBody>
      </p:sp>
      <p:sp>
        <p:nvSpPr>
          <p:cNvPr id="24" name="Text 18"/>
          <p:cNvSpPr/>
          <p:nvPr/>
        </p:nvSpPr>
        <p:spPr>
          <a:xfrm>
            <a:off x="6233262" y="1601887"/>
            <a:ext cx="5303308"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F95F88"/>
                </a:solidFill>
                <a:latin typeface="Petrona Bold" pitchFamily="34" charset="0"/>
                <a:ea typeface="Petrona Bold" pitchFamily="34" charset="-122"/>
                <a:cs typeface="Petrona Bold" pitchFamily="34" charset="-120"/>
              </a:rPr>
              <a:t>Real-World Applications</a:t>
            </a:r>
            <a:endParaRPr lang="en-US" sz="1150" dirty="0"/>
          </a:p>
        </p:txBody>
      </p:sp>
      <p:pic>
        <p:nvPicPr>
          <p:cNvPr id="2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33262" y="1865213"/>
            <a:ext cx="215002" cy="215007"/>
          </a:xfrm>
          <a:prstGeom prst="rect">
            <a:avLst/>
          </a:prstGeom>
        </p:spPr>
      </p:pic>
      <p:sp>
        <p:nvSpPr>
          <p:cNvPr id="26" name="Text 19"/>
          <p:cNvSpPr/>
          <p:nvPr/>
        </p:nvSpPr>
        <p:spPr>
          <a:xfrm>
            <a:off x="6535574" y="1902123"/>
            <a:ext cx="5000996"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Medical Imaging</a:t>
            </a:r>
            <a:endParaRPr lang="en-US" sz="1150" dirty="0"/>
          </a:p>
        </p:txBody>
      </p:sp>
      <p:sp>
        <p:nvSpPr>
          <p:cNvPr id="27" name="Text 20"/>
          <p:cNvSpPr/>
          <p:nvPr/>
        </p:nvSpPr>
        <p:spPr>
          <a:xfrm>
            <a:off x="6535574" y="2156718"/>
            <a:ext cx="5000996" cy="141883"/>
          </a:xfrm>
          <a:prstGeom prst="rect">
            <a:avLst/>
          </a:prstGeom>
          <a:noFill/>
          <a:ln/>
        </p:spPr>
        <p:txBody>
          <a:bodyPr wrap="none" lIns="0" tIns="0" rIns="0" bIns="0" rtlCol="0" anchor="t"/>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X-ray and CT scan diagnosis; tumor detection with radiologist-level accuracy.</a:t>
            </a:r>
            <a:endParaRPr lang="en-US" sz="800" dirty="0"/>
          </a:p>
        </p:txBody>
      </p:sp>
      <p:pic>
        <p:nvPicPr>
          <p:cNvPr id="28"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33262" y="2438301"/>
            <a:ext cx="215002" cy="215007"/>
          </a:xfrm>
          <a:prstGeom prst="rect">
            <a:avLst/>
          </a:prstGeom>
        </p:spPr>
      </p:pic>
      <p:sp>
        <p:nvSpPr>
          <p:cNvPr id="29" name="Text 21"/>
          <p:cNvSpPr/>
          <p:nvPr/>
        </p:nvSpPr>
        <p:spPr>
          <a:xfrm>
            <a:off x="6535574" y="2475210"/>
            <a:ext cx="5000996"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Facial Recognition</a:t>
            </a:r>
            <a:endParaRPr lang="en-US" sz="1150" dirty="0"/>
          </a:p>
        </p:txBody>
      </p:sp>
      <p:sp>
        <p:nvSpPr>
          <p:cNvPr id="30" name="Text 22"/>
          <p:cNvSpPr/>
          <p:nvPr/>
        </p:nvSpPr>
        <p:spPr>
          <a:xfrm>
            <a:off x="6535574" y="2729805"/>
            <a:ext cx="5000996" cy="141883"/>
          </a:xfrm>
          <a:prstGeom prst="rect">
            <a:avLst/>
          </a:prstGeom>
          <a:noFill/>
          <a:ln/>
        </p:spPr>
        <p:txBody>
          <a:bodyPr wrap="none" lIns="0" tIns="0" rIns="0" bIns="0" rtlCol="0" anchor="t"/>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Identity verification in security systems, smartphones, and access control.</a:t>
            </a:r>
            <a:endParaRPr lang="en-US" sz="800" dirty="0"/>
          </a:p>
        </p:txBody>
      </p:sp>
      <p:pic>
        <p:nvPicPr>
          <p:cNvPr id="31"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233262" y="3011388"/>
            <a:ext cx="215002" cy="215007"/>
          </a:xfrm>
          <a:prstGeom prst="rect">
            <a:avLst/>
          </a:prstGeom>
        </p:spPr>
      </p:pic>
      <p:sp>
        <p:nvSpPr>
          <p:cNvPr id="32" name="Text 23"/>
          <p:cNvSpPr/>
          <p:nvPr/>
        </p:nvSpPr>
        <p:spPr>
          <a:xfrm>
            <a:off x="6535574" y="3048298"/>
            <a:ext cx="5000996"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Object Detection</a:t>
            </a:r>
            <a:endParaRPr lang="en-US" sz="1150" dirty="0"/>
          </a:p>
        </p:txBody>
      </p:sp>
      <p:sp>
        <p:nvSpPr>
          <p:cNvPr id="33" name="Text 24"/>
          <p:cNvSpPr/>
          <p:nvPr/>
        </p:nvSpPr>
        <p:spPr>
          <a:xfrm>
            <a:off x="6535574" y="3302893"/>
            <a:ext cx="5000996" cy="141883"/>
          </a:xfrm>
          <a:prstGeom prst="rect">
            <a:avLst/>
          </a:prstGeom>
          <a:noFill/>
          <a:ln/>
        </p:spPr>
        <p:txBody>
          <a:bodyPr wrap="none" lIns="0" tIns="0" rIns="0" bIns="0" rtlCol="0" anchor="t"/>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YOLO, R-CNN for real-time detection in autonomous vehicles and surveillance.</a:t>
            </a:r>
            <a:endParaRPr lang="en-US" sz="800" dirty="0"/>
          </a:p>
        </p:txBody>
      </p:sp>
      <p:sp>
        <p:nvSpPr>
          <p:cNvPr id="34" name="Text 25"/>
          <p:cNvSpPr/>
          <p:nvPr/>
        </p:nvSpPr>
        <p:spPr>
          <a:xfrm>
            <a:off x="6233262" y="3523357"/>
            <a:ext cx="5303308"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F95F88"/>
                </a:solidFill>
                <a:latin typeface="Petrona Bold" pitchFamily="34" charset="0"/>
                <a:ea typeface="Petrona Bold" pitchFamily="34" charset="-122"/>
                <a:cs typeface="Petrona Bold" pitchFamily="34" charset="-120"/>
              </a:rPr>
              <a:t>Popular Architectures</a:t>
            </a:r>
            <a:endParaRPr lang="en-US" sz="1150" dirty="0"/>
          </a:p>
        </p:txBody>
      </p:sp>
      <p:pic>
        <p:nvPicPr>
          <p:cNvPr id="35" name="Image 7" descr="preencoded.png">    </p:cNvPr>
          <p:cNvPicPr>
            <a:picLocks noChangeAspect="1"/>
          </p:cNvPicPr>
          <p:nvPr/>
        </p:nvPicPr>
        <p:blipFill>
          <a:blip r:embed="rId15"/>
          <a:stretch>
            <a:fillRect/>
          </a:stretch>
        </p:blipFill>
        <p:spPr>
          <a:xfrm>
            <a:off x="6233262" y="3786684"/>
            <a:ext cx="537455" cy="537567"/>
          </a:xfrm>
          <a:prstGeom prst="rect">
            <a:avLst/>
          </a:prstGeom>
        </p:spPr>
      </p:pic>
      <p:sp>
        <p:nvSpPr>
          <p:cNvPr id="36" name="Text 26"/>
          <p:cNvSpPr/>
          <p:nvPr/>
        </p:nvSpPr>
        <p:spPr>
          <a:xfrm>
            <a:off x="6840565" y="3786684"/>
            <a:ext cx="4696005"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LeNet / AlexNet</a:t>
            </a:r>
            <a:endParaRPr lang="en-US" sz="1150" dirty="0"/>
          </a:p>
        </p:txBody>
      </p:sp>
      <p:pic>
        <p:nvPicPr>
          <p:cNvPr id="37" name="Image 8" descr="preencoded.png">    </p:cNvPr>
          <p:cNvPicPr>
            <a:picLocks noChangeAspect="1"/>
          </p:cNvPicPr>
          <p:nvPr/>
        </p:nvPicPr>
        <p:blipFill>
          <a:blip r:embed="rId16"/>
          <a:stretch>
            <a:fillRect/>
          </a:stretch>
        </p:blipFill>
        <p:spPr>
          <a:xfrm>
            <a:off x="6233262" y="4431705"/>
            <a:ext cx="537455" cy="537567"/>
          </a:xfrm>
          <a:prstGeom prst="rect">
            <a:avLst/>
          </a:prstGeom>
        </p:spPr>
      </p:pic>
      <p:sp>
        <p:nvSpPr>
          <p:cNvPr id="38" name="Text 27"/>
          <p:cNvSpPr/>
          <p:nvPr/>
        </p:nvSpPr>
        <p:spPr>
          <a:xfrm>
            <a:off x="6840565" y="4431705"/>
            <a:ext cx="4696005"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VGG / ResNet</a:t>
            </a:r>
            <a:endParaRPr lang="en-US" sz="1150" dirty="0"/>
          </a:p>
        </p:txBody>
      </p:sp>
      <p:pic>
        <p:nvPicPr>
          <p:cNvPr id="39" name="Image 9" descr="preencoded.png">    </p:cNvPr>
          <p:cNvPicPr>
            <a:picLocks noChangeAspect="1"/>
          </p:cNvPicPr>
          <p:nvPr/>
        </p:nvPicPr>
        <p:blipFill>
          <a:blip r:embed="rId17"/>
          <a:stretch>
            <a:fillRect/>
          </a:stretch>
        </p:blipFill>
        <p:spPr>
          <a:xfrm>
            <a:off x="6233262" y="5076726"/>
            <a:ext cx="537455" cy="537567"/>
          </a:xfrm>
          <a:prstGeom prst="rect">
            <a:avLst/>
          </a:prstGeom>
        </p:spPr>
      </p:pic>
      <p:sp>
        <p:nvSpPr>
          <p:cNvPr id="40" name="Text 28"/>
          <p:cNvSpPr/>
          <p:nvPr/>
        </p:nvSpPr>
        <p:spPr>
          <a:xfrm>
            <a:off x="6840565" y="5076726"/>
            <a:ext cx="4696005"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EfficientNet / MobileNet</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156097"/>
            <a:ext cx="10868745" cy="426343"/>
          </a:xfrm>
          <a:prstGeom prst="rect">
            <a:avLst/>
          </a:prstGeom>
          <a:noFill/>
          <a:ln/>
        </p:spPr>
        <p:txBody>
          <a:bodyPr wrap="none" lIns="0" tIns="0" rIns="0" bIns="0" rtlCol="0" anchor="t"/>
          <a:lstStyle/>
          <a:p>
            <a:pPr algn="l" indent="0" marL="0">
              <a:lnSpc>
                <a:spcPct val="104000"/>
              </a:lnSpc>
              <a:buNone/>
            </a:pPr>
            <a:r>
              <a:rPr lang="en-US" sz="2650" b="1" spc="-54" kern="0" dirty="0">
                <a:solidFill>
                  <a:srgbClr val="F95F88"/>
                </a:solidFill>
                <a:latin typeface="Petrona Bold" pitchFamily="34" charset="0"/>
                <a:ea typeface="Petrona Bold" pitchFamily="34" charset="-122"/>
                <a:cs typeface="Petrona Bold" pitchFamily="34" charset="-120"/>
              </a:rPr>
              <a:t>RNN Fundamentals</a:t>
            </a:r>
            <a:endParaRPr lang="en-US" sz="2650" dirty="0"/>
          </a:p>
        </p:txBody>
      </p:sp>
      <p:sp>
        <p:nvSpPr>
          <p:cNvPr id="3" name="Text 1"/>
          <p:cNvSpPr/>
          <p:nvPr/>
        </p:nvSpPr>
        <p:spPr>
          <a:xfrm>
            <a:off x="661475" y="1768475"/>
            <a:ext cx="10868745" cy="347266"/>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Recurrent Neural Networks introduce a feedback loop — the output of the hidden layer at time step </a:t>
            </a:r>
            <a:pPr algn="l" indent="0" marL="0">
              <a:lnSpc>
                <a:spcPct val="117000"/>
              </a:lnSpc>
              <a:buNone/>
            </a:pPr>
            <a:r>
              <a:rPr lang="en-US" sz="950" i="1" spc="-20" kern="0" dirty="0">
                <a:solidFill>
                  <a:srgbClr val="272525"/>
                </a:solidFill>
                <a:latin typeface="Inter" pitchFamily="34" charset="0"/>
                <a:ea typeface="Inter" pitchFamily="34" charset="-122"/>
                <a:cs typeface="Inter" pitchFamily="34" charset="-120"/>
              </a:rPr>
              <a:t>t</a:t>
            </a:r>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 is fed back as input at time step </a:t>
            </a:r>
            <a:pPr algn="l" indent="0" marL="0">
              <a:lnSpc>
                <a:spcPct val="117000"/>
              </a:lnSpc>
              <a:buNone/>
            </a:pPr>
            <a:r>
              <a:rPr lang="en-US" sz="950" i="1" spc="-20" kern="0" dirty="0">
                <a:solidFill>
                  <a:srgbClr val="272525"/>
                </a:solidFill>
                <a:latin typeface="Inter" pitchFamily="34" charset="0"/>
                <a:ea typeface="Inter" pitchFamily="34" charset="-122"/>
                <a:cs typeface="Inter" pitchFamily="34" charset="-120"/>
              </a:rPr>
              <a:t>t+1</a:t>
            </a:r>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 This creates a form of </a:t>
            </a:r>
            <a:pPr algn="l" indent="0" marL="0">
              <a:lnSpc>
                <a:spcPct val="117000"/>
              </a:lnSpc>
              <a:buNone/>
            </a:pPr>
            <a:r>
              <a:rPr lang="en-US" sz="950" b="1" spc="-20" kern="0" dirty="0">
                <a:solidFill>
                  <a:srgbClr val="272525"/>
                </a:solidFill>
                <a:latin typeface="Inter Bold" pitchFamily="34" charset="0"/>
                <a:ea typeface="Inter Bold" pitchFamily="34" charset="-122"/>
                <a:cs typeface="Inter Bold" pitchFamily="34" charset="-120"/>
              </a:rPr>
              <a:t>memory</a:t>
            </a:r>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 that enables the network to process sequences where order is critical.</a:t>
            </a:r>
            <a:endParaRPr lang="en-US" sz="950" dirty="0"/>
          </a:p>
        </p:txBody>
      </p:sp>
      <p:sp>
        <p:nvSpPr>
          <p:cNvPr id="4" name="Text 2"/>
          <p:cNvSpPr/>
          <p:nvPr/>
        </p:nvSpPr>
        <p:spPr>
          <a:xfrm>
            <a:off x="661475" y="2313285"/>
            <a:ext cx="5283068"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F95F88"/>
                </a:solidFill>
                <a:latin typeface="Petrona Bold" pitchFamily="34" charset="0"/>
                <a:ea typeface="Petrona Bold" pitchFamily="34" charset="-122"/>
                <a:cs typeface="Petrona Bold" pitchFamily="34" charset="-120"/>
              </a:rPr>
              <a:t>Why Recurrence?</a:t>
            </a:r>
            <a:endParaRPr lang="en-US" sz="130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30984"/>
            <a:ext cx="5283068" cy="926802"/>
          </a:xfrm>
          <a:prstGeom prst="rect">
            <a:avLst/>
          </a:prstGeom>
        </p:spPr>
      </p:pic>
      <p:sp>
        <p:nvSpPr>
          <p:cNvPr id="6" name="Text 3"/>
          <p:cNvSpPr/>
          <p:nvPr/>
        </p:nvSpPr>
        <p:spPr>
          <a:xfrm>
            <a:off x="848994" y="2767707"/>
            <a:ext cx="4958829"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Sequential Data</a:t>
            </a:r>
            <a:endParaRPr lang="en-US" sz="1300" dirty="0"/>
          </a:p>
        </p:txBody>
      </p:sp>
      <p:sp>
        <p:nvSpPr>
          <p:cNvPr id="7" name="Text 4"/>
          <p:cNvSpPr/>
          <p:nvPr/>
        </p:nvSpPr>
        <p:spPr>
          <a:xfrm>
            <a:off x="848994" y="3073797"/>
            <a:ext cx="4958829" cy="347266"/>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Text, time series, speech, and video frames all have ordering that carries meaning. Shuffling inputs destroys that meaning.</a:t>
            </a:r>
            <a:endParaRPr lang="en-US" sz="95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650754"/>
            <a:ext cx="5283068" cy="926802"/>
          </a:xfrm>
          <a:prstGeom prst="rect">
            <a:avLst/>
          </a:prstGeom>
        </p:spPr>
      </p:pic>
      <p:sp>
        <p:nvSpPr>
          <p:cNvPr id="9" name="Text 5"/>
          <p:cNvSpPr/>
          <p:nvPr/>
        </p:nvSpPr>
        <p:spPr>
          <a:xfrm>
            <a:off x="848994" y="3787477"/>
            <a:ext cx="4958829"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Hidden State ht</a:t>
            </a:r>
            <a:endParaRPr lang="en-US" sz="1300" dirty="0"/>
          </a:p>
        </p:txBody>
      </p:sp>
      <p:sp>
        <p:nvSpPr>
          <p:cNvPr id="10" name="Text 6"/>
          <p:cNvSpPr/>
          <p:nvPr/>
        </p:nvSpPr>
        <p:spPr>
          <a:xfrm>
            <a:off x="848994" y="4093567"/>
            <a:ext cx="4958829" cy="347266"/>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A vector that acts as the network's </a:t>
            </a:r>
            <a:pPr algn="l" indent="0" marL="0">
              <a:lnSpc>
                <a:spcPct val="117000"/>
              </a:lnSpc>
              <a:buNone/>
            </a:pPr>
            <a:r>
              <a:rPr lang="en-US" sz="950" b="1" spc="-20" kern="0" dirty="0">
                <a:solidFill>
                  <a:srgbClr val="272525"/>
                </a:solidFill>
                <a:latin typeface="Inter Bold" pitchFamily="34" charset="0"/>
                <a:ea typeface="Inter Bold" pitchFamily="34" charset="-122"/>
                <a:cs typeface="Inter Bold" pitchFamily="34" charset="-120"/>
              </a:rPr>
              <a:t>running memory</a:t>
            </a:r>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 It accumulates information from all previous time steps.</a:t>
            </a:r>
            <a:endParaRPr lang="en-US" sz="9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670524"/>
            <a:ext cx="5283068" cy="926802"/>
          </a:xfrm>
          <a:prstGeom prst="rect">
            <a:avLst/>
          </a:prstGeom>
        </p:spPr>
      </p:pic>
      <p:sp>
        <p:nvSpPr>
          <p:cNvPr id="12" name="Text 7"/>
          <p:cNvSpPr/>
          <p:nvPr/>
        </p:nvSpPr>
        <p:spPr>
          <a:xfrm>
            <a:off x="848994" y="4807248"/>
            <a:ext cx="4958829"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Weight Sharing</a:t>
            </a:r>
            <a:endParaRPr lang="en-US" sz="1300" dirty="0"/>
          </a:p>
        </p:txBody>
      </p:sp>
      <p:sp>
        <p:nvSpPr>
          <p:cNvPr id="13" name="Text 8"/>
          <p:cNvSpPr/>
          <p:nvPr/>
        </p:nvSpPr>
        <p:spPr>
          <a:xfrm>
            <a:off x="848994" y="5113338"/>
            <a:ext cx="4958829" cy="347266"/>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The same weight matrices </a:t>
            </a:r>
            <a:pPr algn="l" indent="0" marL="0">
              <a:lnSpc>
                <a:spcPct val="117000"/>
              </a:lnSpc>
              <a:buNone/>
            </a:pPr>
            <a:r>
              <a:rPr lang="en-US" sz="950" b="1" spc="-20" kern="0" dirty="0">
                <a:solidFill>
                  <a:srgbClr val="272525"/>
                </a:solidFill>
                <a:latin typeface="Inter Bold" pitchFamily="34" charset="0"/>
                <a:ea typeface="Inter Bold" pitchFamily="34" charset="-122"/>
                <a:cs typeface="Inter Bold" pitchFamily="34" charset="-120"/>
              </a:rPr>
              <a:t>Wx, Wh, Wy</a:t>
            </a:r>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 are reused at every time step — drastically reducing parameters versus a separate network per step.</a:t>
            </a:r>
            <a:endParaRPr lang="en-US" sz="950" dirty="0"/>
          </a:p>
        </p:txBody>
      </p:sp>
      <p:sp>
        <p:nvSpPr>
          <p:cNvPr id="14" name="Shape 9"/>
          <p:cNvSpPr/>
          <p:nvPr/>
        </p:nvSpPr>
        <p:spPr>
          <a:xfrm>
            <a:off x="6164208" y="2220317"/>
            <a:ext cx="5461657" cy="3481586"/>
          </a:xfrm>
          <a:prstGeom prst="roundRect">
            <a:avLst>
              <a:gd name="adj" fmla="val 2565"/>
            </a:avLst>
          </a:prstGeom>
          <a:solidFill>
            <a:srgbClr val="AC9EF5"/>
          </a:solidFill>
          <a:ln/>
        </p:spPr>
      </p:sp>
      <p:sp>
        <p:nvSpPr>
          <p:cNvPr id="15" name="Text 10"/>
          <p:cNvSpPr/>
          <p:nvPr/>
        </p:nvSpPr>
        <p:spPr>
          <a:xfrm>
            <a:off x="6288228" y="2313285"/>
            <a:ext cx="5213616"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000000"/>
                </a:solidFill>
                <a:latin typeface="Petrona Bold" pitchFamily="34" charset="0"/>
                <a:ea typeface="Petrona Bold" pitchFamily="34" charset="-122"/>
                <a:cs typeface="Petrona Bold" pitchFamily="34" charset="-120"/>
              </a:rPr>
              <a:t>Unfolded View — Information Flow</a:t>
            </a:r>
            <a:endParaRPr lang="en-US" sz="1300" dirty="0"/>
          </a:p>
        </p:txBody>
      </p:sp>
      <p:sp>
        <p:nvSpPr>
          <p:cNvPr id="16" name="Text 11"/>
          <p:cNvSpPr/>
          <p:nvPr/>
        </p:nvSpPr>
        <p:spPr>
          <a:xfrm>
            <a:off x="6288228" y="2619375"/>
            <a:ext cx="5823201" cy="173633"/>
          </a:xfrm>
          <a:prstGeom prst="rect">
            <a:avLst/>
          </a:prstGeom>
          <a:noFill/>
          <a:ln/>
        </p:spPr>
        <p:txBody>
          <a:bodyPr wrap="none" lIns="0" tIns="0" rIns="0" bIns="0" rtlCol="0" anchor="t"/>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An RNN "unrolled" across time shows how information propagates through the sequence:</a:t>
            </a:r>
            <a:endParaRPr lang="en-US" sz="950" dirty="0"/>
          </a:p>
        </p:txBody>
      </p:sp>
      <p:pic>
        <p:nvPicPr>
          <p:cNvPr id="17" name="Image 3" descr="preencoded.png">    </p:cNvPr>
          <p:cNvPicPr>
            <a:picLocks noChangeAspect="1"/>
          </p:cNvPicPr>
          <p:nvPr/>
        </p:nvPicPr>
        <p:blipFill>
          <a:blip r:embed="rId7"/>
          <a:stretch>
            <a:fillRect/>
          </a:stretch>
        </p:blipFill>
        <p:spPr>
          <a:xfrm>
            <a:off x="6288228" y="2897584"/>
            <a:ext cx="620201" cy="744240"/>
          </a:xfrm>
          <a:prstGeom prst="rect">
            <a:avLst/>
          </a:prstGeom>
        </p:spPr>
      </p:pic>
      <p:sp>
        <p:nvSpPr>
          <p:cNvPr id="18" name="Text 12"/>
          <p:cNvSpPr/>
          <p:nvPr/>
        </p:nvSpPr>
        <p:spPr>
          <a:xfrm>
            <a:off x="7001394" y="3021608"/>
            <a:ext cx="4500450"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t = 1</a:t>
            </a:r>
            <a:endParaRPr lang="en-US" sz="1300" dirty="0"/>
          </a:p>
        </p:txBody>
      </p:sp>
      <p:sp>
        <p:nvSpPr>
          <p:cNvPr id="19" name="Text 13"/>
          <p:cNvSpPr/>
          <p:nvPr/>
        </p:nvSpPr>
        <p:spPr>
          <a:xfrm>
            <a:off x="7001394" y="3327698"/>
            <a:ext cx="4500450" cy="173633"/>
          </a:xfrm>
          <a:prstGeom prst="rect">
            <a:avLst/>
          </a:prstGeom>
          <a:noFill/>
          <a:ln/>
        </p:spPr>
        <p:txBody>
          <a:bodyPr wrap="none" lIns="0" tIns="0" rIns="0" bIns="0" rtlCol="0" anchor="t"/>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x₁ → h₁ → y₁</a:t>
            </a:r>
            <a:endParaRPr lang="en-US" sz="950" dirty="0"/>
          </a:p>
        </p:txBody>
      </p:sp>
      <p:pic>
        <p:nvPicPr>
          <p:cNvPr id="20" name="Image 4" descr="preencoded.png">    </p:cNvPr>
          <p:cNvPicPr>
            <a:picLocks noChangeAspect="1"/>
          </p:cNvPicPr>
          <p:nvPr/>
        </p:nvPicPr>
        <p:blipFill>
          <a:blip r:embed="rId8"/>
          <a:stretch>
            <a:fillRect/>
          </a:stretch>
        </p:blipFill>
        <p:spPr>
          <a:xfrm>
            <a:off x="6288228" y="3641824"/>
            <a:ext cx="620201" cy="744240"/>
          </a:xfrm>
          <a:prstGeom prst="rect">
            <a:avLst/>
          </a:prstGeom>
        </p:spPr>
      </p:pic>
      <p:sp>
        <p:nvSpPr>
          <p:cNvPr id="21" name="Text 14"/>
          <p:cNvSpPr/>
          <p:nvPr/>
        </p:nvSpPr>
        <p:spPr>
          <a:xfrm>
            <a:off x="7001394" y="3765848"/>
            <a:ext cx="4500450"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t = 2</a:t>
            </a:r>
            <a:endParaRPr lang="en-US" sz="1300" dirty="0"/>
          </a:p>
        </p:txBody>
      </p:sp>
      <p:sp>
        <p:nvSpPr>
          <p:cNvPr id="22" name="Text 15"/>
          <p:cNvSpPr/>
          <p:nvPr/>
        </p:nvSpPr>
        <p:spPr>
          <a:xfrm>
            <a:off x="7001394" y="4071938"/>
            <a:ext cx="4500450" cy="173633"/>
          </a:xfrm>
          <a:prstGeom prst="rect">
            <a:avLst/>
          </a:prstGeom>
          <a:noFill/>
          <a:ln/>
        </p:spPr>
        <p:txBody>
          <a:bodyPr wrap="none" lIns="0" tIns="0" rIns="0" bIns="0" rtlCol="0" anchor="t"/>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x₂ + h₁ → h₂ → y₂</a:t>
            </a:r>
            <a:endParaRPr lang="en-US" sz="950" dirty="0"/>
          </a:p>
        </p:txBody>
      </p:sp>
      <p:pic>
        <p:nvPicPr>
          <p:cNvPr id="23" name="Image 5" descr="preencoded.png">    </p:cNvPr>
          <p:cNvPicPr>
            <a:picLocks noChangeAspect="1"/>
          </p:cNvPicPr>
          <p:nvPr/>
        </p:nvPicPr>
        <p:blipFill>
          <a:blip r:embed="rId9"/>
          <a:stretch>
            <a:fillRect/>
          </a:stretch>
        </p:blipFill>
        <p:spPr>
          <a:xfrm>
            <a:off x="6288228" y="4386064"/>
            <a:ext cx="620201" cy="744240"/>
          </a:xfrm>
          <a:prstGeom prst="rect">
            <a:avLst/>
          </a:prstGeom>
        </p:spPr>
      </p:pic>
      <p:sp>
        <p:nvSpPr>
          <p:cNvPr id="24" name="Text 16"/>
          <p:cNvSpPr/>
          <p:nvPr/>
        </p:nvSpPr>
        <p:spPr>
          <a:xfrm>
            <a:off x="7001394" y="4510088"/>
            <a:ext cx="4500450" cy="213122"/>
          </a:xfrm>
          <a:prstGeom prst="rect">
            <a:avLst/>
          </a:prstGeom>
          <a:noFill/>
          <a:ln/>
        </p:spPr>
        <p:txBody>
          <a:bodyPr wrap="none" lIns="0" tIns="0" rIns="0" bIns="0" rtlCol="0" anchor="t"/>
          <a:lstStyle/>
          <a:p>
            <a:pPr algn="l" indent="0" marL="0">
              <a:lnSpc>
                <a:spcPct val="104000"/>
              </a:lnSpc>
              <a:buNone/>
            </a:pPr>
            <a:r>
              <a:rPr lang="en-US" sz="1300" b="1" spc="-27" kern="0" dirty="0">
                <a:solidFill>
                  <a:srgbClr val="272525"/>
                </a:solidFill>
                <a:latin typeface="Petrona Bold" pitchFamily="34" charset="0"/>
                <a:ea typeface="Petrona Bold" pitchFamily="34" charset="-122"/>
                <a:cs typeface="Petrona Bold" pitchFamily="34" charset="-120"/>
              </a:rPr>
              <a:t>t = T</a:t>
            </a:r>
            <a:endParaRPr lang="en-US" sz="1300" dirty="0"/>
          </a:p>
        </p:txBody>
      </p:sp>
      <p:sp>
        <p:nvSpPr>
          <p:cNvPr id="25" name="Text 17"/>
          <p:cNvSpPr/>
          <p:nvPr/>
        </p:nvSpPr>
        <p:spPr>
          <a:xfrm>
            <a:off x="7001394" y="4816177"/>
            <a:ext cx="4500450" cy="173633"/>
          </a:xfrm>
          <a:prstGeom prst="rect">
            <a:avLst/>
          </a:prstGeom>
          <a:noFill/>
          <a:ln/>
        </p:spPr>
        <p:txBody>
          <a:bodyPr wrap="none" lIns="0" tIns="0" rIns="0" bIns="0" rtlCol="0" anchor="t"/>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xT + hT−1 → hT → yT</a:t>
            </a:r>
            <a:endParaRPr lang="en-US" sz="950" dirty="0"/>
          </a:p>
        </p:txBody>
      </p:sp>
      <p:sp>
        <p:nvSpPr>
          <p:cNvPr id="26" name="Text 18"/>
          <p:cNvSpPr/>
          <p:nvPr/>
        </p:nvSpPr>
        <p:spPr>
          <a:xfrm>
            <a:off x="6288228" y="5234880"/>
            <a:ext cx="5213616" cy="347266"/>
          </a:xfrm>
          <a:prstGeom prst="rect">
            <a:avLst/>
          </a:prstGeom>
          <a:noFill/>
          <a:ln/>
        </p:spPr>
        <p:txBody>
          <a:bodyPr wrap="square" lIns="0" tIns="0" rIns="0" bIns="0" rtlCol="0" anchor="t">
            <a:normAutofit/>
          </a:bodyPr>
          <a:lstStyle/>
          <a:p>
            <a:pPr algn="l" indent="0" marL="0">
              <a:lnSpc>
                <a:spcPct val="117000"/>
              </a:lnSpc>
              <a:buNone/>
            </a:pPr>
            <a:r>
              <a:rPr lang="en-US" sz="950" spc="-20" kern="0" dirty="0">
                <a:solidFill>
                  <a:srgbClr val="272525"/>
                </a:solidFill>
                <a:latin typeface="Inter" pitchFamily="34" charset="0"/>
                <a:ea typeface="Inter" pitchFamily="34" charset="-122"/>
                <a:cs typeface="Inter" pitchFamily="34" charset="-120"/>
              </a:rPr>
              <a:t>Each hidden state carries context from all prior inputs — enabling the network to answer "what came before?" at every step.</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367135"/>
            <a:ext cx="10868745" cy="397966"/>
          </a:xfrm>
          <a:prstGeom prst="rect">
            <a:avLst/>
          </a:prstGeom>
          <a:noFill/>
          <a:ln/>
        </p:spPr>
        <p:txBody>
          <a:bodyPr wrap="none" lIns="0" tIns="0" rIns="0" bIns="0" rtlCol="0" anchor="t"/>
          <a:lstStyle/>
          <a:p>
            <a:pPr algn="l" indent="0" marL="0">
              <a:lnSpc>
                <a:spcPct val="104000"/>
              </a:lnSpc>
              <a:buNone/>
            </a:pPr>
            <a:r>
              <a:rPr lang="en-US" sz="2500" b="1" spc="-50" kern="0" dirty="0">
                <a:solidFill>
                  <a:srgbClr val="F95F88"/>
                </a:solidFill>
                <a:latin typeface="Petrona Bold" pitchFamily="34" charset="0"/>
                <a:ea typeface="Petrona Bold" pitchFamily="34" charset="-122"/>
                <a:cs typeface="Petrona Bold" pitchFamily="34" charset="-120"/>
              </a:rPr>
              <a:t>RNN Architecture &amp; Equations</a:t>
            </a:r>
            <a:endParaRPr lang="en-US" sz="2500" dirty="0"/>
          </a:p>
        </p:txBody>
      </p:sp>
      <p:sp>
        <p:nvSpPr>
          <p:cNvPr id="3" name="Text 1"/>
          <p:cNvSpPr/>
          <p:nvPr/>
        </p:nvSpPr>
        <p:spPr>
          <a:xfrm>
            <a:off x="661475" y="1927126"/>
            <a:ext cx="10868745" cy="314920"/>
          </a:xfrm>
          <a:prstGeom prst="rect">
            <a:avLst/>
          </a:prstGeom>
          <a:noFill/>
          <a:ln/>
        </p:spPr>
        <p:txBody>
          <a:bodyPr wrap="square" lIns="0" tIns="0" rIns="0" bIns="0" rtlCol="0" anchor="t">
            <a:normAutofit/>
          </a:bodyPr>
          <a:lstStyle/>
          <a:p>
            <a:pPr algn="l" indent="0" marL="0">
              <a:lnSpc>
                <a:spcPct val="113000"/>
              </a:lnSpc>
              <a:buNone/>
            </a:pPr>
            <a:r>
              <a:rPr lang="en-US" sz="900" spc="-18" kern="0" dirty="0">
                <a:solidFill>
                  <a:srgbClr val="272525"/>
                </a:solidFill>
                <a:latin typeface="Inter" pitchFamily="34" charset="0"/>
                <a:ea typeface="Inter" pitchFamily="34" charset="-122"/>
                <a:cs typeface="Inter" pitchFamily="34" charset="-120"/>
              </a:rPr>
              <a:t>At every time step, an RNN applies the same transformation to combine the current input with the accumulated memory from the past. Backpropagation Through Time (BPTT) unrolls this computation graph to compute gradients across all steps.</a:t>
            </a:r>
            <a:endParaRPr lang="en-US" sz="900" dirty="0"/>
          </a:p>
        </p:txBody>
      </p:sp>
      <p:sp>
        <p:nvSpPr>
          <p:cNvPr id="4" name="Text 2"/>
          <p:cNvSpPr/>
          <p:nvPr/>
        </p:nvSpPr>
        <p:spPr>
          <a:xfrm>
            <a:off x="661475" y="2414091"/>
            <a:ext cx="5293188" cy="198934"/>
          </a:xfrm>
          <a:prstGeom prst="rect">
            <a:avLst/>
          </a:prstGeom>
          <a:noFill/>
          <a:ln/>
        </p:spPr>
        <p:txBody>
          <a:bodyPr wrap="none" lIns="0" tIns="0" rIns="0" bIns="0" rtlCol="0" anchor="t"/>
          <a:lstStyle/>
          <a:p>
            <a:pPr algn="l" indent="0" marL="0">
              <a:lnSpc>
                <a:spcPct val="104000"/>
              </a:lnSpc>
              <a:buNone/>
            </a:pPr>
            <a:r>
              <a:rPr lang="en-US" sz="1250" b="1" spc="-25" kern="0" dirty="0">
                <a:solidFill>
                  <a:srgbClr val="F95F88"/>
                </a:solidFill>
                <a:latin typeface="Petrona Bold" pitchFamily="34" charset="0"/>
                <a:ea typeface="Petrona Bold" pitchFamily="34" charset="-122"/>
                <a:cs typeface="Petrona Bold" pitchFamily="34" charset="-120"/>
              </a:rPr>
              <a:t>Core Equations</a:t>
            </a:r>
            <a:endParaRPr lang="en-US" sz="1250" dirty="0"/>
          </a:p>
        </p:txBody>
      </p:sp>
      <p:sp>
        <p:nvSpPr>
          <p:cNvPr id="5" name="Shape 3"/>
          <p:cNvSpPr/>
          <p:nvPr/>
        </p:nvSpPr>
        <p:spPr>
          <a:xfrm>
            <a:off x="661475" y="2704108"/>
            <a:ext cx="2606114" cy="740866"/>
          </a:xfrm>
          <a:prstGeom prst="roundRect">
            <a:avLst>
              <a:gd name="adj" fmla="val 6563"/>
            </a:avLst>
          </a:prstGeom>
          <a:solidFill>
            <a:srgbClr val="E0D7F4"/>
          </a:solidFill>
          <a:ln w="6350">
            <a:solidFill>
              <a:srgbClr val="C6BDDA"/>
            </a:solidFill>
            <a:prstDash val="solid"/>
          </a:ln>
        </p:spPr>
      </p:sp>
      <p:sp>
        <p:nvSpPr>
          <p:cNvPr id="6" name="Text 4"/>
          <p:cNvSpPr/>
          <p:nvPr/>
        </p:nvSpPr>
        <p:spPr>
          <a:xfrm>
            <a:off x="783511" y="2826147"/>
            <a:ext cx="2362042" cy="198934"/>
          </a:xfrm>
          <a:prstGeom prst="rect">
            <a:avLst/>
          </a:prstGeom>
          <a:noFill/>
          <a:ln/>
        </p:spPr>
        <p:txBody>
          <a:bodyPr wrap="none" lIns="0" tIns="0" rIns="0" bIns="0" rtlCol="0" anchor="t"/>
          <a:lstStyle/>
          <a:p>
            <a:pPr algn="l" indent="0" marL="0">
              <a:lnSpc>
                <a:spcPct val="104000"/>
              </a:lnSpc>
              <a:buNone/>
            </a:pPr>
            <a:r>
              <a:rPr lang="en-US" sz="1250" b="1" spc="-25" kern="0" dirty="0">
                <a:solidFill>
                  <a:srgbClr val="272525"/>
                </a:solidFill>
                <a:latin typeface="Petrona Bold" pitchFamily="34" charset="0"/>
                <a:ea typeface="Petrona Bold" pitchFamily="34" charset="-122"/>
                <a:cs typeface="Petrona Bold" pitchFamily="34" charset="-120"/>
              </a:rPr>
              <a:t>Hidden State Update</a:t>
            </a:r>
            <a:endParaRPr lang="en-US" sz="1250" dirty="0"/>
          </a:p>
        </p:txBody>
      </p:sp>
      <p:pic>
        <p:nvPicPr>
          <p:cNvPr id="7" name="Image 0" descr="preencoded.png">    </p:cNvPr>
          <p:cNvPicPr>
            <a:picLocks noChangeAspect="1"/>
          </p:cNvPicPr>
          <p:nvPr/>
        </p:nvPicPr>
        <p:blipFill>
          <a:blip r:embed="rId1"/>
          <a:stretch>
            <a:fillRect/>
          </a:stretch>
        </p:blipFill>
        <p:spPr>
          <a:xfrm>
            <a:off x="783511" y="3127573"/>
            <a:ext cx="2362042" cy="195362"/>
          </a:xfrm>
          <a:prstGeom prst="rect">
            <a:avLst/>
          </a:prstGeom>
        </p:spPr>
      </p:pic>
      <p:sp>
        <p:nvSpPr>
          <p:cNvPr id="8" name="Shape 5"/>
          <p:cNvSpPr/>
          <p:nvPr/>
        </p:nvSpPr>
        <p:spPr>
          <a:xfrm>
            <a:off x="3348549" y="2704108"/>
            <a:ext cx="2606114" cy="740866"/>
          </a:xfrm>
          <a:prstGeom prst="roundRect">
            <a:avLst>
              <a:gd name="adj" fmla="val 6563"/>
            </a:avLst>
          </a:prstGeom>
          <a:solidFill>
            <a:srgbClr val="E0D7F4"/>
          </a:solidFill>
          <a:ln w="6350">
            <a:solidFill>
              <a:srgbClr val="C6BDDA"/>
            </a:solidFill>
            <a:prstDash val="solid"/>
          </a:ln>
        </p:spPr>
      </p:sp>
      <p:sp>
        <p:nvSpPr>
          <p:cNvPr id="9" name="Text 6"/>
          <p:cNvSpPr/>
          <p:nvPr/>
        </p:nvSpPr>
        <p:spPr>
          <a:xfrm>
            <a:off x="3470585" y="2826147"/>
            <a:ext cx="2362042" cy="198934"/>
          </a:xfrm>
          <a:prstGeom prst="rect">
            <a:avLst/>
          </a:prstGeom>
          <a:noFill/>
          <a:ln/>
        </p:spPr>
        <p:txBody>
          <a:bodyPr wrap="none" lIns="0" tIns="0" rIns="0" bIns="0" rtlCol="0" anchor="t"/>
          <a:lstStyle/>
          <a:p>
            <a:pPr algn="l" indent="0" marL="0">
              <a:lnSpc>
                <a:spcPct val="104000"/>
              </a:lnSpc>
              <a:buNone/>
            </a:pPr>
            <a:r>
              <a:rPr lang="en-US" sz="1250" b="1" spc="-25" kern="0" dirty="0">
                <a:solidFill>
                  <a:srgbClr val="272525"/>
                </a:solidFill>
                <a:latin typeface="Petrona Bold" pitchFamily="34" charset="0"/>
                <a:ea typeface="Petrona Bold" pitchFamily="34" charset="-122"/>
                <a:cs typeface="Petrona Bold" pitchFamily="34" charset="-120"/>
              </a:rPr>
              <a:t>Output Computation</a:t>
            </a:r>
            <a:endParaRPr lang="en-US" sz="1250" dirty="0"/>
          </a:p>
        </p:txBody>
      </p:sp>
      <p:pic>
        <p:nvPicPr>
          <p:cNvPr id="10" name="Image 1" descr="preencoded.png">    </p:cNvPr>
          <p:cNvPicPr>
            <a:picLocks noChangeAspect="1"/>
          </p:cNvPicPr>
          <p:nvPr/>
        </p:nvPicPr>
        <p:blipFill>
          <a:blip r:embed="rId2"/>
          <a:stretch>
            <a:fillRect/>
          </a:stretch>
        </p:blipFill>
        <p:spPr>
          <a:xfrm>
            <a:off x="3470585" y="3127573"/>
            <a:ext cx="2362042" cy="195362"/>
          </a:xfrm>
          <a:prstGeom prst="rect">
            <a:avLst/>
          </a:prstGeom>
        </p:spPr>
      </p:pic>
      <p:sp>
        <p:nvSpPr>
          <p:cNvPr id="11" name="Text 7"/>
          <p:cNvSpPr/>
          <p:nvPr/>
        </p:nvSpPr>
        <p:spPr>
          <a:xfrm>
            <a:off x="661475" y="3536057"/>
            <a:ext cx="5293188" cy="198934"/>
          </a:xfrm>
          <a:prstGeom prst="rect">
            <a:avLst/>
          </a:prstGeom>
          <a:noFill/>
          <a:ln/>
        </p:spPr>
        <p:txBody>
          <a:bodyPr wrap="none" lIns="0" tIns="0" rIns="0" bIns="0" rtlCol="0" anchor="t"/>
          <a:lstStyle/>
          <a:p>
            <a:pPr algn="l" indent="0" marL="0">
              <a:lnSpc>
                <a:spcPct val="104000"/>
              </a:lnSpc>
              <a:buNone/>
            </a:pPr>
            <a:r>
              <a:rPr lang="en-US" sz="1250" b="1" spc="-25" kern="0" dirty="0">
                <a:solidFill>
                  <a:srgbClr val="F95F88"/>
                </a:solidFill>
                <a:latin typeface="Petrona Bold" pitchFamily="34" charset="0"/>
                <a:ea typeface="Petrona Bold" pitchFamily="34" charset="-122"/>
                <a:cs typeface="Petrona Bold" pitchFamily="34" charset="-120"/>
              </a:rPr>
              <a:t>Weight Matrix Roles</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1475" y="3826073"/>
          <a:ext cx="9143771" cy="914400"/>
        </p:xfrm>
        <a:graphic>
          <a:graphicData uri="http://schemas.openxmlformats.org/drawingml/2006/table">
            <a:tbl>
              <a:tblPr/>
              <a:tblGrid>
                <a:gridCol w="2646594"/>
                <a:gridCol w="2646594"/>
              </a:tblGrid>
              <a:tr h="270563">
                <a:tc>
                  <a:txBody>
                    <a:bodyPr/>
                    <a:lstStyle/>
                    <a:p>
                      <a:pPr indent="0" marL="0">
                        <a:buNone/>
                      </a:pPr>
                      <a:r>
                        <a:rPr lang="en-US" sz="900" b="1" spc="-18" kern="0" dirty="0">
                          <a:solidFill>
                            <a:srgbClr val="272525"/>
                          </a:solidFill>
                          <a:latin typeface="Inter" pitchFamily="34" charset="0"/>
                          <a:ea typeface="Inter" pitchFamily="34" charset="-122"/>
                          <a:cs typeface="Inter" pitchFamily="34" charset="-120"/>
                        </a:rPr>
                        <a:t>Matrix</a:t>
                      </a:r>
                      <a:endParaRPr lang="en-US" sz="900" dirty="0">
                        <a:latin typeface="Inter" charset="0"/>
                        <a:ea typeface="Inter" charset="0"/>
                        <a:cs typeface="Inter" charset="0"/>
                      </a:endParaRPr>
                    </a:p>
                  </a:txBody>
                  <a:tcPr marL="115774" marR="11577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900" b="1" spc="-18" kern="0" dirty="0">
                          <a:solidFill>
                            <a:srgbClr val="272525"/>
                          </a:solidFill>
                          <a:latin typeface="Inter" pitchFamily="34" charset="0"/>
                          <a:ea typeface="Inter" pitchFamily="34" charset="-122"/>
                          <a:cs typeface="Inter" pitchFamily="34" charset="-120"/>
                        </a:rPr>
                        <a:t>Role</a:t>
                      </a:r>
                      <a:endParaRPr lang="en-US" sz="900" dirty="0">
                        <a:latin typeface="Inter" charset="0"/>
                        <a:ea typeface="Inter" charset="0"/>
                        <a:cs typeface="Inter" charset="0"/>
                      </a:endParaRPr>
                    </a:p>
                  </a:txBody>
                  <a:tcPr marL="115774" marR="11577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r h="431194">
                <a:tc>
                  <a:txBody>
                    <a:bodyPr/>
                    <a:lstStyle/>
                    <a:p>
                      <a:pPr indent="0" marL="0">
                        <a:buNone/>
                      </a:pPr>
                      <a:r>
                        <a:rPr lang="en-US" sz="900" b="1" spc="-18" kern="0" dirty="0">
                          <a:solidFill>
                            <a:srgbClr val="AC9EF5"/>
                          </a:solidFill>
                          <a:latin typeface="Inter" pitchFamily="34" charset="0"/>
                          <a:ea typeface="Inter" pitchFamily="34" charset="-122"/>
                          <a:cs typeface="Inter" pitchFamily="34" charset="-120"/>
                        </a:rPr>
                        <a:t>Wx</a:t>
                      </a:r>
                      <a:endParaRPr lang="en-US" sz="900" dirty="0">
                        <a:latin typeface="Inter" charset="0"/>
                        <a:ea typeface="Inter" charset="0"/>
                        <a:cs typeface="Inter" charset="0"/>
                      </a:endParaRPr>
                    </a:p>
                  </a:txBody>
                  <a:tcPr marL="115774" marR="11577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900" spc="-18" kern="0" dirty="0">
                          <a:solidFill>
                            <a:srgbClr val="272525"/>
                          </a:solidFill>
                          <a:latin typeface="Inter" pitchFamily="34" charset="0"/>
                          <a:ea typeface="Inter" pitchFamily="34" charset="-122"/>
                          <a:cs typeface="Inter" pitchFamily="34" charset="-120"/>
                        </a:rPr>
                        <a:t>Input-to-hidden: maps current input xt into hidden space</a:t>
                      </a:r>
                      <a:endParaRPr lang="en-US" sz="900" dirty="0">
                        <a:latin typeface="Inter" charset="0"/>
                        <a:ea typeface="Inter" charset="0"/>
                        <a:cs typeface="Inter" charset="0"/>
                      </a:endParaRPr>
                    </a:p>
                  </a:txBody>
                  <a:tcPr marL="115774" marR="11577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r h="431194">
                <a:tc>
                  <a:txBody>
                    <a:bodyPr/>
                    <a:lstStyle/>
                    <a:p>
                      <a:pPr indent="0" marL="0">
                        <a:buNone/>
                      </a:pPr>
                      <a:r>
                        <a:rPr lang="en-US" sz="900" b="1" spc="-18" kern="0" dirty="0">
                          <a:solidFill>
                            <a:srgbClr val="AC9EF5"/>
                          </a:solidFill>
                          <a:latin typeface="Inter" pitchFamily="34" charset="0"/>
                          <a:ea typeface="Inter" pitchFamily="34" charset="-122"/>
                          <a:cs typeface="Inter" pitchFamily="34" charset="-120"/>
                        </a:rPr>
                        <a:t>Wh</a:t>
                      </a:r>
                      <a:endParaRPr lang="en-US" sz="900" dirty="0">
                        <a:latin typeface="Inter" charset="0"/>
                        <a:ea typeface="Inter" charset="0"/>
                        <a:cs typeface="Inter" charset="0"/>
                      </a:endParaRPr>
                    </a:p>
                  </a:txBody>
                  <a:tcPr marL="115774" marR="11577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900" spc="-18" kern="0" dirty="0">
                          <a:solidFill>
                            <a:srgbClr val="272525"/>
                          </a:solidFill>
                          <a:latin typeface="Inter" pitchFamily="34" charset="0"/>
                          <a:ea typeface="Inter" pitchFamily="34" charset="-122"/>
                          <a:cs typeface="Inter" pitchFamily="34" charset="-120"/>
                        </a:rPr>
                        <a:t>Hidden-to-hidden: propagates memory from ht−1 to ht</a:t>
                      </a:r>
                      <a:endParaRPr lang="en-US" sz="900" dirty="0">
                        <a:latin typeface="Inter" charset="0"/>
                        <a:ea typeface="Inter" charset="0"/>
                        <a:cs typeface="Inter" charset="0"/>
                      </a:endParaRPr>
                    </a:p>
                  </a:txBody>
                  <a:tcPr marL="115774" marR="11577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r h="428019">
                <a:tc>
                  <a:txBody>
                    <a:bodyPr/>
                    <a:lstStyle/>
                    <a:p>
                      <a:pPr indent="0" marL="0">
                        <a:buNone/>
                      </a:pPr>
                      <a:r>
                        <a:rPr lang="en-US" sz="900" b="1" spc="-18" kern="0" dirty="0">
                          <a:solidFill>
                            <a:srgbClr val="AC9EF5"/>
                          </a:solidFill>
                          <a:latin typeface="Inter" pitchFamily="34" charset="0"/>
                          <a:ea typeface="Inter" pitchFamily="34" charset="-122"/>
                          <a:cs typeface="Inter" pitchFamily="34" charset="-120"/>
                        </a:rPr>
                        <a:t>Wy</a:t>
                      </a:r>
                      <a:endParaRPr lang="en-US" sz="900" dirty="0">
                        <a:latin typeface="Inter" charset="0"/>
                        <a:ea typeface="Inter" charset="0"/>
                        <a:cs typeface="Inter" charset="0"/>
                      </a:endParaRPr>
                    </a:p>
                  </a:txBody>
                  <a:tcPr marL="115774" marR="11577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900" spc="-18" kern="0" dirty="0">
                          <a:solidFill>
                            <a:srgbClr val="272525"/>
                          </a:solidFill>
                          <a:latin typeface="Inter" pitchFamily="34" charset="0"/>
                          <a:ea typeface="Inter" pitchFamily="34" charset="-122"/>
                          <a:cs typeface="Inter" pitchFamily="34" charset="-120"/>
                        </a:rPr>
                        <a:t>Hidden-to-output: maps hidden state to output prediction</a:t>
                      </a:r>
                      <a:endParaRPr lang="en-US" sz="900" dirty="0">
                        <a:latin typeface="Inter" charset="0"/>
                        <a:ea typeface="Inter" charset="0"/>
                        <a:cs typeface="Inter" charset="0"/>
                      </a:endParaRPr>
                    </a:p>
                  </a:txBody>
                  <a:tcPr marL="115774" marR="11577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bl>
          </a:graphicData>
        </a:graphic>
      </p:graphicFrame>
      <p:sp>
        <p:nvSpPr>
          <p:cNvPr id="13" name="Text 8"/>
          <p:cNvSpPr/>
          <p:nvPr/>
        </p:nvSpPr>
        <p:spPr>
          <a:xfrm>
            <a:off x="6243382" y="2414091"/>
            <a:ext cx="5293188" cy="198934"/>
          </a:xfrm>
          <a:prstGeom prst="rect">
            <a:avLst/>
          </a:prstGeom>
          <a:noFill/>
          <a:ln/>
        </p:spPr>
        <p:txBody>
          <a:bodyPr wrap="none" lIns="0" tIns="0" rIns="0" bIns="0" rtlCol="0" anchor="t"/>
          <a:lstStyle/>
          <a:p>
            <a:pPr algn="l" indent="0" marL="0">
              <a:lnSpc>
                <a:spcPct val="104000"/>
              </a:lnSpc>
              <a:buNone/>
            </a:pPr>
            <a:r>
              <a:rPr lang="en-US" sz="1250" b="1" spc="-25" kern="0" dirty="0">
                <a:solidFill>
                  <a:srgbClr val="F95F88"/>
                </a:solidFill>
                <a:latin typeface="Petrona Bold" pitchFamily="34" charset="0"/>
                <a:ea typeface="Petrona Bold" pitchFamily="34" charset="-122"/>
                <a:cs typeface="Petrona Bold" pitchFamily="34" charset="-120"/>
              </a:rPr>
              <a:t>Backpropagation Through Time (BPTT)</a:t>
            </a:r>
            <a:endParaRPr lang="en-US" sz="1250" dirty="0"/>
          </a:p>
        </p:txBody>
      </p:sp>
      <p:sp>
        <p:nvSpPr>
          <p:cNvPr id="14" name="Text 9"/>
          <p:cNvSpPr/>
          <p:nvPr/>
        </p:nvSpPr>
        <p:spPr>
          <a:xfrm>
            <a:off x="6278058" y="2714923"/>
            <a:ext cx="190991" cy="238720"/>
          </a:xfrm>
          <a:prstGeom prst="rect">
            <a:avLst/>
          </a:prstGeom>
          <a:noFill/>
          <a:ln/>
        </p:spPr>
        <p:txBody>
          <a:bodyPr wrap="none" lIns="0" tIns="0" rIns="0" bIns="0" rtlCol="0" anchor="ctr"/>
          <a:lstStyle/>
          <a:p>
            <a:pPr algn="ctr" indent="0" marL="0">
              <a:lnSpc>
                <a:spcPct val="100000"/>
              </a:lnSpc>
              <a:buNone/>
            </a:pPr>
            <a:r>
              <a:rPr lang="en-US" sz="1500" b="1" spc="-30" kern="0" dirty="0">
                <a:solidFill>
                  <a:srgbClr val="6237C8"/>
                </a:solidFill>
                <a:latin typeface="Petrona Bold" pitchFamily="34" charset="0"/>
                <a:ea typeface="Petrona Bold" pitchFamily="34" charset="-122"/>
                <a:cs typeface="Petrona Bold" pitchFamily="34" charset="-120"/>
              </a:rPr>
              <a:t>1</a:t>
            </a:r>
            <a:endParaRPr lang="en-US" sz="1500" dirty="0"/>
          </a:p>
        </p:txBody>
      </p:sp>
      <p:sp>
        <p:nvSpPr>
          <p:cNvPr id="15" name="Text 10"/>
          <p:cNvSpPr/>
          <p:nvPr/>
        </p:nvSpPr>
        <p:spPr>
          <a:xfrm>
            <a:off x="6584785" y="2743895"/>
            <a:ext cx="4951785" cy="198934"/>
          </a:xfrm>
          <a:prstGeom prst="rect">
            <a:avLst/>
          </a:prstGeom>
          <a:noFill/>
          <a:ln/>
        </p:spPr>
        <p:txBody>
          <a:bodyPr wrap="none" lIns="0" tIns="0" rIns="0" bIns="0" rtlCol="0" anchor="t"/>
          <a:lstStyle/>
          <a:p>
            <a:pPr algn="l" indent="0" marL="0">
              <a:lnSpc>
                <a:spcPct val="104000"/>
              </a:lnSpc>
              <a:buNone/>
            </a:pPr>
            <a:r>
              <a:rPr lang="en-US" sz="1250" b="1" spc="-25" kern="0" dirty="0">
                <a:solidFill>
                  <a:srgbClr val="272525"/>
                </a:solidFill>
                <a:latin typeface="Petrona Bold" pitchFamily="34" charset="0"/>
                <a:ea typeface="Petrona Bold" pitchFamily="34" charset="-122"/>
                <a:cs typeface="Petrona Bold" pitchFamily="34" charset="-120"/>
              </a:rPr>
              <a:t>Unroll the network</a:t>
            </a:r>
            <a:endParaRPr lang="en-US" sz="1250" dirty="0"/>
          </a:p>
        </p:txBody>
      </p:sp>
      <p:sp>
        <p:nvSpPr>
          <p:cNvPr id="16" name="Text 11"/>
          <p:cNvSpPr/>
          <p:nvPr/>
        </p:nvSpPr>
        <p:spPr>
          <a:xfrm>
            <a:off x="6584785" y="3023791"/>
            <a:ext cx="4951785" cy="157460"/>
          </a:xfrm>
          <a:prstGeom prst="rect">
            <a:avLst/>
          </a:prstGeom>
          <a:noFill/>
          <a:ln/>
        </p:spPr>
        <p:txBody>
          <a:bodyPr wrap="none" lIns="0" tIns="0" rIns="0" bIns="0" rtlCol="0" anchor="t"/>
          <a:lstStyle/>
          <a:p>
            <a:pPr algn="l" indent="0" marL="0">
              <a:lnSpc>
                <a:spcPct val="113000"/>
              </a:lnSpc>
              <a:buNone/>
            </a:pPr>
            <a:r>
              <a:rPr lang="en-US" sz="900" spc="-18" kern="0" dirty="0">
                <a:solidFill>
                  <a:srgbClr val="272525"/>
                </a:solidFill>
                <a:latin typeface="Inter" pitchFamily="34" charset="0"/>
                <a:ea typeface="Inter" pitchFamily="34" charset="-122"/>
                <a:cs typeface="Inter" pitchFamily="34" charset="-120"/>
              </a:rPr>
              <a:t>Expand the recurrent graph across all T time steps into a feedforward computation DAG.</a:t>
            </a:r>
            <a:endParaRPr lang="en-US" sz="900" dirty="0"/>
          </a:p>
        </p:txBody>
      </p:sp>
      <p:sp>
        <p:nvSpPr>
          <p:cNvPr id="17" name="Text 12"/>
          <p:cNvSpPr/>
          <p:nvPr/>
        </p:nvSpPr>
        <p:spPr>
          <a:xfrm>
            <a:off x="6278058" y="3354090"/>
            <a:ext cx="190991" cy="238720"/>
          </a:xfrm>
          <a:prstGeom prst="rect">
            <a:avLst/>
          </a:prstGeom>
          <a:noFill/>
          <a:ln/>
        </p:spPr>
        <p:txBody>
          <a:bodyPr wrap="none" lIns="0" tIns="0" rIns="0" bIns="0" rtlCol="0" anchor="ctr"/>
          <a:lstStyle/>
          <a:p>
            <a:pPr algn="ctr" indent="0" marL="0">
              <a:lnSpc>
                <a:spcPct val="100000"/>
              </a:lnSpc>
              <a:buNone/>
            </a:pPr>
            <a:r>
              <a:rPr lang="en-US" sz="1500" b="1" spc="-30" kern="0" dirty="0">
                <a:solidFill>
                  <a:srgbClr val="6237C8"/>
                </a:solidFill>
                <a:latin typeface="Petrona Bold" pitchFamily="34" charset="0"/>
                <a:ea typeface="Petrona Bold" pitchFamily="34" charset="-122"/>
                <a:cs typeface="Petrona Bold" pitchFamily="34" charset="-120"/>
              </a:rPr>
              <a:t>2</a:t>
            </a:r>
            <a:endParaRPr lang="en-US" sz="1500" dirty="0"/>
          </a:p>
        </p:txBody>
      </p:sp>
      <p:sp>
        <p:nvSpPr>
          <p:cNvPr id="18" name="Text 13"/>
          <p:cNvSpPr/>
          <p:nvPr/>
        </p:nvSpPr>
        <p:spPr>
          <a:xfrm>
            <a:off x="6584785" y="3383062"/>
            <a:ext cx="4951785" cy="198934"/>
          </a:xfrm>
          <a:prstGeom prst="rect">
            <a:avLst/>
          </a:prstGeom>
          <a:noFill/>
          <a:ln/>
        </p:spPr>
        <p:txBody>
          <a:bodyPr wrap="none" lIns="0" tIns="0" rIns="0" bIns="0" rtlCol="0" anchor="t"/>
          <a:lstStyle/>
          <a:p>
            <a:pPr algn="l" indent="0" marL="0">
              <a:lnSpc>
                <a:spcPct val="104000"/>
              </a:lnSpc>
              <a:buNone/>
            </a:pPr>
            <a:r>
              <a:rPr lang="en-US" sz="1250" b="1" spc="-25" kern="0" dirty="0">
                <a:solidFill>
                  <a:srgbClr val="272525"/>
                </a:solidFill>
                <a:latin typeface="Petrona Bold" pitchFamily="34" charset="0"/>
                <a:ea typeface="Petrona Bold" pitchFamily="34" charset="-122"/>
                <a:cs typeface="Petrona Bold" pitchFamily="34" charset="-120"/>
              </a:rPr>
              <a:t>Compute loss</a:t>
            </a:r>
            <a:endParaRPr lang="en-US" sz="1250" dirty="0"/>
          </a:p>
        </p:txBody>
      </p:sp>
      <p:sp>
        <p:nvSpPr>
          <p:cNvPr id="19" name="Text 14"/>
          <p:cNvSpPr/>
          <p:nvPr/>
        </p:nvSpPr>
        <p:spPr>
          <a:xfrm>
            <a:off x="6584785" y="3662958"/>
            <a:ext cx="4951785" cy="157460"/>
          </a:xfrm>
          <a:prstGeom prst="rect">
            <a:avLst/>
          </a:prstGeom>
          <a:noFill/>
          <a:ln/>
        </p:spPr>
        <p:txBody>
          <a:bodyPr wrap="none" lIns="0" tIns="0" rIns="0" bIns="0" rtlCol="0" anchor="t"/>
          <a:lstStyle/>
          <a:p>
            <a:pPr algn="l" indent="0" marL="0">
              <a:lnSpc>
                <a:spcPct val="113000"/>
              </a:lnSpc>
              <a:buNone/>
            </a:pPr>
            <a:r>
              <a:rPr lang="en-US" sz="900" spc="-18" kern="0" dirty="0">
                <a:solidFill>
                  <a:srgbClr val="272525"/>
                </a:solidFill>
                <a:latin typeface="Inter" pitchFamily="34" charset="0"/>
                <a:ea typeface="Inter" pitchFamily="34" charset="-122"/>
                <a:cs typeface="Inter" pitchFamily="34" charset="-120"/>
              </a:rPr>
              <a:t>Calculate loss at each output yt; total loss is the sum over all time steps.</a:t>
            </a:r>
            <a:endParaRPr lang="en-US" sz="900" dirty="0"/>
          </a:p>
        </p:txBody>
      </p:sp>
      <p:sp>
        <p:nvSpPr>
          <p:cNvPr id="20" name="Text 15"/>
          <p:cNvSpPr/>
          <p:nvPr/>
        </p:nvSpPr>
        <p:spPr>
          <a:xfrm>
            <a:off x="6278058" y="3993257"/>
            <a:ext cx="190991" cy="238720"/>
          </a:xfrm>
          <a:prstGeom prst="rect">
            <a:avLst/>
          </a:prstGeom>
          <a:noFill/>
          <a:ln/>
        </p:spPr>
        <p:txBody>
          <a:bodyPr wrap="none" lIns="0" tIns="0" rIns="0" bIns="0" rtlCol="0" anchor="ctr"/>
          <a:lstStyle/>
          <a:p>
            <a:pPr algn="ctr" indent="0" marL="0">
              <a:lnSpc>
                <a:spcPct val="100000"/>
              </a:lnSpc>
              <a:buNone/>
            </a:pPr>
            <a:r>
              <a:rPr lang="en-US" sz="1500" b="1" spc="-30" kern="0" dirty="0">
                <a:solidFill>
                  <a:srgbClr val="6237C8"/>
                </a:solidFill>
                <a:latin typeface="Petrona Bold" pitchFamily="34" charset="0"/>
                <a:ea typeface="Petrona Bold" pitchFamily="34" charset="-122"/>
                <a:cs typeface="Petrona Bold" pitchFamily="34" charset="-120"/>
              </a:rPr>
              <a:t>3</a:t>
            </a:r>
            <a:endParaRPr lang="en-US" sz="1500" dirty="0"/>
          </a:p>
        </p:txBody>
      </p:sp>
      <p:sp>
        <p:nvSpPr>
          <p:cNvPr id="21" name="Text 16"/>
          <p:cNvSpPr/>
          <p:nvPr/>
        </p:nvSpPr>
        <p:spPr>
          <a:xfrm>
            <a:off x="6584785" y="4022229"/>
            <a:ext cx="4951785" cy="198934"/>
          </a:xfrm>
          <a:prstGeom prst="rect">
            <a:avLst/>
          </a:prstGeom>
          <a:noFill/>
          <a:ln/>
        </p:spPr>
        <p:txBody>
          <a:bodyPr wrap="none" lIns="0" tIns="0" rIns="0" bIns="0" rtlCol="0" anchor="t"/>
          <a:lstStyle/>
          <a:p>
            <a:pPr algn="l" indent="0" marL="0">
              <a:lnSpc>
                <a:spcPct val="104000"/>
              </a:lnSpc>
              <a:buNone/>
            </a:pPr>
            <a:r>
              <a:rPr lang="en-US" sz="1250" b="1" spc="-25" kern="0" dirty="0">
                <a:solidFill>
                  <a:srgbClr val="272525"/>
                </a:solidFill>
                <a:latin typeface="Petrona Bold" pitchFamily="34" charset="0"/>
                <a:ea typeface="Petrona Bold" pitchFamily="34" charset="-122"/>
                <a:cs typeface="Petrona Bold" pitchFamily="34" charset="-120"/>
              </a:rPr>
              <a:t>Backpropagate</a:t>
            </a:r>
            <a:endParaRPr lang="en-US" sz="1250" dirty="0"/>
          </a:p>
        </p:txBody>
      </p:sp>
      <p:sp>
        <p:nvSpPr>
          <p:cNvPr id="22" name="Text 17"/>
          <p:cNvSpPr/>
          <p:nvPr/>
        </p:nvSpPr>
        <p:spPr>
          <a:xfrm>
            <a:off x="6584785" y="4302125"/>
            <a:ext cx="4951785" cy="314920"/>
          </a:xfrm>
          <a:prstGeom prst="rect">
            <a:avLst/>
          </a:prstGeom>
          <a:noFill/>
          <a:ln/>
        </p:spPr>
        <p:txBody>
          <a:bodyPr wrap="square" lIns="0" tIns="0" rIns="0" bIns="0" rtlCol="0" anchor="t">
            <a:normAutofit/>
          </a:bodyPr>
          <a:lstStyle/>
          <a:p>
            <a:pPr algn="l" indent="0" marL="0">
              <a:lnSpc>
                <a:spcPct val="113000"/>
              </a:lnSpc>
              <a:buNone/>
            </a:pPr>
            <a:r>
              <a:rPr lang="en-US" sz="900" spc="-18" kern="0" dirty="0">
                <a:solidFill>
                  <a:srgbClr val="272525"/>
                </a:solidFill>
                <a:latin typeface="Inter" pitchFamily="34" charset="0"/>
                <a:ea typeface="Inter" pitchFamily="34" charset="-122"/>
                <a:cs typeface="Inter" pitchFamily="34" charset="-120"/>
              </a:rPr>
              <a:t>Gradients flow backward through time — through every unrolled step — to update Wx, Wh, Wy.</a:t>
            </a:r>
            <a:endParaRPr lang="en-US" sz="900" dirty="0"/>
          </a:p>
        </p:txBody>
      </p:sp>
      <p:sp>
        <p:nvSpPr>
          <p:cNvPr id="23" name="Shape 18"/>
          <p:cNvSpPr/>
          <p:nvPr/>
        </p:nvSpPr>
        <p:spPr>
          <a:xfrm>
            <a:off x="6243382" y="4708128"/>
            <a:ext cx="5293188" cy="518517"/>
          </a:xfrm>
          <a:prstGeom prst="roundRect">
            <a:avLst>
              <a:gd name="adj" fmla="val 9378"/>
            </a:avLst>
          </a:prstGeom>
          <a:solidFill>
            <a:srgbClr val="E0D7F4"/>
          </a:solidFill>
          <a:ln/>
        </p:spPr>
      </p:sp>
      <p:pic>
        <p:nvPicPr>
          <p:cNvPr id="24" name="Image 2" descr="preencoded.png">    </p:cNvPr>
          <p:cNvPicPr>
            <a:picLocks noChangeAspect="1"/>
          </p:cNvPicPr>
          <p:nvPr/>
        </p:nvPicPr>
        <p:blipFill>
          <a:blip r:embed="rId3"/>
          <a:stretch>
            <a:fillRect/>
          </a:stretch>
        </p:blipFill>
        <p:spPr>
          <a:xfrm>
            <a:off x="6359068" y="4837311"/>
            <a:ext cx="144657" cy="115689"/>
          </a:xfrm>
          <a:prstGeom prst="rect">
            <a:avLst/>
          </a:prstGeom>
        </p:spPr>
      </p:pic>
      <p:sp>
        <p:nvSpPr>
          <p:cNvPr id="25" name="Text 19"/>
          <p:cNvSpPr/>
          <p:nvPr/>
        </p:nvSpPr>
        <p:spPr>
          <a:xfrm>
            <a:off x="6619412" y="4809927"/>
            <a:ext cx="4801472" cy="314920"/>
          </a:xfrm>
          <a:prstGeom prst="rect">
            <a:avLst/>
          </a:prstGeom>
          <a:noFill/>
          <a:ln/>
        </p:spPr>
        <p:txBody>
          <a:bodyPr wrap="square" lIns="0" tIns="0" rIns="0" bIns="0" rtlCol="0" anchor="t">
            <a:normAutofit/>
          </a:bodyPr>
          <a:lstStyle/>
          <a:p>
            <a:pPr algn="l" indent="0" marL="0">
              <a:lnSpc>
                <a:spcPct val="113000"/>
              </a:lnSpc>
              <a:buNone/>
            </a:pPr>
            <a:r>
              <a:rPr lang="en-US" sz="900" spc="-18" kern="0" dirty="0">
                <a:solidFill>
                  <a:srgbClr val="000000"/>
                </a:solidFill>
                <a:latin typeface="Inter" pitchFamily="34" charset="0"/>
                <a:ea typeface="Inter" pitchFamily="34" charset="-122"/>
                <a:cs typeface="Inter" pitchFamily="34" charset="-120"/>
              </a:rPr>
              <a:t>The </a:t>
            </a:r>
            <a:pPr algn="l" indent="0" marL="0">
              <a:lnSpc>
                <a:spcPct val="113000"/>
              </a:lnSpc>
              <a:buNone/>
            </a:pPr>
            <a:r>
              <a:rPr lang="en-US" sz="900" b="1" spc="-18" kern="0" dirty="0">
                <a:solidFill>
                  <a:srgbClr val="000000"/>
                </a:solidFill>
                <a:latin typeface="Inter Bold" pitchFamily="34" charset="0"/>
                <a:ea typeface="Inter Bold" pitchFamily="34" charset="-122"/>
                <a:cs typeface="Inter Bold" pitchFamily="34" charset="-120"/>
              </a:rPr>
              <a:t>tanh</a:t>
            </a:r>
            <a:pPr algn="l" indent="0" marL="0">
              <a:lnSpc>
                <a:spcPct val="113000"/>
              </a:lnSpc>
              <a:buNone/>
            </a:pPr>
            <a:r>
              <a:rPr lang="en-US" sz="900" spc="-18" kern="0" dirty="0">
                <a:solidFill>
                  <a:srgbClr val="000000"/>
                </a:solidFill>
                <a:latin typeface="Inter" pitchFamily="34" charset="0"/>
                <a:ea typeface="Inter" pitchFamily="34" charset="-122"/>
                <a:cs typeface="Inter" pitchFamily="34" charset="-120"/>
              </a:rPr>
              <a:t> activation squashes hidden state values to [−1, 1], providing non-linearity and a bounded memory signal at each step.</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620341"/>
            <a:ext cx="10868745" cy="369590"/>
          </a:xfrm>
          <a:prstGeom prst="rect">
            <a:avLst/>
          </a:prstGeom>
          <a:noFill/>
          <a:ln/>
        </p:spPr>
        <p:txBody>
          <a:bodyPr wrap="none" lIns="0" tIns="0" rIns="0" bIns="0" rtlCol="0" anchor="t"/>
          <a:lstStyle/>
          <a:p>
            <a:pPr algn="l" indent="0" marL="0">
              <a:lnSpc>
                <a:spcPct val="104000"/>
              </a:lnSpc>
              <a:buNone/>
            </a:pPr>
            <a:r>
              <a:rPr lang="en-US" sz="2300" b="1" spc="-47" kern="0" dirty="0">
                <a:solidFill>
                  <a:srgbClr val="F95F88"/>
                </a:solidFill>
                <a:latin typeface="Petrona Bold" pitchFamily="34" charset="0"/>
                <a:ea typeface="Petrona Bold" pitchFamily="34" charset="-122"/>
                <a:cs typeface="Petrona Bold" pitchFamily="34" charset="-120"/>
              </a:rPr>
              <a:t>Problems with Basic RNNs</a:t>
            </a:r>
            <a:endParaRPr lang="en-US" sz="2300" dirty="0"/>
          </a:p>
        </p:txBody>
      </p:sp>
      <p:sp>
        <p:nvSpPr>
          <p:cNvPr id="3" name="Text 1"/>
          <p:cNvSpPr/>
          <p:nvPr/>
        </p:nvSpPr>
        <p:spPr>
          <a:xfrm>
            <a:off x="661475" y="2129631"/>
            <a:ext cx="11478330" cy="141883"/>
          </a:xfrm>
          <a:prstGeom prst="rect">
            <a:avLst/>
          </a:prstGeom>
          <a:noFill/>
          <a:ln/>
        </p:spPr>
        <p:txBody>
          <a:bodyPr wrap="none" lIns="0" tIns="0" rIns="0" bIns="0" rtlCol="0" anchor="t"/>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Basic RNNs suffer from fundamental training instabilities that severely limit their practical utility on long sequences. These are not implementation bugs — they are structural properties of the architecture itself.</a:t>
            </a:r>
            <a:endParaRPr lang="en-US" sz="800" dirty="0"/>
          </a:p>
        </p:txBody>
      </p:sp>
      <p:sp>
        <p:nvSpPr>
          <p:cNvPr id="4" name="Text 2"/>
          <p:cNvSpPr/>
          <p:nvPr/>
        </p:nvSpPr>
        <p:spPr>
          <a:xfrm>
            <a:off x="661475" y="2419945"/>
            <a:ext cx="5303308"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F95F88"/>
                </a:solidFill>
                <a:latin typeface="Petrona Bold" pitchFamily="34" charset="0"/>
                <a:ea typeface="Petrona Bold" pitchFamily="34" charset="-122"/>
                <a:cs typeface="Petrona Bold" pitchFamily="34" charset="-120"/>
              </a:rPr>
              <a:t>Core Failure Modes</a:t>
            </a:r>
            <a:endParaRPr lang="en-US" sz="1150" dirty="0"/>
          </a:p>
        </p:txBody>
      </p:sp>
      <p:pic>
        <p:nvPicPr>
          <p:cNvPr id="5"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83272"/>
            <a:ext cx="5303308" cy="778669"/>
          </a:xfrm>
          <a:prstGeom prst="rect">
            <a:avLst/>
          </a:prstGeom>
        </p:spPr>
      </p:pic>
      <p:sp>
        <p:nvSpPr>
          <p:cNvPr id="6" name="Text 3"/>
          <p:cNvSpPr/>
          <p:nvPr/>
        </p:nvSpPr>
        <p:spPr>
          <a:xfrm>
            <a:off x="832424" y="2803426"/>
            <a:ext cx="5012207"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Vanishing Gradient</a:t>
            </a:r>
            <a:endParaRPr lang="en-US" sz="1150" dirty="0"/>
          </a:p>
        </p:txBody>
      </p:sp>
      <p:sp>
        <p:nvSpPr>
          <p:cNvPr id="7" name="Text 4"/>
          <p:cNvSpPr/>
          <p:nvPr/>
        </p:nvSpPr>
        <p:spPr>
          <a:xfrm>
            <a:off x="832424" y="3058021"/>
            <a:ext cx="5012207"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During BPTT, gradients are multiplied by Wh at every step. When |Wh| &lt; 1, gradients shrink </a:t>
            </a:r>
            <a:pPr algn="l" indent="0" marL="0">
              <a:lnSpc>
                <a:spcPct val="110000"/>
              </a:lnSpc>
              <a:buNone/>
            </a:pPr>
            <a:r>
              <a:rPr lang="en-US" sz="800" b="1" spc="-17" kern="0" dirty="0">
                <a:solidFill>
                  <a:srgbClr val="272525"/>
                </a:solidFill>
                <a:latin typeface="Inter Bold" pitchFamily="34" charset="0"/>
                <a:ea typeface="Inter Bold" pitchFamily="34" charset="-122"/>
                <a:cs typeface="Inter Bold" pitchFamily="34" charset="-120"/>
              </a:rPr>
              <a:t>exponentially</a:t>
            </a:r>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 toward zero — the network forgets dependencies beyond 10–20 time steps.</a:t>
            </a:r>
            <a:endParaRPr lang="en-US" sz="800" dirty="0"/>
          </a:p>
        </p:txBody>
      </p:sp>
      <p:pic>
        <p:nvPicPr>
          <p:cNvPr id="8"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3531791"/>
            <a:ext cx="5303308" cy="778669"/>
          </a:xfrm>
          <a:prstGeom prst="rect">
            <a:avLst/>
          </a:prstGeom>
        </p:spPr>
      </p:pic>
      <p:sp>
        <p:nvSpPr>
          <p:cNvPr id="9" name="Text 5"/>
          <p:cNvSpPr/>
          <p:nvPr/>
        </p:nvSpPr>
        <p:spPr>
          <a:xfrm>
            <a:off x="832424" y="3651945"/>
            <a:ext cx="5012207"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Exploding Gradient</a:t>
            </a:r>
            <a:endParaRPr lang="en-US" sz="1150" dirty="0"/>
          </a:p>
        </p:txBody>
      </p:sp>
      <p:sp>
        <p:nvSpPr>
          <p:cNvPr id="10" name="Text 6"/>
          <p:cNvSpPr/>
          <p:nvPr/>
        </p:nvSpPr>
        <p:spPr>
          <a:xfrm>
            <a:off x="832424" y="3906540"/>
            <a:ext cx="5012207"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When |Wh| &gt; 1, gradients grow </a:t>
            </a:r>
            <a:pPr algn="l" indent="0" marL="0">
              <a:lnSpc>
                <a:spcPct val="110000"/>
              </a:lnSpc>
              <a:buNone/>
            </a:pPr>
            <a:r>
              <a:rPr lang="en-US" sz="800" b="1" spc="-17" kern="0" dirty="0">
                <a:solidFill>
                  <a:srgbClr val="272525"/>
                </a:solidFill>
                <a:latin typeface="Inter Bold" pitchFamily="34" charset="0"/>
                <a:ea typeface="Inter Bold" pitchFamily="34" charset="-122"/>
                <a:cs typeface="Inter Bold" pitchFamily="34" charset="-120"/>
              </a:rPr>
              <a:t>exponentially</a:t>
            </a:r>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 — training diverges. Mitigated practically by </a:t>
            </a:r>
            <a:pPr algn="l" indent="0" marL="0">
              <a:lnSpc>
                <a:spcPct val="110000"/>
              </a:lnSpc>
              <a:buNone/>
            </a:pPr>
            <a:r>
              <a:rPr lang="en-US" sz="800" b="1" spc="-17" kern="0" dirty="0">
                <a:solidFill>
                  <a:srgbClr val="272525"/>
                </a:solidFill>
                <a:latin typeface="Inter Bold" pitchFamily="34" charset="0"/>
                <a:ea typeface="Inter Bold" pitchFamily="34" charset="-122"/>
                <a:cs typeface="Inter Bold" pitchFamily="34" charset="-120"/>
              </a:rPr>
              <a:t>gradient clipping</a:t>
            </a:r>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 (cap gradient norm at a threshold).</a:t>
            </a:r>
            <a:endParaRPr lang="en-US" sz="80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380309"/>
            <a:ext cx="5303308" cy="778669"/>
          </a:xfrm>
          <a:prstGeom prst="rect">
            <a:avLst/>
          </a:prstGeom>
        </p:spPr>
      </p:pic>
      <p:sp>
        <p:nvSpPr>
          <p:cNvPr id="12" name="Text 7"/>
          <p:cNvSpPr/>
          <p:nvPr/>
        </p:nvSpPr>
        <p:spPr>
          <a:xfrm>
            <a:off x="832424" y="4500463"/>
            <a:ext cx="5012207"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Sequential Computation</a:t>
            </a:r>
            <a:endParaRPr lang="en-US" sz="1150" dirty="0"/>
          </a:p>
        </p:txBody>
      </p:sp>
      <p:sp>
        <p:nvSpPr>
          <p:cNvPr id="13" name="Text 8"/>
          <p:cNvSpPr/>
          <p:nvPr/>
        </p:nvSpPr>
        <p:spPr>
          <a:xfrm>
            <a:off x="832424" y="4755059"/>
            <a:ext cx="5012207"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Each time step depends on the previous — </a:t>
            </a:r>
            <a:pPr algn="l" indent="0" marL="0">
              <a:lnSpc>
                <a:spcPct val="110000"/>
              </a:lnSpc>
              <a:buNone/>
            </a:pPr>
            <a:r>
              <a:rPr lang="en-US" sz="800" b="1" spc="-17" kern="0" dirty="0">
                <a:solidFill>
                  <a:srgbClr val="272525"/>
                </a:solidFill>
                <a:latin typeface="Inter Bold" pitchFamily="34" charset="0"/>
                <a:ea typeface="Inter Bold" pitchFamily="34" charset="-122"/>
                <a:cs typeface="Inter Bold" pitchFamily="34" charset="-120"/>
              </a:rPr>
              <a:t>no parallelization across time</a:t>
            </a:r>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 Training on long sequences is inherently slow compared to CNNs or Transformers.</a:t>
            </a:r>
            <a:endParaRPr lang="en-US" sz="800" dirty="0"/>
          </a:p>
        </p:txBody>
      </p:sp>
      <p:sp>
        <p:nvSpPr>
          <p:cNvPr id="14" name="Shape 9"/>
          <p:cNvSpPr/>
          <p:nvPr/>
        </p:nvSpPr>
        <p:spPr>
          <a:xfrm>
            <a:off x="6155873" y="2350095"/>
            <a:ext cx="5458085" cy="2887464"/>
          </a:xfrm>
          <a:prstGeom prst="roundRect">
            <a:avLst>
              <a:gd name="adj" fmla="val 2681"/>
            </a:avLst>
          </a:prstGeom>
          <a:solidFill>
            <a:srgbClr val="AC9EF5"/>
          </a:solidFill>
          <a:ln/>
        </p:spPr>
      </p:sp>
      <p:sp>
        <p:nvSpPr>
          <p:cNvPr id="15" name="Text 10"/>
          <p:cNvSpPr/>
          <p:nvPr/>
        </p:nvSpPr>
        <p:spPr>
          <a:xfrm>
            <a:off x="6263325" y="2419945"/>
            <a:ext cx="5243183"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000000"/>
                </a:solidFill>
                <a:latin typeface="Petrona Bold" pitchFamily="34" charset="0"/>
                <a:ea typeface="Petrona Bold" pitchFamily="34" charset="-122"/>
                <a:cs typeface="Petrona Bold" pitchFamily="34" charset="-120"/>
              </a:rPr>
              <a:t>Solutions: Gated Architectures</a:t>
            </a:r>
            <a:endParaRPr lang="en-US" sz="1150" dirty="0"/>
          </a:p>
        </p:txBody>
      </p:sp>
      <p:sp>
        <p:nvSpPr>
          <p:cNvPr id="16" name="Shape 11"/>
          <p:cNvSpPr/>
          <p:nvPr/>
        </p:nvSpPr>
        <p:spPr>
          <a:xfrm>
            <a:off x="6263325" y="2683272"/>
            <a:ext cx="2586667" cy="1649809"/>
          </a:xfrm>
          <a:prstGeom prst="roundRect">
            <a:avLst>
              <a:gd name="adj" fmla="val 2737"/>
            </a:avLst>
          </a:prstGeom>
          <a:solidFill>
            <a:srgbClr val="E0D7F4"/>
          </a:solidFill>
          <a:ln w="6350">
            <a:solidFill>
              <a:srgbClr val="C6BDDA"/>
            </a:solidFill>
            <a:prstDash val="solid"/>
          </a:ln>
        </p:spPr>
      </p:sp>
      <p:sp>
        <p:nvSpPr>
          <p:cNvPr id="17" name="Text 12"/>
          <p:cNvSpPr/>
          <p:nvPr/>
        </p:nvSpPr>
        <p:spPr>
          <a:xfrm>
            <a:off x="6377126" y="2797076"/>
            <a:ext cx="2359065"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LSTM</a:t>
            </a:r>
            <a:endParaRPr lang="en-US" sz="1150" dirty="0"/>
          </a:p>
        </p:txBody>
      </p:sp>
      <p:sp>
        <p:nvSpPr>
          <p:cNvPr id="18" name="Text 13"/>
          <p:cNvSpPr/>
          <p:nvPr/>
        </p:nvSpPr>
        <p:spPr>
          <a:xfrm>
            <a:off x="6377126" y="3051671"/>
            <a:ext cx="2359065" cy="283766"/>
          </a:xfrm>
          <a:prstGeom prst="rect">
            <a:avLst/>
          </a:prstGeom>
          <a:noFill/>
          <a:ln/>
        </p:spPr>
        <p:txBody>
          <a:bodyPr wrap="square" lIns="0" tIns="0" rIns="0" bIns="0" rtlCol="0" anchor="t">
            <a:normAutofit/>
          </a:bodyPr>
          <a:lstStyle/>
          <a:p>
            <a:pPr algn="l" indent="0" marL="0">
              <a:lnSpc>
                <a:spcPct val="110000"/>
              </a:lnSpc>
              <a:buNone/>
            </a:pPr>
            <a:r>
              <a:rPr lang="en-US" sz="800" b="1" spc="-17" kern="0" dirty="0">
                <a:solidFill>
                  <a:srgbClr val="272525"/>
                </a:solidFill>
                <a:latin typeface="Inter Bold" pitchFamily="34" charset="0"/>
                <a:ea typeface="Inter Bold" pitchFamily="34" charset="-122"/>
                <a:cs typeface="Inter Bold" pitchFamily="34" charset="-120"/>
              </a:rPr>
              <a:t>Long Short-Term Memory</a:t>
            </a:r>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 — introduces three gates controlling information flow:</a:t>
            </a:r>
            <a:endParaRPr lang="en-US" sz="800" dirty="0"/>
          </a:p>
        </p:txBody>
      </p:sp>
      <p:sp>
        <p:nvSpPr>
          <p:cNvPr id="19" name="Text 14"/>
          <p:cNvSpPr/>
          <p:nvPr/>
        </p:nvSpPr>
        <p:spPr>
          <a:xfrm>
            <a:off x="6377126" y="3398242"/>
            <a:ext cx="2359065" cy="474464"/>
          </a:xfrm>
          <a:prstGeom prst="rect">
            <a:avLst/>
          </a:prstGeom>
          <a:noFill/>
          <a:ln/>
        </p:spPr>
        <p:txBody>
          <a:bodyPr wrap="square" lIns="0" tIns="0" rIns="0" bIns="0" rtlCol="0" anchor="t">
            <a:normAutofit/>
          </a:bodyPr>
          <a:lstStyle/>
          <a:p>
            <a:pPr algn="l" marL="162560" indent="-162560">
              <a:lnSpc>
                <a:spcPct val="110000"/>
              </a:lnSpc>
              <a:buSzPct val="100000"/>
              <a:buChar char="•"/>
            </a:pPr>
            <a:r>
              <a:rPr lang="en-US" sz="800" b="1" spc="-17" kern="0" dirty="0">
                <a:solidFill>
                  <a:srgbClr val="272525"/>
                </a:solidFill>
                <a:latin typeface="Inter Bold" pitchFamily="34" charset="0"/>
                <a:ea typeface="Inter Bold" pitchFamily="34" charset="-122"/>
                <a:cs typeface="Inter Bold" pitchFamily="34" charset="-120"/>
              </a:rPr>
              <a:t>Forget gate:</a:t>
            </a:r>
            <a:pPr algn="l" marL="162560" indent="-162560">
              <a:lnSpc>
                <a:spcPct val="110000"/>
              </a:lnSpc>
              <a:buSzPct val="100000"/>
              <a:buChar char="•"/>
            </a:pPr>
            <a:r>
              <a:rPr lang="en-US" sz="800" spc="-17" kern="0" dirty="0">
                <a:solidFill>
                  <a:srgbClr val="272525"/>
                </a:solidFill>
                <a:latin typeface="Inter" pitchFamily="34" charset="0"/>
                <a:ea typeface="Inter" pitchFamily="34" charset="-122"/>
                <a:cs typeface="Inter" pitchFamily="34" charset="-120"/>
              </a:rPr>
              <a:t> what to erase from cell state</a:t>
            </a:r>
            <a:endParaRPr lang="en-US" sz="800" dirty="0"/>
          </a:p>
          <a:p>
            <a:pPr algn="l" marL="162560" indent="-162560">
              <a:lnSpc>
                <a:spcPct val="110000"/>
              </a:lnSpc>
              <a:buSzPct val="100000"/>
              <a:buChar char="•"/>
            </a:pPr>
            <a:r>
              <a:rPr lang="en-US" sz="800" b="1" spc="-17" kern="0" dirty="0">
                <a:solidFill>
                  <a:srgbClr val="272525"/>
                </a:solidFill>
                <a:latin typeface="Inter Bold" pitchFamily="34" charset="0"/>
                <a:ea typeface="Inter Bold" pitchFamily="34" charset="-122"/>
                <a:cs typeface="Inter Bold" pitchFamily="34" charset="-120"/>
              </a:rPr>
              <a:t>Input gate:</a:t>
            </a:r>
            <a:pPr algn="l" marL="162560" indent="-162560">
              <a:lnSpc>
                <a:spcPct val="110000"/>
              </a:lnSpc>
              <a:buSzPct val="100000"/>
              <a:buChar char="•"/>
            </a:pPr>
            <a:r>
              <a:rPr lang="en-US" sz="800" spc="-17" kern="0" dirty="0">
                <a:solidFill>
                  <a:srgbClr val="272525"/>
                </a:solidFill>
                <a:latin typeface="Inter" pitchFamily="34" charset="0"/>
                <a:ea typeface="Inter" pitchFamily="34" charset="-122"/>
                <a:cs typeface="Inter" pitchFamily="34" charset="-120"/>
              </a:rPr>
              <a:t> what new information to store</a:t>
            </a:r>
            <a:endParaRPr lang="en-US" sz="800" dirty="0"/>
          </a:p>
          <a:p>
            <a:pPr algn="l" marL="162560" indent="-162560">
              <a:lnSpc>
                <a:spcPct val="110000"/>
              </a:lnSpc>
              <a:buSzPct val="100000"/>
              <a:buChar char="•"/>
            </a:pPr>
            <a:r>
              <a:rPr lang="en-US" sz="800" b="1" spc="-17" kern="0" dirty="0">
                <a:solidFill>
                  <a:srgbClr val="272525"/>
                </a:solidFill>
                <a:latin typeface="Inter Bold" pitchFamily="34" charset="0"/>
                <a:ea typeface="Inter Bold" pitchFamily="34" charset="-122"/>
                <a:cs typeface="Inter Bold" pitchFamily="34" charset="-120"/>
              </a:rPr>
              <a:t>Output gate:</a:t>
            </a:r>
            <a:pPr algn="l" marL="162560" indent="-162560">
              <a:lnSpc>
                <a:spcPct val="110000"/>
              </a:lnSpc>
              <a:buSzPct val="100000"/>
              <a:buChar char="•"/>
            </a:pPr>
            <a:r>
              <a:rPr lang="en-US" sz="800" spc="-17" kern="0" dirty="0">
                <a:solidFill>
                  <a:srgbClr val="272525"/>
                </a:solidFill>
                <a:latin typeface="Inter" pitchFamily="34" charset="0"/>
                <a:ea typeface="Inter" pitchFamily="34" charset="-122"/>
                <a:cs typeface="Inter" pitchFamily="34" charset="-120"/>
              </a:rPr>
              <a:t> what to expose as hidden state</a:t>
            </a:r>
            <a:endParaRPr lang="en-US" sz="800" dirty="0"/>
          </a:p>
        </p:txBody>
      </p:sp>
      <p:sp>
        <p:nvSpPr>
          <p:cNvPr id="20" name="Text 15"/>
          <p:cNvSpPr/>
          <p:nvPr/>
        </p:nvSpPr>
        <p:spPr>
          <a:xfrm>
            <a:off x="6377126" y="3935512"/>
            <a:ext cx="2359065"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Cell state provides a </a:t>
            </a:r>
            <a:pPr algn="l" indent="0" marL="0">
              <a:lnSpc>
                <a:spcPct val="110000"/>
              </a:lnSpc>
              <a:buNone/>
            </a:pPr>
            <a:r>
              <a:rPr lang="en-US" sz="800" b="1" spc="-17" kern="0" dirty="0">
                <a:solidFill>
                  <a:srgbClr val="272525"/>
                </a:solidFill>
                <a:latin typeface="Inter Bold" pitchFamily="34" charset="0"/>
                <a:ea typeface="Inter Bold" pitchFamily="34" charset="-122"/>
                <a:cs typeface="Inter Bold" pitchFamily="34" charset="-120"/>
              </a:rPr>
              <a:t>gradient highway</a:t>
            </a:r>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 that carries information across hundreds of steps.</a:t>
            </a:r>
            <a:endParaRPr lang="en-US" sz="800" dirty="0"/>
          </a:p>
        </p:txBody>
      </p:sp>
      <p:sp>
        <p:nvSpPr>
          <p:cNvPr id="21" name="Shape 16"/>
          <p:cNvSpPr/>
          <p:nvPr/>
        </p:nvSpPr>
        <p:spPr>
          <a:xfrm>
            <a:off x="8919840" y="2683272"/>
            <a:ext cx="2586667" cy="1649809"/>
          </a:xfrm>
          <a:prstGeom prst="roundRect">
            <a:avLst>
              <a:gd name="adj" fmla="val 2737"/>
            </a:avLst>
          </a:prstGeom>
          <a:solidFill>
            <a:srgbClr val="E0D7F4"/>
          </a:solidFill>
          <a:ln w="6350">
            <a:solidFill>
              <a:srgbClr val="C6BDDA"/>
            </a:solidFill>
            <a:prstDash val="solid"/>
          </a:ln>
        </p:spPr>
      </p:sp>
      <p:sp>
        <p:nvSpPr>
          <p:cNvPr id="22" name="Text 17"/>
          <p:cNvSpPr/>
          <p:nvPr/>
        </p:nvSpPr>
        <p:spPr>
          <a:xfrm>
            <a:off x="9033641" y="2797076"/>
            <a:ext cx="2359065"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GRU</a:t>
            </a:r>
            <a:endParaRPr lang="en-US" sz="1150" dirty="0"/>
          </a:p>
        </p:txBody>
      </p:sp>
      <p:sp>
        <p:nvSpPr>
          <p:cNvPr id="23" name="Text 18"/>
          <p:cNvSpPr/>
          <p:nvPr/>
        </p:nvSpPr>
        <p:spPr>
          <a:xfrm>
            <a:off x="9033641" y="3051671"/>
            <a:ext cx="2359065" cy="283766"/>
          </a:xfrm>
          <a:prstGeom prst="rect">
            <a:avLst/>
          </a:prstGeom>
          <a:noFill/>
          <a:ln/>
        </p:spPr>
        <p:txBody>
          <a:bodyPr wrap="square" lIns="0" tIns="0" rIns="0" bIns="0" rtlCol="0" anchor="t">
            <a:normAutofit/>
          </a:bodyPr>
          <a:lstStyle/>
          <a:p>
            <a:pPr algn="l" indent="0" marL="0">
              <a:lnSpc>
                <a:spcPct val="110000"/>
              </a:lnSpc>
              <a:buNone/>
            </a:pPr>
            <a:r>
              <a:rPr lang="en-US" sz="800" b="1" spc="-17" kern="0" dirty="0">
                <a:solidFill>
                  <a:srgbClr val="272525"/>
                </a:solidFill>
                <a:latin typeface="Inter Bold" pitchFamily="34" charset="0"/>
                <a:ea typeface="Inter Bold" pitchFamily="34" charset="-122"/>
                <a:cs typeface="Inter Bold" pitchFamily="34" charset="-120"/>
              </a:rPr>
              <a:t>Gated Recurrent Unit</a:t>
            </a:r>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 — simplified LSTM with only two gates:</a:t>
            </a:r>
            <a:endParaRPr lang="en-US" sz="800" dirty="0"/>
          </a:p>
        </p:txBody>
      </p:sp>
      <p:sp>
        <p:nvSpPr>
          <p:cNvPr id="24" name="Text 19"/>
          <p:cNvSpPr/>
          <p:nvPr/>
        </p:nvSpPr>
        <p:spPr>
          <a:xfrm>
            <a:off x="9033641" y="3398242"/>
            <a:ext cx="2359065" cy="308173"/>
          </a:xfrm>
          <a:prstGeom prst="rect">
            <a:avLst/>
          </a:prstGeom>
          <a:noFill/>
          <a:ln/>
        </p:spPr>
        <p:txBody>
          <a:bodyPr wrap="square" lIns="0" tIns="0" rIns="0" bIns="0" rtlCol="0" anchor="t">
            <a:normAutofit/>
          </a:bodyPr>
          <a:lstStyle/>
          <a:p>
            <a:pPr algn="l" marL="162560" indent="-162560">
              <a:lnSpc>
                <a:spcPct val="110000"/>
              </a:lnSpc>
              <a:buSzPct val="100000"/>
              <a:buChar char="•"/>
            </a:pPr>
            <a:r>
              <a:rPr lang="en-US" sz="800" b="1" spc="-17" kern="0" dirty="0">
                <a:solidFill>
                  <a:srgbClr val="272525"/>
                </a:solidFill>
                <a:latin typeface="Inter Bold" pitchFamily="34" charset="0"/>
                <a:ea typeface="Inter Bold" pitchFamily="34" charset="-122"/>
                <a:cs typeface="Inter Bold" pitchFamily="34" charset="-120"/>
              </a:rPr>
              <a:t>Reset gate:</a:t>
            </a:r>
            <a:pPr algn="l" marL="162560" indent="-162560">
              <a:lnSpc>
                <a:spcPct val="110000"/>
              </a:lnSpc>
              <a:buSzPct val="100000"/>
              <a:buChar char="•"/>
            </a:pPr>
            <a:r>
              <a:rPr lang="en-US" sz="800" spc="-17" kern="0" dirty="0">
                <a:solidFill>
                  <a:srgbClr val="272525"/>
                </a:solidFill>
                <a:latin typeface="Inter" pitchFamily="34" charset="0"/>
                <a:ea typeface="Inter" pitchFamily="34" charset="-122"/>
                <a:cs typeface="Inter" pitchFamily="34" charset="-120"/>
              </a:rPr>
              <a:t> how much past to forget</a:t>
            </a:r>
            <a:endParaRPr lang="en-US" sz="800" dirty="0"/>
          </a:p>
          <a:p>
            <a:pPr algn="l" marL="162560" indent="-162560">
              <a:lnSpc>
                <a:spcPct val="110000"/>
              </a:lnSpc>
              <a:buSzPct val="100000"/>
              <a:buChar char="•"/>
            </a:pPr>
            <a:r>
              <a:rPr lang="en-US" sz="800" b="1" spc="-17" kern="0" dirty="0">
                <a:solidFill>
                  <a:srgbClr val="272525"/>
                </a:solidFill>
                <a:latin typeface="Inter Bold" pitchFamily="34" charset="0"/>
                <a:ea typeface="Inter Bold" pitchFamily="34" charset="-122"/>
                <a:cs typeface="Inter Bold" pitchFamily="34" charset="-120"/>
              </a:rPr>
              <a:t>Update gate:</a:t>
            </a:r>
            <a:pPr algn="l" marL="162560" indent="-162560">
              <a:lnSpc>
                <a:spcPct val="110000"/>
              </a:lnSpc>
              <a:buSzPct val="100000"/>
              <a:buChar char="•"/>
            </a:pPr>
            <a:r>
              <a:rPr lang="en-US" sz="800" spc="-17" kern="0" dirty="0">
                <a:solidFill>
                  <a:srgbClr val="272525"/>
                </a:solidFill>
                <a:latin typeface="Inter" pitchFamily="34" charset="0"/>
                <a:ea typeface="Inter" pitchFamily="34" charset="-122"/>
                <a:cs typeface="Inter" pitchFamily="34" charset="-120"/>
              </a:rPr>
              <a:t> blend of old and new state</a:t>
            </a:r>
            <a:endParaRPr lang="en-US" sz="800" dirty="0"/>
          </a:p>
        </p:txBody>
      </p:sp>
      <p:sp>
        <p:nvSpPr>
          <p:cNvPr id="25" name="Text 20"/>
          <p:cNvSpPr/>
          <p:nvPr/>
        </p:nvSpPr>
        <p:spPr>
          <a:xfrm>
            <a:off x="9033641" y="3769221"/>
            <a:ext cx="2359065"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Fewer parameters than LSTM — trains faster, competitive performance on many tasks.</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406823"/>
            <a:ext cx="10868745" cy="369590"/>
          </a:xfrm>
          <a:prstGeom prst="rect">
            <a:avLst/>
          </a:prstGeom>
          <a:noFill/>
          <a:ln/>
        </p:spPr>
        <p:txBody>
          <a:bodyPr wrap="none" lIns="0" tIns="0" rIns="0" bIns="0" rtlCol="0" anchor="t"/>
          <a:lstStyle/>
          <a:p>
            <a:pPr algn="l" indent="0" marL="0">
              <a:lnSpc>
                <a:spcPct val="104000"/>
              </a:lnSpc>
              <a:buNone/>
            </a:pPr>
            <a:r>
              <a:rPr lang="en-US" sz="2300" b="1" spc="-47" kern="0" dirty="0">
                <a:solidFill>
                  <a:srgbClr val="F95F88"/>
                </a:solidFill>
                <a:latin typeface="Petrona Bold" pitchFamily="34" charset="0"/>
                <a:ea typeface="Petrona Bold" pitchFamily="34" charset="-122"/>
                <a:cs typeface="Petrona Bold" pitchFamily="34" charset="-120"/>
              </a:rPr>
              <a:t>CNN vs RNN: Side-by-Side Comparison</a:t>
            </a:r>
            <a:endParaRPr lang="en-US" sz="2300" dirty="0"/>
          </a:p>
        </p:txBody>
      </p:sp>
      <p:sp>
        <p:nvSpPr>
          <p:cNvPr id="3" name="Text 1"/>
          <p:cNvSpPr/>
          <p:nvPr/>
        </p:nvSpPr>
        <p:spPr>
          <a:xfrm>
            <a:off x="661475" y="1916112"/>
            <a:ext cx="10868745"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Choosing between CNN and RNN depends entirely on whether your data has </a:t>
            </a:r>
            <a:pPr algn="l" indent="0" marL="0">
              <a:lnSpc>
                <a:spcPct val="110000"/>
              </a:lnSpc>
              <a:buNone/>
            </a:pPr>
            <a:r>
              <a:rPr lang="en-US" sz="800" b="1" spc="-17" kern="0" dirty="0">
                <a:solidFill>
                  <a:srgbClr val="272525"/>
                </a:solidFill>
                <a:latin typeface="Inter Bold" pitchFamily="34" charset="0"/>
                <a:ea typeface="Inter Bold" pitchFamily="34" charset="-122"/>
                <a:cs typeface="Inter Bold" pitchFamily="34" charset="-120"/>
              </a:rPr>
              <a:t>spatial structure</a:t>
            </a:r>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 (images, video frames) or </a:t>
            </a:r>
            <a:pPr algn="l" indent="0" marL="0">
              <a:lnSpc>
                <a:spcPct val="110000"/>
              </a:lnSpc>
              <a:buNone/>
            </a:pPr>
            <a:r>
              <a:rPr lang="en-US" sz="800" b="1" spc="-17" kern="0" dirty="0">
                <a:solidFill>
                  <a:srgbClr val="272525"/>
                </a:solidFill>
                <a:latin typeface="Inter Bold" pitchFamily="34" charset="0"/>
                <a:ea typeface="Inter Bold" pitchFamily="34" charset="-122"/>
                <a:cs typeface="Inter Bold" pitchFamily="34" charset="-120"/>
              </a:rPr>
              <a:t>sequential/temporal structure</a:t>
            </a:r>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 (text, time series, speech). The table below captures the essential architectural differences.</a:t>
            </a:r>
            <a:endParaRPr lang="en-US" sz="8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1475" y="2278459"/>
          <a:ext cx="9143771" cy="914400"/>
        </p:xfrm>
        <a:graphic>
          <a:graphicData uri="http://schemas.openxmlformats.org/drawingml/2006/table">
            <a:tbl>
              <a:tblPr/>
              <a:tblGrid>
                <a:gridCol w="2173749"/>
                <a:gridCol w="4347498"/>
                <a:gridCol w="4347498"/>
              </a:tblGrid>
              <a:tr h="241492">
                <a:tc>
                  <a:txBody>
                    <a:bodyPr/>
                    <a:lstStyle/>
                    <a:p>
                      <a:pPr indent="0" marL="0">
                        <a:buNone/>
                      </a:pPr>
                      <a:r>
                        <a:rPr lang="en-US" sz="800" b="1" spc="-17" kern="0" dirty="0">
                          <a:solidFill>
                            <a:srgbClr val="272525"/>
                          </a:solidFill>
                          <a:latin typeface="Inter" pitchFamily="34" charset="0"/>
                          <a:ea typeface="Inter" pitchFamily="34" charset="-122"/>
                          <a:cs typeface="Inter" pitchFamily="34" charset="-120"/>
                        </a:rPr>
                        <a:t>Dimension</a:t>
                      </a:r>
                      <a:endParaRPr lang="en-US" sz="800" dirty="0">
                        <a:latin typeface="Inter" charset="0"/>
                        <a:ea typeface="Inter" charset="0"/>
                        <a:cs typeface="Inter" charset="0"/>
                      </a:endParaRPr>
                    </a:p>
                  </a:txBody>
                  <a:tcPr marL="107504" marR="10750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b="1" spc="-17" kern="0" dirty="0">
                          <a:solidFill>
                            <a:srgbClr val="272525"/>
                          </a:solidFill>
                          <a:latin typeface="Inter" pitchFamily="34" charset="0"/>
                          <a:ea typeface="Inter" pitchFamily="34" charset="-122"/>
                          <a:cs typeface="Inter" pitchFamily="34" charset="-120"/>
                        </a:rPr>
                        <a:t>CNN</a:t>
                      </a:r>
                      <a:endParaRPr lang="en-US" sz="800" dirty="0">
                        <a:latin typeface="Inter" charset="0"/>
                        <a:ea typeface="Inter" charset="0"/>
                        <a:cs typeface="Inter" charset="0"/>
                      </a:endParaRPr>
                    </a:p>
                  </a:txBody>
                  <a:tcPr marL="107504" marR="107504" marT="6350" marB="6350" anchor="ctr">
                    <a:lnL w="12700" cap="flat" cmpd="sng" algn="ctr">
                      <a:solidFill>
                        <a:srgbClr val="AC9EF5"/>
                      </a:solidFill>
                      <a:prstDash val="solid"/>
                      <a:round/>
                      <a:headEnd type="none" w="med" len="med"/>
                      <a:tailEnd type="none" w="med" len="med"/>
                    </a:lnL>
                    <a:lnR w="12700" cap="flat" cmpd="sng" algn="ctr">
                      <a:solidFill>
                        <a:srgbClr val="AC9EF5"/>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AC9EF5"/>
                    </a:solidFill>
                  </a:tcPr>
                </a:tc>
                <a:tc>
                  <a:txBody>
                    <a:bodyPr/>
                    <a:lstStyle/>
                    <a:p>
                      <a:pPr indent="0" marL="0">
                        <a:buNone/>
                      </a:pPr>
                      <a:r>
                        <a:rPr lang="en-US" sz="800" b="1" spc="-17" kern="0" dirty="0">
                          <a:solidFill>
                            <a:srgbClr val="272525"/>
                          </a:solidFill>
                          <a:latin typeface="Inter" pitchFamily="34" charset="0"/>
                          <a:ea typeface="Inter" pitchFamily="34" charset="-122"/>
                          <a:cs typeface="Inter" pitchFamily="34" charset="-120"/>
                        </a:rPr>
                        <a:t>RNN / LSTM / GRU</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r h="244667">
                <a:tc>
                  <a:txBody>
                    <a:bodyPr/>
                    <a:lstStyle/>
                    <a:p>
                      <a:pPr indent="0" marL="0">
                        <a:buNone/>
                      </a:pPr>
                      <a:r>
                        <a:rPr lang="en-US" sz="800" b="1" spc="-17" kern="0" dirty="0">
                          <a:solidFill>
                            <a:srgbClr val="272525"/>
                          </a:solidFill>
                          <a:latin typeface="Inter" pitchFamily="34" charset="0"/>
                          <a:ea typeface="Inter" pitchFamily="34" charset="-122"/>
                          <a:cs typeface="Inter" pitchFamily="34" charset="-120"/>
                        </a:rPr>
                        <a:t>Best For</a:t>
                      </a:r>
                      <a:endParaRPr lang="en-US" sz="800" dirty="0">
                        <a:latin typeface="Inter" charset="0"/>
                        <a:ea typeface="Inter" charset="0"/>
                        <a:cs typeface="Inter" charset="0"/>
                      </a:endParaRPr>
                    </a:p>
                  </a:txBody>
                  <a:tcPr marL="107504" marR="10750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Spatial data — images, video, volumetric data</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Sequential data — text, time series, speech</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r h="244667">
                <a:tc>
                  <a:txBody>
                    <a:bodyPr/>
                    <a:lstStyle/>
                    <a:p>
                      <a:pPr indent="0" marL="0">
                        <a:buNone/>
                      </a:pPr>
                      <a:r>
                        <a:rPr lang="en-US" sz="800" b="1" spc="-17" kern="0" dirty="0">
                          <a:solidFill>
                            <a:srgbClr val="272525"/>
                          </a:solidFill>
                          <a:latin typeface="Inter" pitchFamily="34" charset="0"/>
                          <a:ea typeface="Inter" pitchFamily="34" charset="-122"/>
                          <a:cs typeface="Inter" pitchFamily="34" charset="-120"/>
                        </a:rPr>
                        <a:t>Typical Input</a:t>
                      </a:r>
                      <a:endParaRPr lang="en-US" sz="800" dirty="0">
                        <a:latin typeface="Inter" charset="0"/>
                        <a:ea typeface="Inter" charset="0"/>
                        <a:cs typeface="Inter" charset="0"/>
                      </a:endParaRPr>
                    </a:p>
                  </a:txBody>
                  <a:tcPr marL="107504" marR="10750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2D / 3D image tensors (H × W × C)</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1D sequences of variable or fixed length</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r h="244667">
                <a:tc>
                  <a:txBody>
                    <a:bodyPr/>
                    <a:lstStyle/>
                    <a:p>
                      <a:pPr indent="0" marL="0">
                        <a:buNone/>
                      </a:pPr>
                      <a:r>
                        <a:rPr lang="en-US" sz="800" b="1" spc="-17" kern="0" dirty="0">
                          <a:solidFill>
                            <a:srgbClr val="272525"/>
                          </a:solidFill>
                          <a:latin typeface="Inter" pitchFamily="34" charset="0"/>
                          <a:ea typeface="Inter" pitchFamily="34" charset="-122"/>
                          <a:cs typeface="Inter" pitchFamily="34" charset="-120"/>
                        </a:rPr>
                        <a:t>Main Mechanism</a:t>
                      </a:r>
                      <a:endParaRPr lang="en-US" sz="800" dirty="0">
                        <a:latin typeface="Inter" charset="0"/>
                        <a:ea typeface="Inter" charset="0"/>
                        <a:cs typeface="Inter" charset="0"/>
                      </a:endParaRPr>
                    </a:p>
                  </a:txBody>
                  <a:tcPr marL="107504" marR="10750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Convolution + pooling for local feature extraction</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Recurrent connections + hidden state update</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r h="244667">
                <a:tc>
                  <a:txBody>
                    <a:bodyPr/>
                    <a:lstStyle/>
                    <a:p>
                      <a:pPr indent="0" marL="0">
                        <a:buNone/>
                      </a:pPr>
                      <a:r>
                        <a:rPr lang="en-US" sz="800" b="1" spc="-17" kern="0" dirty="0">
                          <a:solidFill>
                            <a:srgbClr val="272525"/>
                          </a:solidFill>
                          <a:latin typeface="Inter" pitchFamily="34" charset="0"/>
                          <a:ea typeface="Inter" pitchFamily="34" charset="-122"/>
                          <a:cs typeface="Inter" pitchFamily="34" charset="-120"/>
                        </a:rPr>
                        <a:t>Memory</a:t>
                      </a:r>
                      <a:endParaRPr lang="en-US" sz="800" dirty="0">
                        <a:latin typeface="Inter" charset="0"/>
                        <a:ea typeface="Inter" charset="0"/>
                        <a:cs typeface="Inter" charset="0"/>
                      </a:endParaRPr>
                    </a:p>
                  </a:txBody>
                  <a:tcPr marL="107504" marR="10750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No explicit sequence memory; receptive field grows with depth</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Hidden state acts as temporal memory across steps</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r h="244667">
                <a:tc>
                  <a:txBody>
                    <a:bodyPr/>
                    <a:lstStyle/>
                    <a:p>
                      <a:pPr indent="0" marL="0">
                        <a:buNone/>
                      </a:pPr>
                      <a:r>
                        <a:rPr lang="en-US" sz="800" b="1" spc="-17" kern="0" dirty="0">
                          <a:solidFill>
                            <a:srgbClr val="272525"/>
                          </a:solidFill>
                          <a:latin typeface="Inter" pitchFamily="34" charset="0"/>
                          <a:ea typeface="Inter" pitchFamily="34" charset="-122"/>
                          <a:cs typeface="Inter" pitchFamily="34" charset="-120"/>
                        </a:rPr>
                        <a:t>Parallelization</a:t>
                      </a:r>
                      <a:endParaRPr lang="en-US" sz="800" dirty="0">
                        <a:latin typeface="Inter" charset="0"/>
                        <a:ea typeface="Inter" charset="0"/>
                        <a:cs typeface="Inter" charset="0"/>
                      </a:endParaRPr>
                    </a:p>
                  </a:txBody>
                  <a:tcPr marL="107504" marR="10750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Highly parallelizable — all spatial positions computed simultaneously</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Sequential by design — each step depends on previous</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r h="244667">
                <a:tc>
                  <a:txBody>
                    <a:bodyPr/>
                    <a:lstStyle/>
                    <a:p>
                      <a:pPr indent="0" marL="0">
                        <a:buNone/>
                      </a:pPr>
                      <a:r>
                        <a:rPr lang="en-US" sz="800" b="1" spc="-17" kern="0" dirty="0">
                          <a:solidFill>
                            <a:srgbClr val="272525"/>
                          </a:solidFill>
                          <a:latin typeface="Inter" pitchFamily="34" charset="0"/>
                          <a:ea typeface="Inter" pitchFamily="34" charset="-122"/>
                          <a:cs typeface="Inter" pitchFamily="34" charset="-120"/>
                        </a:rPr>
                        <a:t>Common Variants</a:t>
                      </a:r>
                      <a:endParaRPr lang="en-US" sz="800" dirty="0">
                        <a:latin typeface="Inter" charset="0"/>
                        <a:ea typeface="Inter" charset="0"/>
                        <a:cs typeface="Inter" charset="0"/>
                      </a:endParaRPr>
                    </a:p>
                  </a:txBody>
                  <a:tcPr marL="107504" marR="10750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LeNet, AlexNet, VGG, ResNet, EfficientNet, MobileNet</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Vanilla RNN, LSTM, GRU, Bidirectional RNN, Deep RNN</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r h="241492">
                <a:tc>
                  <a:txBody>
                    <a:bodyPr/>
                    <a:lstStyle/>
                    <a:p>
                      <a:pPr indent="0" marL="0">
                        <a:buNone/>
                      </a:pPr>
                      <a:r>
                        <a:rPr lang="en-US" sz="800" b="1" spc="-17" kern="0" dirty="0">
                          <a:solidFill>
                            <a:srgbClr val="272525"/>
                          </a:solidFill>
                          <a:latin typeface="Inter" pitchFamily="34" charset="0"/>
                          <a:ea typeface="Inter" pitchFamily="34" charset="-122"/>
                          <a:cs typeface="Inter" pitchFamily="34" charset="-120"/>
                        </a:rPr>
                        <a:t>Real-World Examples</a:t>
                      </a:r>
                      <a:endParaRPr lang="en-US" sz="800" dirty="0">
                        <a:latin typeface="Inter" charset="0"/>
                        <a:ea typeface="Inter" charset="0"/>
                        <a:cs typeface="Inter" charset="0"/>
                      </a:endParaRPr>
                    </a:p>
                  </a:txBody>
                  <a:tcPr marL="107504" marR="107504" marT="6350" marB="6350" anchor="ctr">
                    <a:lnL w="12700" cap="flat" cmpd="sng" algn="ctr">
                      <a:solidFill>
                        <a:srgbClr val="C6BDDA"/>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Face recognition, medical imaging, autonomous driving</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FDFAF7"/>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c>
                  <a:txBody>
                    <a:bodyPr/>
                    <a:lstStyle/>
                    <a:p>
                      <a:pPr indent="0" marL="0">
                        <a:buNone/>
                      </a:pPr>
                      <a:r>
                        <a:rPr lang="en-US" sz="800" spc="-17" kern="0" dirty="0">
                          <a:solidFill>
                            <a:srgbClr val="272525"/>
                          </a:solidFill>
                          <a:latin typeface="Inter" pitchFamily="34" charset="0"/>
                          <a:ea typeface="Inter" pitchFamily="34" charset="-122"/>
                          <a:cs typeface="Inter" pitchFamily="34" charset="-120"/>
                        </a:rPr>
                        <a:t>Machine translation, sentiment analysis, stock prediction</a:t>
                      </a:r>
                      <a:endParaRPr lang="en-US" sz="800" dirty="0">
                        <a:latin typeface="Inter" charset="0"/>
                        <a:ea typeface="Inter" charset="0"/>
                        <a:cs typeface="Inter" charset="0"/>
                      </a:endParaRPr>
                    </a:p>
                  </a:txBody>
                  <a:tcPr marL="107504" marR="107504" marT="6350" marB="6350" anchor="ctr">
                    <a:lnL w="12700" cap="flat" cmpd="sng" algn="ctr">
                      <a:solidFill>
                        <a:srgbClr val="FDFAF7"/>
                      </a:solidFill>
                      <a:prstDash val="solid"/>
                      <a:round/>
                      <a:headEnd type="none" w="med" len="med"/>
                      <a:tailEnd type="none" w="med" len="med"/>
                    </a:lnL>
                    <a:lnR w="12700" cap="flat" cmpd="sng" algn="ctr">
                      <a:solidFill>
                        <a:srgbClr val="C6BDDA"/>
                      </a:solidFill>
                      <a:prstDash val="solid"/>
                      <a:round/>
                      <a:headEnd type="none" w="med" len="med"/>
                      <a:tailEnd type="none" w="med" len="med"/>
                    </a:lnR>
                    <a:lnT w="12700" cap="flat" cmpd="sng" algn="ctr">
                      <a:solidFill>
                        <a:srgbClr val="C6BDDA"/>
                      </a:solidFill>
                      <a:prstDash val="solid"/>
                      <a:round/>
                      <a:headEnd type="none" w="med" len="med"/>
                      <a:tailEnd type="none" w="med" len="med"/>
                    </a:lnT>
                    <a:lnB w="12700" cap="flat" cmpd="sng" algn="ctr">
                      <a:solidFill>
                        <a:srgbClr val="C6BDDA"/>
                      </a:solidFill>
                      <a:prstDash val="solid"/>
                      <a:round/>
                      <a:headEnd type="none" w="med" len="med"/>
                      <a:tailEnd type="none" w="med" len="med"/>
                    </a:lnB>
                    <a:solidFill>
                      <a:srgbClr val="FDFAF7"/>
                    </a:solidFill>
                  </a:tcPr>
                </a:tc>
              </a:tr>
            </a:tbl>
          </a:graphicData>
        </a:graphic>
      </p:graphicFrame>
      <p:sp>
        <p:nvSpPr>
          <p:cNvPr id="5" name="Shape 2"/>
          <p:cNvSpPr/>
          <p:nvPr/>
        </p:nvSpPr>
        <p:spPr>
          <a:xfrm>
            <a:off x="661475" y="4320778"/>
            <a:ext cx="3576350" cy="1130300"/>
          </a:xfrm>
          <a:prstGeom prst="roundRect">
            <a:avLst>
              <a:gd name="adj" fmla="val 3995"/>
            </a:avLst>
          </a:prstGeom>
          <a:solidFill>
            <a:srgbClr val="E0D7F4"/>
          </a:solidFill>
          <a:ln w="6350">
            <a:solidFill>
              <a:srgbClr val="C6BDDA"/>
            </a:solidFill>
            <a:prstDash val="solid"/>
          </a:ln>
        </p:spPr>
      </p:sp>
      <p:sp>
        <p:nvSpPr>
          <p:cNvPr id="6" name="Shape 3"/>
          <p:cNvSpPr/>
          <p:nvPr/>
        </p:nvSpPr>
        <p:spPr>
          <a:xfrm>
            <a:off x="775276" y="4434582"/>
            <a:ext cx="322453" cy="322461"/>
          </a:xfrm>
          <a:prstGeom prst="ellipse">
            <a:avLst/>
          </a:prstGeom>
          <a:solidFill>
            <a:srgbClr val="6237C8"/>
          </a:solidFill>
          <a:ln/>
        </p:spPr>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863975" y="4523284"/>
            <a:ext cx="145054" cy="145058"/>
          </a:xfrm>
          <a:prstGeom prst="rect">
            <a:avLst/>
          </a:prstGeom>
        </p:spPr>
      </p:pic>
      <p:sp>
        <p:nvSpPr>
          <p:cNvPr id="8" name="Text 4"/>
          <p:cNvSpPr/>
          <p:nvPr/>
        </p:nvSpPr>
        <p:spPr>
          <a:xfrm>
            <a:off x="775276" y="4826893"/>
            <a:ext cx="3348747"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CNN Strength</a:t>
            </a:r>
            <a:endParaRPr lang="en-US" sz="1150" dirty="0"/>
          </a:p>
        </p:txBody>
      </p:sp>
      <p:sp>
        <p:nvSpPr>
          <p:cNvPr id="9" name="Text 5"/>
          <p:cNvSpPr/>
          <p:nvPr/>
        </p:nvSpPr>
        <p:spPr>
          <a:xfrm>
            <a:off x="775276" y="5053509"/>
            <a:ext cx="3348747"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Translation invariance through shared weights — the same edge detector works anywhere in the image.</a:t>
            </a:r>
            <a:endParaRPr lang="en-US" sz="800" dirty="0"/>
          </a:p>
        </p:txBody>
      </p:sp>
      <p:sp>
        <p:nvSpPr>
          <p:cNvPr id="10" name="Shape 6"/>
          <p:cNvSpPr/>
          <p:nvPr/>
        </p:nvSpPr>
        <p:spPr>
          <a:xfrm>
            <a:off x="4307673" y="4320778"/>
            <a:ext cx="3576350" cy="1130300"/>
          </a:xfrm>
          <a:prstGeom prst="roundRect">
            <a:avLst>
              <a:gd name="adj" fmla="val 3995"/>
            </a:avLst>
          </a:prstGeom>
          <a:solidFill>
            <a:srgbClr val="E0D7F4"/>
          </a:solidFill>
          <a:ln w="6350">
            <a:solidFill>
              <a:srgbClr val="C6BDDA"/>
            </a:solidFill>
            <a:prstDash val="solid"/>
          </a:ln>
        </p:spPr>
      </p:sp>
      <p:sp>
        <p:nvSpPr>
          <p:cNvPr id="11" name="Shape 7"/>
          <p:cNvSpPr/>
          <p:nvPr/>
        </p:nvSpPr>
        <p:spPr>
          <a:xfrm>
            <a:off x="4421474" y="4434582"/>
            <a:ext cx="322453" cy="322461"/>
          </a:xfrm>
          <a:prstGeom prst="ellipse">
            <a:avLst/>
          </a:prstGeom>
          <a:solidFill>
            <a:srgbClr val="6237C8"/>
          </a:solidFill>
          <a:ln/>
        </p:spPr>
      </p:sp>
      <p:pic>
        <p:nvPicPr>
          <p:cNvPr id="12"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510173" y="4523284"/>
            <a:ext cx="145054" cy="145058"/>
          </a:xfrm>
          <a:prstGeom prst="rect">
            <a:avLst/>
          </a:prstGeom>
        </p:spPr>
      </p:pic>
      <p:sp>
        <p:nvSpPr>
          <p:cNvPr id="13" name="Text 8"/>
          <p:cNvSpPr/>
          <p:nvPr/>
        </p:nvSpPr>
        <p:spPr>
          <a:xfrm>
            <a:off x="4421474" y="4826893"/>
            <a:ext cx="3348747"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RNN Strength</a:t>
            </a:r>
            <a:endParaRPr lang="en-US" sz="1150" dirty="0"/>
          </a:p>
        </p:txBody>
      </p:sp>
      <p:sp>
        <p:nvSpPr>
          <p:cNvPr id="14" name="Text 9"/>
          <p:cNvSpPr/>
          <p:nvPr/>
        </p:nvSpPr>
        <p:spPr>
          <a:xfrm>
            <a:off x="4421474" y="5053509"/>
            <a:ext cx="3348747"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Order sensitivity — "dog bites man" and "man bites dog" produce very different hidden states.</a:t>
            </a:r>
            <a:endParaRPr lang="en-US" sz="800" dirty="0"/>
          </a:p>
        </p:txBody>
      </p:sp>
      <p:sp>
        <p:nvSpPr>
          <p:cNvPr id="15" name="Shape 10"/>
          <p:cNvSpPr/>
          <p:nvPr/>
        </p:nvSpPr>
        <p:spPr>
          <a:xfrm>
            <a:off x="7953871" y="4320778"/>
            <a:ext cx="3576350" cy="1130300"/>
          </a:xfrm>
          <a:prstGeom prst="roundRect">
            <a:avLst>
              <a:gd name="adj" fmla="val 3995"/>
            </a:avLst>
          </a:prstGeom>
          <a:solidFill>
            <a:srgbClr val="E0D7F4"/>
          </a:solidFill>
          <a:ln w="6350">
            <a:solidFill>
              <a:srgbClr val="C6BDDA"/>
            </a:solidFill>
            <a:prstDash val="solid"/>
          </a:ln>
        </p:spPr>
      </p:sp>
      <p:sp>
        <p:nvSpPr>
          <p:cNvPr id="16" name="Shape 11"/>
          <p:cNvSpPr/>
          <p:nvPr/>
        </p:nvSpPr>
        <p:spPr>
          <a:xfrm>
            <a:off x="8067672" y="4434582"/>
            <a:ext cx="322453" cy="322461"/>
          </a:xfrm>
          <a:prstGeom prst="ellipse">
            <a:avLst/>
          </a:prstGeom>
          <a:solidFill>
            <a:srgbClr val="6237C8"/>
          </a:solidFill>
          <a:ln/>
        </p:spPr>
      </p:sp>
      <p:pic>
        <p:nvPicPr>
          <p:cNvPr id="1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156371" y="4523284"/>
            <a:ext cx="145054" cy="145058"/>
          </a:xfrm>
          <a:prstGeom prst="rect">
            <a:avLst/>
          </a:prstGeom>
        </p:spPr>
      </p:pic>
      <p:sp>
        <p:nvSpPr>
          <p:cNvPr id="18" name="Text 12"/>
          <p:cNvSpPr/>
          <p:nvPr/>
        </p:nvSpPr>
        <p:spPr>
          <a:xfrm>
            <a:off x="8067672" y="4826893"/>
            <a:ext cx="3348747"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Hybrid CNN-RNN</a:t>
            </a:r>
            <a:endParaRPr lang="en-US" sz="1150" dirty="0"/>
          </a:p>
        </p:txBody>
      </p:sp>
      <p:sp>
        <p:nvSpPr>
          <p:cNvPr id="19" name="Text 13"/>
          <p:cNvSpPr/>
          <p:nvPr/>
        </p:nvSpPr>
        <p:spPr>
          <a:xfrm>
            <a:off x="8067672" y="5053509"/>
            <a:ext cx="3348747"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Image captioning and video analysis combine both: CNN extracts spatial features, RNN generates the sequence.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718542"/>
            <a:ext cx="10868745" cy="369590"/>
          </a:xfrm>
          <a:prstGeom prst="rect">
            <a:avLst/>
          </a:prstGeom>
          <a:noFill/>
          <a:ln/>
        </p:spPr>
        <p:txBody>
          <a:bodyPr wrap="none" lIns="0" tIns="0" rIns="0" bIns="0" rtlCol="0" anchor="t"/>
          <a:lstStyle/>
          <a:p>
            <a:pPr algn="l" indent="0" marL="0">
              <a:lnSpc>
                <a:spcPct val="104000"/>
              </a:lnSpc>
              <a:buNone/>
            </a:pPr>
            <a:r>
              <a:rPr lang="en-US" sz="2300" b="1" spc="-47" kern="0" dirty="0">
                <a:solidFill>
                  <a:srgbClr val="F95F88"/>
                </a:solidFill>
                <a:latin typeface="Petrona Bold" pitchFamily="34" charset="0"/>
                <a:ea typeface="Petrona Bold" pitchFamily="34" charset="-122"/>
                <a:cs typeface="Petrona Bold" pitchFamily="34" charset="-120"/>
              </a:rPr>
              <a:t>Key Takeaways</a:t>
            </a:r>
            <a:endParaRPr lang="en-US" sz="2300" dirty="0"/>
          </a:p>
        </p:txBody>
      </p:sp>
      <p:sp>
        <p:nvSpPr>
          <p:cNvPr id="3" name="Shape 1"/>
          <p:cNvSpPr/>
          <p:nvPr/>
        </p:nvSpPr>
        <p:spPr>
          <a:xfrm>
            <a:off x="661475" y="1227832"/>
            <a:ext cx="559084" cy="163413"/>
          </a:xfrm>
          <a:prstGeom prst="roundRect">
            <a:avLst>
              <a:gd name="adj" fmla="val 22104"/>
            </a:avLst>
          </a:prstGeom>
          <a:solidFill>
            <a:srgbClr val="E0D7F4"/>
          </a:solidFill>
          <a:ln/>
        </p:spPr>
      </p:sp>
      <p:sp>
        <p:nvSpPr>
          <p:cNvPr id="4" name="Text 2"/>
          <p:cNvSpPr/>
          <p:nvPr/>
        </p:nvSpPr>
        <p:spPr>
          <a:xfrm>
            <a:off x="725965" y="1260078"/>
            <a:ext cx="1039687" cy="98921"/>
          </a:xfrm>
          <a:prstGeom prst="rect">
            <a:avLst/>
          </a:prstGeom>
          <a:noFill/>
          <a:ln/>
        </p:spPr>
        <p:txBody>
          <a:bodyPr wrap="none" lIns="0" tIns="0" rIns="0" bIns="0" rtlCol="0" anchor="t"/>
          <a:lstStyle/>
          <a:p>
            <a:pPr algn="l" indent="0" marL="0">
              <a:lnSpc>
                <a:spcPct val="96000"/>
              </a:lnSpc>
              <a:buNone/>
            </a:pPr>
            <a:r>
              <a:rPr lang="en-US" sz="650" spc="-17" kern="0" dirty="0">
                <a:solidFill>
                  <a:srgbClr val="272525"/>
                </a:solidFill>
                <a:latin typeface="Inter" pitchFamily="34" charset="0"/>
                <a:ea typeface="Inter" pitchFamily="34" charset="-122"/>
                <a:cs typeface="Inter" pitchFamily="34" charset="-120"/>
              </a:rPr>
              <a:t>SUMMARY</a:t>
            </a:r>
            <a:endParaRPr lang="en-US" sz="650" dirty="0"/>
          </a:p>
        </p:txBody>
      </p:sp>
      <p:sp>
        <p:nvSpPr>
          <p:cNvPr id="5" name="Shape 3"/>
          <p:cNvSpPr/>
          <p:nvPr/>
        </p:nvSpPr>
        <p:spPr>
          <a:xfrm>
            <a:off x="584086" y="1469827"/>
            <a:ext cx="5458085" cy="4669631"/>
          </a:xfrm>
          <a:prstGeom prst="roundRect">
            <a:avLst>
              <a:gd name="adj" fmla="val 1658"/>
            </a:avLst>
          </a:prstGeom>
          <a:solidFill>
            <a:srgbClr val="AC9EF5"/>
          </a:solidFill>
          <a:ln/>
        </p:spPr>
      </p:sp>
      <p:sp>
        <p:nvSpPr>
          <p:cNvPr id="6" name="Text 4"/>
          <p:cNvSpPr/>
          <p:nvPr/>
        </p:nvSpPr>
        <p:spPr>
          <a:xfrm>
            <a:off x="691537" y="1539677"/>
            <a:ext cx="5243183"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000000"/>
                </a:solidFill>
                <a:latin typeface="Petrona Bold" pitchFamily="34" charset="0"/>
                <a:ea typeface="Petrona Bold" pitchFamily="34" charset="-122"/>
                <a:cs typeface="Petrona Bold" pitchFamily="34" charset="-120"/>
              </a:rPr>
              <a:t>The Decision Framework</a:t>
            </a:r>
            <a:endParaRPr lang="en-US" sz="1150" dirty="0"/>
          </a:p>
        </p:txBody>
      </p:sp>
      <p:pic>
        <p:nvPicPr>
          <p:cNvPr id="7" name="Image 0" descr="preencoded.png">    </p:cNvPr>
          <p:cNvPicPr>
            <a:picLocks noChangeAspect="1"/>
          </p:cNvPicPr>
          <p:nvPr/>
        </p:nvPicPr>
        <p:blipFill>
          <a:blip r:embed="rId1"/>
          <a:stretch>
            <a:fillRect/>
          </a:stretch>
        </p:blipFill>
        <p:spPr>
          <a:xfrm>
            <a:off x="1609089" y="1803003"/>
            <a:ext cx="3407980" cy="1397198"/>
          </a:xfrm>
          <a:prstGeom prst="rect">
            <a:avLst/>
          </a:prstGeom>
        </p:spPr>
      </p:pic>
      <p:sp>
        <p:nvSpPr>
          <p:cNvPr id="8" name="Text 5"/>
          <p:cNvSpPr/>
          <p:nvPr/>
        </p:nvSpPr>
        <p:spPr>
          <a:xfrm>
            <a:off x="3087527" y="1988538"/>
            <a:ext cx="893185" cy="111651"/>
          </a:xfrm>
          <a:prstGeom prst="rect">
            <a:avLst/>
          </a:prstGeom>
          <a:noFill/>
          <a:ln/>
        </p:spPr>
        <p:txBody>
          <a:bodyPr wrap="none" lIns="0" tIns="0" rIns="0" bIns="0" rtlCol="0" anchor="t"/>
          <a:lstStyle/>
          <a:p>
            <a:pPr algn="l" indent="0" marL="0">
              <a:lnSpc>
                <a:spcPct val="104000"/>
              </a:lnSpc>
              <a:buNone/>
            </a:pPr>
            <a:r>
              <a:rPr lang="en-US" sz="700" b="1" spc="-14" kern="0" dirty="0">
                <a:solidFill>
                  <a:srgbClr val="272525"/>
                </a:solidFill>
                <a:latin typeface="Petrona Bold" pitchFamily="34" charset="0"/>
                <a:ea typeface="Petrona Bold" pitchFamily="34" charset="-122"/>
                <a:cs typeface="Petrona Bold" pitchFamily="34" charset="-120"/>
              </a:rPr>
              <a:t>Choose Variant</a:t>
            </a:r>
            <a:endParaRPr lang="en-US" sz="700" dirty="0"/>
          </a:p>
        </p:txBody>
      </p:sp>
      <p:sp>
        <p:nvSpPr>
          <p:cNvPr id="9" name="Text 6"/>
          <p:cNvSpPr/>
          <p:nvPr/>
        </p:nvSpPr>
        <p:spPr>
          <a:xfrm>
            <a:off x="3087527" y="2129060"/>
            <a:ext cx="1642017" cy="66991"/>
          </a:xfrm>
          <a:prstGeom prst="rect">
            <a:avLst/>
          </a:prstGeom>
          <a:noFill/>
          <a:ln/>
        </p:spPr>
        <p:txBody>
          <a:bodyPr wrap="none" lIns="0" tIns="0" rIns="0" bIns="0" rtlCol="0" anchor="t"/>
          <a:lstStyle/>
          <a:p>
            <a:pPr algn="l" indent="0" marL="0">
              <a:lnSpc>
                <a:spcPct val="86000"/>
              </a:lnSpc>
              <a:buNone/>
            </a:pPr>
            <a:r>
              <a:rPr lang="en-US" sz="500" spc="-10" kern="0" dirty="0">
                <a:solidFill>
                  <a:srgbClr val="272525"/>
                </a:solidFill>
                <a:latin typeface="Inter" pitchFamily="34" charset="0"/>
                <a:ea typeface="Inter" pitchFamily="34" charset="-122"/>
                <a:cs typeface="Inter" pitchFamily="34" charset="-120"/>
              </a:rPr>
              <a:t>ResNet/EfficientNet or LSTM/GRU</a:t>
            </a:r>
            <a:endParaRPr lang="en-US" sz="500" dirty="0"/>
          </a:p>
        </p:txBody>
      </p:sp>
      <p:sp>
        <p:nvSpPr>
          <p:cNvPr id="10" name="Text 7"/>
          <p:cNvSpPr/>
          <p:nvPr/>
        </p:nvSpPr>
        <p:spPr>
          <a:xfrm>
            <a:off x="3087527" y="2392737"/>
            <a:ext cx="893185" cy="111651"/>
          </a:xfrm>
          <a:prstGeom prst="rect">
            <a:avLst/>
          </a:prstGeom>
          <a:noFill/>
          <a:ln/>
        </p:spPr>
        <p:txBody>
          <a:bodyPr wrap="none" lIns="0" tIns="0" rIns="0" bIns="0" rtlCol="0" anchor="t"/>
          <a:lstStyle/>
          <a:p>
            <a:pPr algn="l" indent="0" marL="0">
              <a:lnSpc>
                <a:spcPct val="104000"/>
              </a:lnSpc>
              <a:buNone/>
            </a:pPr>
            <a:r>
              <a:rPr lang="en-US" sz="700" b="1" spc="-14" kern="0" dirty="0">
                <a:solidFill>
                  <a:srgbClr val="272525"/>
                </a:solidFill>
                <a:latin typeface="Petrona Bold" pitchFamily="34" charset="0"/>
                <a:ea typeface="Petrona Bold" pitchFamily="34" charset="-122"/>
                <a:cs typeface="Petrona Bold" pitchFamily="34" charset="-120"/>
              </a:rPr>
              <a:t>Select Architecture</a:t>
            </a:r>
            <a:endParaRPr lang="en-US" sz="700" dirty="0"/>
          </a:p>
        </p:txBody>
      </p:sp>
      <p:sp>
        <p:nvSpPr>
          <p:cNvPr id="11" name="Text 8"/>
          <p:cNvSpPr/>
          <p:nvPr/>
        </p:nvSpPr>
        <p:spPr>
          <a:xfrm>
            <a:off x="3087527" y="2533259"/>
            <a:ext cx="1642017" cy="66991"/>
          </a:xfrm>
          <a:prstGeom prst="rect">
            <a:avLst/>
          </a:prstGeom>
          <a:noFill/>
          <a:ln/>
        </p:spPr>
        <p:txBody>
          <a:bodyPr wrap="none" lIns="0" tIns="0" rIns="0" bIns="0" rtlCol="0" anchor="t"/>
          <a:lstStyle/>
          <a:p>
            <a:pPr algn="l" indent="0" marL="0">
              <a:lnSpc>
                <a:spcPct val="86000"/>
              </a:lnSpc>
              <a:buNone/>
            </a:pPr>
            <a:r>
              <a:rPr lang="en-US" sz="500" spc="-10" kern="0" dirty="0">
                <a:solidFill>
                  <a:srgbClr val="272525"/>
                </a:solidFill>
                <a:latin typeface="Inter" pitchFamily="34" charset="0"/>
                <a:ea typeface="Inter" pitchFamily="34" charset="-122"/>
                <a:cs typeface="Inter" pitchFamily="34" charset="-120"/>
              </a:rPr>
              <a:t>CNN for spatial, RNN for sequential</a:t>
            </a:r>
            <a:endParaRPr lang="en-US" sz="500" dirty="0"/>
          </a:p>
        </p:txBody>
      </p:sp>
      <p:sp>
        <p:nvSpPr>
          <p:cNvPr id="12" name="Text 9"/>
          <p:cNvSpPr/>
          <p:nvPr/>
        </p:nvSpPr>
        <p:spPr>
          <a:xfrm>
            <a:off x="3087527" y="2800545"/>
            <a:ext cx="893185" cy="111651"/>
          </a:xfrm>
          <a:prstGeom prst="rect">
            <a:avLst/>
          </a:prstGeom>
          <a:noFill/>
          <a:ln/>
        </p:spPr>
        <p:txBody>
          <a:bodyPr wrap="none" lIns="0" tIns="0" rIns="0" bIns="0" rtlCol="0" anchor="t"/>
          <a:lstStyle/>
          <a:p>
            <a:pPr algn="l" indent="0" marL="0">
              <a:lnSpc>
                <a:spcPct val="104000"/>
              </a:lnSpc>
              <a:buNone/>
            </a:pPr>
            <a:r>
              <a:rPr lang="en-US" sz="700" b="1" spc="-14" kern="0" dirty="0">
                <a:solidFill>
                  <a:srgbClr val="272525"/>
                </a:solidFill>
                <a:latin typeface="Petrona Bold" pitchFamily="34" charset="0"/>
                <a:ea typeface="Petrona Bold" pitchFamily="34" charset="-122"/>
                <a:cs typeface="Petrona Bold" pitchFamily="34" charset="-120"/>
              </a:rPr>
              <a:t>Identify Data Type</a:t>
            </a:r>
            <a:endParaRPr lang="en-US" sz="700" dirty="0"/>
          </a:p>
        </p:txBody>
      </p:sp>
      <p:sp>
        <p:nvSpPr>
          <p:cNvPr id="13" name="Text 10"/>
          <p:cNvSpPr/>
          <p:nvPr/>
        </p:nvSpPr>
        <p:spPr>
          <a:xfrm>
            <a:off x="3087527" y="2941067"/>
            <a:ext cx="1642017" cy="66990"/>
          </a:xfrm>
          <a:prstGeom prst="rect">
            <a:avLst/>
          </a:prstGeom>
          <a:noFill/>
          <a:ln/>
        </p:spPr>
        <p:txBody>
          <a:bodyPr wrap="none" lIns="0" tIns="0" rIns="0" bIns="0" rtlCol="0" anchor="t"/>
          <a:lstStyle/>
          <a:p>
            <a:pPr algn="l" indent="0" marL="0">
              <a:lnSpc>
                <a:spcPct val="86000"/>
              </a:lnSpc>
              <a:buNone/>
            </a:pPr>
            <a:r>
              <a:rPr lang="en-US" sz="500" spc="-10" kern="0" dirty="0">
                <a:solidFill>
                  <a:srgbClr val="272525"/>
                </a:solidFill>
                <a:latin typeface="Inter" pitchFamily="34" charset="0"/>
                <a:ea typeface="Inter" pitchFamily="34" charset="-122"/>
                <a:cs typeface="Inter" pitchFamily="34" charset="-120"/>
              </a:rPr>
              <a:t>Spatial or sequential data</a:t>
            </a:r>
            <a:endParaRPr lang="en-US" sz="500" dirty="0"/>
          </a:p>
        </p:txBody>
      </p:sp>
      <p:sp>
        <p:nvSpPr>
          <p:cNvPr id="14" name="Text 11"/>
          <p:cNvSpPr/>
          <p:nvPr/>
        </p:nvSpPr>
        <p:spPr>
          <a:xfrm>
            <a:off x="852764" y="3341588"/>
            <a:ext cx="5691541" cy="141883"/>
          </a:xfrm>
          <a:prstGeom prst="rect">
            <a:avLst/>
          </a:prstGeom>
          <a:noFill/>
          <a:ln/>
        </p:spPr>
        <p:txBody>
          <a:bodyPr wrap="none" lIns="0" tIns="0" rIns="0" bIns="0" rtlCol="0" anchor="t"/>
          <a:lstStyle/>
          <a:p>
            <a:pPr algn="l" indent="0" marL="0">
              <a:lnSpc>
                <a:spcPct val="110000"/>
              </a:lnSpc>
              <a:buNone/>
            </a:pPr>
            <a:r>
              <a:rPr lang="en-US" sz="800" b="1" spc="-17" kern="0" dirty="0">
                <a:solidFill>
                  <a:srgbClr val="272525"/>
                </a:solidFill>
                <a:latin typeface="Inter Bold" pitchFamily="34" charset="0"/>
                <a:ea typeface="Inter Bold" pitchFamily="34" charset="-122"/>
                <a:cs typeface="Inter Bold" pitchFamily="34" charset="-120"/>
              </a:rPr>
              <a:t>Data Type → Architecture → Application</a:t>
            </a:r>
            <a:endParaRPr lang="en-US" sz="800" dirty="0"/>
          </a:p>
        </p:txBody>
      </p:sp>
      <p:sp>
        <p:nvSpPr>
          <p:cNvPr id="15" name="Shape 12"/>
          <p:cNvSpPr/>
          <p:nvPr/>
        </p:nvSpPr>
        <p:spPr>
          <a:xfrm>
            <a:off x="691537" y="3278783"/>
            <a:ext cx="12700" cy="267494"/>
          </a:xfrm>
          <a:prstGeom prst="roundRect">
            <a:avLst>
              <a:gd name="adj" fmla="val 49999"/>
            </a:avLst>
          </a:prstGeom>
          <a:solidFill>
            <a:srgbClr val="6237C8"/>
          </a:solidFill>
          <a:ln/>
        </p:spPr>
      </p:sp>
      <p:sp>
        <p:nvSpPr>
          <p:cNvPr id="16" name="Text 13"/>
          <p:cNvSpPr/>
          <p:nvPr/>
        </p:nvSpPr>
        <p:spPr>
          <a:xfrm>
            <a:off x="6233262" y="1539677"/>
            <a:ext cx="5303308"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F95F88"/>
                </a:solidFill>
                <a:latin typeface="Petrona Bold" pitchFamily="34" charset="0"/>
                <a:ea typeface="Petrona Bold" pitchFamily="34" charset="-122"/>
                <a:cs typeface="Petrona Bold" pitchFamily="34" charset="-120"/>
              </a:rPr>
              <a:t>Core Principles to Remember</a:t>
            </a:r>
            <a:endParaRPr lang="en-US" sz="1150" dirty="0"/>
          </a:p>
        </p:txBody>
      </p:sp>
      <p:pic>
        <p:nvPicPr>
          <p:cNvPr id="1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3544" y="1806327"/>
            <a:ext cx="161226" cy="161230"/>
          </a:xfrm>
          <a:prstGeom prst="rect">
            <a:avLst/>
          </a:prstGeom>
        </p:spPr>
      </p:pic>
      <p:sp>
        <p:nvSpPr>
          <p:cNvPr id="18" name="Text 14"/>
          <p:cNvSpPr/>
          <p:nvPr/>
        </p:nvSpPr>
        <p:spPr>
          <a:xfrm>
            <a:off x="6582503" y="1803003"/>
            <a:ext cx="4954067"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CNNs for Spatial Data</a:t>
            </a:r>
            <a:endParaRPr lang="en-US" sz="1150" dirty="0"/>
          </a:p>
        </p:txBody>
      </p:sp>
      <p:sp>
        <p:nvSpPr>
          <p:cNvPr id="19" name="Text 15"/>
          <p:cNvSpPr/>
          <p:nvPr/>
        </p:nvSpPr>
        <p:spPr>
          <a:xfrm>
            <a:off x="6582503" y="2057598"/>
            <a:ext cx="4954067"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Learn hierarchical visual features through convolution and weight sharing. Go-to architecture for images and computer vision tasks.</a:t>
            </a:r>
            <a:endParaRPr lang="en-US" sz="800" dirty="0"/>
          </a:p>
        </p:txBody>
      </p:sp>
      <p:pic>
        <p:nvPicPr>
          <p:cNvPr id="20"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73544" y="2484388"/>
            <a:ext cx="161226" cy="161230"/>
          </a:xfrm>
          <a:prstGeom prst="rect">
            <a:avLst/>
          </a:prstGeom>
        </p:spPr>
      </p:pic>
      <p:sp>
        <p:nvSpPr>
          <p:cNvPr id="21" name="Text 16"/>
          <p:cNvSpPr/>
          <p:nvPr/>
        </p:nvSpPr>
        <p:spPr>
          <a:xfrm>
            <a:off x="6582503" y="2481064"/>
            <a:ext cx="4954067"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RNNs for Sequential Data</a:t>
            </a:r>
            <a:endParaRPr lang="en-US" sz="1150" dirty="0"/>
          </a:p>
        </p:txBody>
      </p:sp>
      <p:sp>
        <p:nvSpPr>
          <p:cNvPr id="22" name="Text 17"/>
          <p:cNvSpPr/>
          <p:nvPr/>
        </p:nvSpPr>
        <p:spPr>
          <a:xfrm>
            <a:off x="6582503" y="2735659"/>
            <a:ext cx="4954067"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Capture temporal dependencies through recurrent connections and hidden state. Essential for text, speech, and time series.</a:t>
            </a:r>
            <a:endParaRPr lang="en-US" sz="800" dirty="0"/>
          </a:p>
        </p:txBody>
      </p:sp>
      <p:pic>
        <p:nvPicPr>
          <p:cNvPr id="23"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73544" y="3162449"/>
            <a:ext cx="161226" cy="161230"/>
          </a:xfrm>
          <a:prstGeom prst="rect">
            <a:avLst/>
          </a:prstGeom>
        </p:spPr>
      </p:pic>
      <p:sp>
        <p:nvSpPr>
          <p:cNvPr id="24" name="Text 18"/>
          <p:cNvSpPr/>
          <p:nvPr/>
        </p:nvSpPr>
        <p:spPr>
          <a:xfrm>
            <a:off x="6582503" y="3159125"/>
            <a:ext cx="4954067"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Use Advanced Variants</a:t>
            </a:r>
            <a:endParaRPr lang="en-US" sz="1150" dirty="0"/>
          </a:p>
        </p:txBody>
      </p:sp>
      <p:sp>
        <p:nvSpPr>
          <p:cNvPr id="25" name="Text 19"/>
          <p:cNvSpPr/>
          <p:nvPr/>
        </p:nvSpPr>
        <p:spPr>
          <a:xfrm>
            <a:off x="6582503" y="3413720"/>
            <a:ext cx="4954067"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LSTM and GRU solve the vanishing gradient problem. ResNet and EfficientNet address CNN depth and efficiency. Always prefer these over vanilla architectures.</a:t>
            </a:r>
            <a:endParaRPr lang="en-US" sz="800" dirty="0"/>
          </a:p>
        </p:txBody>
      </p:sp>
      <p:pic>
        <p:nvPicPr>
          <p:cNvPr id="26"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73544" y="3840510"/>
            <a:ext cx="161226" cy="161230"/>
          </a:xfrm>
          <a:prstGeom prst="rect">
            <a:avLst/>
          </a:prstGeom>
        </p:spPr>
      </p:pic>
      <p:sp>
        <p:nvSpPr>
          <p:cNvPr id="27" name="Text 20"/>
          <p:cNvSpPr/>
          <p:nvPr/>
        </p:nvSpPr>
        <p:spPr>
          <a:xfrm>
            <a:off x="6582503" y="3837186"/>
            <a:ext cx="4954067"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Hybrid Approaches Exist</a:t>
            </a:r>
            <a:endParaRPr lang="en-US" sz="1150" dirty="0"/>
          </a:p>
        </p:txBody>
      </p:sp>
      <p:sp>
        <p:nvSpPr>
          <p:cNvPr id="28" name="Text 21"/>
          <p:cNvSpPr/>
          <p:nvPr/>
        </p:nvSpPr>
        <p:spPr>
          <a:xfrm>
            <a:off x="6582503" y="4091781"/>
            <a:ext cx="4954067" cy="283766"/>
          </a:xfrm>
          <a:prstGeom prst="rect">
            <a:avLst/>
          </a:prstGeom>
          <a:noFill/>
          <a:ln/>
        </p:spPr>
        <p:txBody>
          <a:bodyPr wrap="square" lIns="0" tIns="0" rIns="0" bIns="0" rtlCol="0" anchor="t">
            <a:normAutofit/>
          </a:bodyPr>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CNN-RNN combinations power image captioning, video analysis, and visual question answering — the real world rarely fits one paradigm cleanly.</a:t>
            </a:r>
            <a:endParaRPr lang="en-US" sz="800" dirty="0"/>
          </a:p>
        </p:txBody>
      </p:sp>
      <p:sp>
        <p:nvSpPr>
          <p:cNvPr id="29" name="Text 22"/>
          <p:cNvSpPr/>
          <p:nvPr/>
        </p:nvSpPr>
        <p:spPr>
          <a:xfrm>
            <a:off x="6233262" y="4454128"/>
            <a:ext cx="5303308"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F95F88"/>
                </a:solidFill>
                <a:latin typeface="Petrona Bold" pitchFamily="34" charset="0"/>
                <a:ea typeface="Petrona Bold" pitchFamily="34" charset="-122"/>
                <a:cs typeface="Petrona Bold" pitchFamily="34" charset="-120"/>
              </a:rPr>
              <a:t>Practical Checklist</a:t>
            </a:r>
            <a:endParaRPr lang="en-US" sz="1150" dirty="0"/>
          </a:p>
        </p:txBody>
      </p:sp>
      <p:sp>
        <p:nvSpPr>
          <p:cNvPr id="30" name="Shape 23"/>
          <p:cNvSpPr/>
          <p:nvPr/>
        </p:nvSpPr>
        <p:spPr>
          <a:xfrm>
            <a:off x="6233262" y="4717455"/>
            <a:ext cx="2616730" cy="636786"/>
          </a:xfrm>
          <a:prstGeom prst="roundRect">
            <a:avLst>
              <a:gd name="adj" fmla="val 7091"/>
            </a:avLst>
          </a:prstGeom>
          <a:solidFill>
            <a:srgbClr val="FDFAF7"/>
          </a:solidFill>
          <a:ln w="12700">
            <a:solidFill>
              <a:srgbClr val="C6BDDA"/>
            </a:solidFill>
            <a:prstDash val="solid"/>
          </a:ln>
        </p:spPr>
      </p:sp>
      <p:sp>
        <p:nvSpPr>
          <p:cNvPr id="31" name="Text 24"/>
          <p:cNvSpPr/>
          <p:nvPr/>
        </p:nvSpPr>
        <p:spPr>
          <a:xfrm>
            <a:off x="6353413" y="4837609"/>
            <a:ext cx="2376428"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Task Type</a:t>
            </a:r>
            <a:endParaRPr lang="en-US" sz="1150" dirty="0"/>
          </a:p>
        </p:txBody>
      </p:sp>
      <p:sp>
        <p:nvSpPr>
          <p:cNvPr id="32" name="Text 25"/>
          <p:cNvSpPr/>
          <p:nvPr/>
        </p:nvSpPr>
        <p:spPr>
          <a:xfrm>
            <a:off x="6353413" y="5092204"/>
            <a:ext cx="2376428" cy="141883"/>
          </a:xfrm>
          <a:prstGeom prst="rect">
            <a:avLst/>
          </a:prstGeom>
          <a:noFill/>
          <a:ln/>
        </p:spPr>
        <p:txBody>
          <a:bodyPr wrap="none" lIns="0" tIns="0" rIns="0" bIns="0" rtlCol="0" anchor="t"/>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Classification, detection, translation, generation?</a:t>
            </a:r>
            <a:endParaRPr lang="en-US" sz="800" dirty="0"/>
          </a:p>
        </p:txBody>
      </p:sp>
      <p:sp>
        <p:nvSpPr>
          <p:cNvPr id="33" name="Shape 26"/>
          <p:cNvSpPr/>
          <p:nvPr/>
        </p:nvSpPr>
        <p:spPr>
          <a:xfrm>
            <a:off x="8919840" y="4717455"/>
            <a:ext cx="2616730" cy="636786"/>
          </a:xfrm>
          <a:prstGeom prst="roundRect">
            <a:avLst>
              <a:gd name="adj" fmla="val 7091"/>
            </a:avLst>
          </a:prstGeom>
          <a:solidFill>
            <a:srgbClr val="FDFAF7"/>
          </a:solidFill>
          <a:ln w="12700">
            <a:solidFill>
              <a:srgbClr val="C6BDDA"/>
            </a:solidFill>
            <a:prstDash val="solid"/>
          </a:ln>
        </p:spPr>
      </p:sp>
      <p:sp>
        <p:nvSpPr>
          <p:cNvPr id="34" name="Text 27"/>
          <p:cNvSpPr/>
          <p:nvPr/>
        </p:nvSpPr>
        <p:spPr>
          <a:xfrm>
            <a:off x="9039991" y="4837609"/>
            <a:ext cx="2376428"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Data Structure</a:t>
            </a:r>
            <a:endParaRPr lang="en-US" sz="1150" dirty="0"/>
          </a:p>
        </p:txBody>
      </p:sp>
      <p:sp>
        <p:nvSpPr>
          <p:cNvPr id="35" name="Text 28"/>
          <p:cNvSpPr/>
          <p:nvPr/>
        </p:nvSpPr>
        <p:spPr>
          <a:xfrm>
            <a:off x="9039991" y="5092204"/>
            <a:ext cx="2376428" cy="141883"/>
          </a:xfrm>
          <a:prstGeom prst="rect">
            <a:avLst/>
          </a:prstGeom>
          <a:noFill/>
          <a:ln/>
        </p:spPr>
        <p:txBody>
          <a:bodyPr wrap="none" lIns="0" tIns="0" rIns="0" bIns="0" rtlCol="0" anchor="t"/>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Spatial, sequential, or both?</a:t>
            </a:r>
            <a:endParaRPr lang="en-US" sz="800" dirty="0"/>
          </a:p>
        </p:txBody>
      </p:sp>
      <p:sp>
        <p:nvSpPr>
          <p:cNvPr id="36" name="Shape 29"/>
          <p:cNvSpPr/>
          <p:nvPr/>
        </p:nvSpPr>
        <p:spPr>
          <a:xfrm>
            <a:off x="6233262" y="5424091"/>
            <a:ext cx="5303308" cy="636786"/>
          </a:xfrm>
          <a:prstGeom prst="roundRect">
            <a:avLst>
              <a:gd name="adj" fmla="val 7091"/>
            </a:avLst>
          </a:prstGeom>
          <a:solidFill>
            <a:srgbClr val="FDFAF7"/>
          </a:solidFill>
          <a:ln w="12700">
            <a:solidFill>
              <a:srgbClr val="C6BDDA"/>
            </a:solidFill>
            <a:prstDash val="solid"/>
          </a:ln>
        </p:spPr>
      </p:sp>
      <p:sp>
        <p:nvSpPr>
          <p:cNvPr id="37" name="Text 30"/>
          <p:cNvSpPr/>
          <p:nvPr/>
        </p:nvSpPr>
        <p:spPr>
          <a:xfrm>
            <a:off x="6353413" y="5544245"/>
            <a:ext cx="5063006" cy="184745"/>
          </a:xfrm>
          <a:prstGeom prst="rect">
            <a:avLst/>
          </a:prstGeom>
          <a:noFill/>
          <a:ln/>
        </p:spPr>
        <p:txBody>
          <a:bodyPr wrap="none" lIns="0" tIns="0" rIns="0" bIns="0" rtlCol="0" anchor="t"/>
          <a:lstStyle/>
          <a:p>
            <a:pPr algn="l" indent="0" marL="0">
              <a:lnSpc>
                <a:spcPct val="104000"/>
              </a:lnSpc>
              <a:buNone/>
            </a:pPr>
            <a:r>
              <a:rPr lang="en-US" sz="1150" b="1" spc="-23" kern="0" dirty="0">
                <a:solidFill>
                  <a:srgbClr val="272525"/>
                </a:solidFill>
                <a:latin typeface="Petrona Bold" pitchFamily="34" charset="0"/>
                <a:ea typeface="Petrona Bold" pitchFamily="34" charset="-122"/>
                <a:cs typeface="Petrona Bold" pitchFamily="34" charset="-120"/>
              </a:rPr>
              <a:t>Compute Budget</a:t>
            </a:r>
            <a:endParaRPr lang="en-US" sz="1150" dirty="0"/>
          </a:p>
        </p:txBody>
      </p:sp>
      <p:sp>
        <p:nvSpPr>
          <p:cNvPr id="38" name="Text 31"/>
          <p:cNvSpPr/>
          <p:nvPr/>
        </p:nvSpPr>
        <p:spPr>
          <a:xfrm>
            <a:off x="6353413" y="5798840"/>
            <a:ext cx="5063006" cy="141883"/>
          </a:xfrm>
          <a:prstGeom prst="rect">
            <a:avLst/>
          </a:prstGeom>
          <a:noFill/>
          <a:ln/>
        </p:spPr>
        <p:txBody>
          <a:bodyPr wrap="none" lIns="0" tIns="0" rIns="0" bIns="0" rtlCol="0" anchor="t"/>
          <a:lstStyle/>
          <a:p>
            <a:pPr algn="l" indent="0" marL="0">
              <a:lnSpc>
                <a:spcPct val="110000"/>
              </a:lnSpc>
              <a:buNone/>
            </a:pPr>
            <a:r>
              <a:rPr lang="en-US" sz="800" spc="-17" kern="0" dirty="0">
                <a:solidFill>
                  <a:srgbClr val="272525"/>
                </a:solidFill>
                <a:latin typeface="Inter" pitchFamily="34" charset="0"/>
                <a:ea typeface="Inter" pitchFamily="34" charset="-122"/>
                <a:cs typeface="Inter" pitchFamily="34" charset="-120"/>
              </a:rPr>
              <a:t>Lightweight (MobileNet, GRU) vs. high-accuracy (ResNet, LSTM)?</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2026-09-16T05:05:28Z</dcterms:created>
  <dcterms:modified xsi:type="dcterms:W3CDTF">2026-09-16T05:05:28Z</dcterms:modified>
</cp:coreProperties>
</file>