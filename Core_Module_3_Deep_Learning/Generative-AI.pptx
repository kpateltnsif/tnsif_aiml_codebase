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Petron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1.png"/><Relationship Id="rId5" Type="http://schemas.openxmlformats.org/officeDocument/2006/relationships/image" Target="../media/image-3-2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1.png"/><Relationship Id="rId9" Type="http://schemas.openxmlformats.org/officeDocument/2006/relationships/image" Target="../media/image-3-2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7.png"/><Relationship Id="rId10" Type="http://schemas.openxmlformats.org/officeDocument/2006/relationships/image" Target="../media/image-6-8.sv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44353"/>
            <a:ext cx="6296860" cy="568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spc="-7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Generative AI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233360" y="3260923"/>
            <a:ext cx="6296860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spc="-26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GANs &amp; VAEs to Transformers &amp; LLMs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How Machines Generate New Content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4162227"/>
            <a:ext cx="2190100" cy="251420"/>
          </a:xfrm>
          <a:prstGeom prst="roundRect">
            <a:avLst>
              <a:gd name="adj" fmla="val 22103"/>
            </a:avLst>
          </a:prstGeom>
          <a:solidFill>
            <a:srgbClr val="E0D7F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577" y="4221758"/>
            <a:ext cx="132255" cy="1322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30910" y="4211836"/>
            <a:ext cx="240291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B.TECH ML/AI/DATA SCIENCE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506108" y="4162227"/>
            <a:ext cx="1054867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6237C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05324" y="4211836"/>
            <a:ext cx="146602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6" kern="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7602"/>
            <a:ext cx="10868745" cy="454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5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Is Generative AI?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566227" y="1591072"/>
            <a:ext cx="5239710" cy="3712666"/>
          </a:xfrm>
          <a:prstGeom prst="roundRect">
            <a:avLst>
              <a:gd name="adj" fmla="val 2566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98483" y="1696839"/>
            <a:ext cx="4975200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Traditional AI / ML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98483" y="2030016"/>
            <a:ext cx="55847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→ Model → Prediction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8091" y="2343646"/>
            <a:ext cx="198433" cy="1984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8387" y="2339578"/>
            <a:ext cx="4545296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8387" y="2672755"/>
            <a:ext cx="45452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→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</a:t>
            </a:r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Dog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091" y="3078956"/>
            <a:ext cx="198433" cy="1984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8387" y="3074888"/>
            <a:ext cx="4545296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28387" y="3408065"/>
            <a:ext cx="45452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→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Spam</a:t>
            </a:r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Not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8091" y="3814266"/>
            <a:ext cx="198433" cy="1984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28387" y="3810198"/>
            <a:ext cx="4545296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Fraud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28387" y="4143375"/>
            <a:ext cx="45452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→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Score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98483" y="4452938"/>
            <a:ext cx="558478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spc="-2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models classify or label existing inputs.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039691" y="1696839"/>
            <a:ext cx="5496780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Generative AI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039691" y="2030016"/>
            <a:ext cx="61063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Prompt → Model →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NEW CONTENT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9691" y="2362696"/>
            <a:ext cx="198433" cy="1984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43888" y="2368451"/>
            <a:ext cx="519258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Text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343888" y="2701627"/>
            <a:ext cx="51925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Articles, answers, summaries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39691" y="3126879"/>
            <a:ext cx="198433" cy="19843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43888" y="3132634"/>
            <a:ext cx="519258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Image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343888" y="3465810"/>
            <a:ext cx="51925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Photorealistic or stylized visuals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39691" y="3891062"/>
            <a:ext cx="198433" cy="19843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343888" y="3896816"/>
            <a:ext cx="519258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Audio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343888" y="4229993"/>
            <a:ext cx="51925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Voice, music, sound effects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39691" y="4655245"/>
            <a:ext cx="198433" cy="19843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343888" y="4660999"/>
            <a:ext cx="519258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Code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6343888" y="4994176"/>
            <a:ext cx="51925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Functions, scripts, full programs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661475" y="5422801"/>
            <a:ext cx="10868745" cy="457597"/>
          </a:xfrm>
          <a:prstGeom prst="roundRect">
            <a:avLst>
              <a:gd name="adj" fmla="val 12144"/>
            </a:avLst>
          </a:prstGeom>
          <a:solidFill>
            <a:srgbClr val="E0D7F4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3730" y="5579170"/>
            <a:ext cx="165294" cy="132259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091280" y="5561608"/>
            <a:ext cx="1091627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Distinction:</a:t>
            </a:r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Generative models learn the underlying distribution of training data and sample </a:t>
            </a:r>
            <a:pPr algn="l" indent="0" marL="0">
              <a:lnSpc>
                <a:spcPct val="120000"/>
              </a:lnSpc>
              <a:buNone/>
            </a:pPr>
            <a:r>
              <a:rPr lang="en-US" sz="1000" i="1" spc="-2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outputs — they do not retrieve or classify existing examples.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3630"/>
            <a:ext cx="10868745" cy="568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spc="-7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Do Generative Models Work?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61475" y="168284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major architectural families power modern generative AI — each with a distinct learning strategy: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33501"/>
            <a:ext cx="3512653" cy="332501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781" y="2273300"/>
            <a:ext cx="248041" cy="2480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5819" y="2813943"/>
            <a:ext cx="3143965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3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GANs — Generative Adversarial Networks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845819" y="3481685"/>
            <a:ext cx="3143965" cy="179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Mechanism: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Generator vs. Discriminator adversarial competition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Noise → Generator → Fake Image 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spc="-2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Discriminator → Feedback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use:</a:t>
            </a:r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High-fidelity image synthesis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9422" y="2133501"/>
            <a:ext cx="3512752" cy="332501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1728" y="2273300"/>
            <a:ext cx="248041" cy="24804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23766" y="2813943"/>
            <a:ext cx="3144064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3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VAEs — Variational Autoencoders</a:t>
            </a:r>
            <a:endParaRPr lang="en-US" sz="1750" dirty="0"/>
          </a:p>
        </p:txBody>
      </p:sp>
      <p:sp>
        <p:nvSpPr>
          <p:cNvPr id="11" name="Text 5"/>
          <p:cNvSpPr/>
          <p:nvPr/>
        </p:nvSpPr>
        <p:spPr>
          <a:xfrm>
            <a:off x="4523766" y="3481685"/>
            <a:ext cx="3144064" cy="1786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Mechanism: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Encode → Latent Space → Decode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Input → Encoder → Latent Z → Decoder → Reconstruction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use:</a:t>
            </a:r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Representation learning &amp; controllable generation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17468" y="2133501"/>
            <a:ext cx="3512653" cy="3325019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49774" y="2273300"/>
            <a:ext cx="248041" cy="24804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01812" y="2813943"/>
            <a:ext cx="3143965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3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LLMs — Large Language Models</a:t>
            </a:r>
            <a:endParaRPr lang="en-US" sz="1750" dirty="0"/>
          </a:p>
        </p:txBody>
      </p:sp>
      <p:sp>
        <p:nvSpPr>
          <p:cNvPr id="15" name="Text 7"/>
          <p:cNvSpPr/>
          <p:nvPr/>
        </p:nvSpPr>
        <p:spPr>
          <a:xfrm>
            <a:off x="8201812" y="3481685"/>
            <a:ext cx="3143965" cy="1786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Mechanism: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Transformer-based next-token prediction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Tokens → Transformer Blocks → Next-Token Probabilities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use:</a:t>
            </a:r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Text &amp; code generation at scale</a:t>
            </a:r>
            <a:endParaRPr lang="en-US" sz="1300" dirty="0"/>
          </a:p>
        </p:txBody>
      </p:sp>
      <p:sp>
        <p:nvSpPr>
          <p:cNvPr id="16" name="Text 8"/>
          <p:cNvSpPr/>
          <p:nvPr/>
        </p:nvSpPr>
        <p:spPr>
          <a:xfrm>
            <a:off x="661475" y="5644555"/>
            <a:ext cx="10868745" cy="429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6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Modern context (2026):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Diffusion models, autoregressive multimodal models, and mixture-of-experts architectures have also become prominent. GANs, VAEs, and Transformers remain the foundational building blocks.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79538"/>
            <a:ext cx="10868745" cy="36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4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GANs — Two Networks Compete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923752"/>
            <a:ext cx="3967559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Adversarial Framework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178348"/>
            <a:ext cx="3967559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networks train simultaneously in direct competition — the result is progressively more realistic output.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61475" y="2540695"/>
            <a:ext cx="3967559" cy="835124"/>
          </a:xfrm>
          <a:prstGeom prst="roundRect">
            <a:avLst>
              <a:gd name="adj" fmla="val 540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5276" y="2654498"/>
            <a:ext cx="373995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🎭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Generator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5276" y="2915444"/>
            <a:ext cx="3739957" cy="346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Noise → Fake Image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Fool the discriminator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61475" y="3445669"/>
            <a:ext cx="3967559" cy="835124"/>
          </a:xfrm>
          <a:prstGeom prst="roundRect">
            <a:avLst>
              <a:gd name="adj" fmla="val 540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5276" y="3559473"/>
            <a:ext cx="373995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Discriminator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5276" y="3820418"/>
            <a:ext cx="3739957" cy="346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→ Real or Fake?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Catch the generator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1475" y="4359374"/>
            <a:ext cx="3967559" cy="227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ends at </a:t>
            </a:r>
            <a:pPr algn="l" indent="0" marL="0">
              <a:lnSpc>
                <a:spcPct val="110000"/>
              </a:lnSpc>
              <a:buNone/>
            </a:pPr>
            <a:r>
              <a:rPr lang="en-US" sz="65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Nash Equilibrium</a:t>
            </a:r>
            <a:pPr algn="l" indent="0" marL="0">
              <a:lnSpc>
                <a:spcPct val="110000"/>
              </a:lnSpc>
              <a:buNone/>
            </a:pPr>
            <a:r>
              <a:rPr lang="en-US" sz="6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Generator produces samples the Discriminator cannot distinguish from real data.</a:t>
            </a:r>
            <a:endParaRPr lang="en-US" sz="6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9336" y="1932484"/>
            <a:ext cx="4315312" cy="169177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62617" y="2015452"/>
            <a:ext cx="789966" cy="13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Random Noise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481322" y="2015452"/>
            <a:ext cx="789967" cy="27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Generator → Fake Image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481322" y="3261937"/>
            <a:ext cx="789967" cy="27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Discriminator Decision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162617" y="3261937"/>
            <a:ext cx="789966" cy="27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Feedback: Improve</a:t>
            </a:r>
            <a:endParaRPr lang="en-US" sz="8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727773"/>
            <a:ext cx="5399449" cy="75068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32424" y="4847927"/>
            <a:ext cx="510834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 Dynamics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32424" y="5074543"/>
            <a:ext cx="5108348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iteration the Generator gets better at deception; the Discriminator gets better at detection. This arms-race dynamic drives quality upward over thousands of training steps.</a:t>
            </a:r>
            <a:endParaRPr lang="en-US" sz="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0772" y="4727773"/>
            <a:ext cx="5399449" cy="75068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1721" y="4847927"/>
            <a:ext cx="510834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Known Challenges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301721" y="5074543"/>
            <a:ext cx="5108348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instability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(loss divergence),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 collapse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(Generator produces limited variety), and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sensitive hyperparameter tuning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well-documented failure modes.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9943"/>
            <a:ext cx="10868745" cy="36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4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VAEs — Learning a Meaningful Latent Space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6974" y="1842889"/>
            <a:ext cx="3808813" cy="16424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43290" y="3168482"/>
            <a:ext cx="950488" cy="118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spc="-15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Decoder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943290" y="2788278"/>
            <a:ext cx="950488" cy="118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spc="-15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Latent Space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943290" y="2411914"/>
            <a:ext cx="950488" cy="118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spc="-15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Encoder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943290" y="2031709"/>
            <a:ext cx="950488" cy="118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spc="-15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 Image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789766" y="1834158"/>
            <a:ext cx="4746705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Three Conceptual Stages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97217" y="2258715"/>
            <a:ext cx="107451" cy="483691"/>
          </a:xfrm>
          <a:prstGeom prst="roundRect">
            <a:avLst>
              <a:gd name="adj" fmla="val 42021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82067" y="2204938"/>
            <a:ext cx="4354404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Encoder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182067" y="2459534"/>
            <a:ext cx="4354404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Compresses high-dimensional input into a compact latent vector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058444" y="2973586"/>
            <a:ext cx="107451" cy="591939"/>
          </a:xfrm>
          <a:prstGeom prst="roundRect">
            <a:avLst>
              <a:gd name="adj" fmla="val 42021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43294" y="2919809"/>
            <a:ext cx="419317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Latent Space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343294" y="3174405"/>
            <a:ext cx="4193177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representation capturing Pose, Style, Shape, Appearance as continuous dimensions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219670" y="3796705"/>
            <a:ext cx="107451" cy="483691"/>
          </a:xfrm>
          <a:prstGeom prst="roundRect">
            <a:avLst>
              <a:gd name="adj" fmla="val 42021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04520" y="3742928"/>
            <a:ext cx="403195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Decoder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504520" y="3997523"/>
            <a:ext cx="4031951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Reconstructs or generates new samples from any sampled latent point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61475" y="4437658"/>
            <a:ext cx="3576350" cy="1130300"/>
          </a:xfrm>
          <a:prstGeom prst="roundRect">
            <a:avLst>
              <a:gd name="adj" fmla="val 3995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5276" y="4551462"/>
            <a:ext cx="322453" cy="322461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975" y="4640163"/>
            <a:ext cx="145054" cy="14505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75276" y="4943773"/>
            <a:ext cx="334874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Interpolation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775276" y="5170388"/>
            <a:ext cx="3348747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between Face A and Face B in latent space → generate smooth intermediate faces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307673" y="4437658"/>
            <a:ext cx="3576350" cy="1130300"/>
          </a:xfrm>
          <a:prstGeom prst="roundRect">
            <a:avLst>
              <a:gd name="adj" fmla="val 3995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421474" y="4551462"/>
            <a:ext cx="322453" cy="322461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0173" y="4640163"/>
            <a:ext cx="145054" cy="14505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421474" y="4943773"/>
            <a:ext cx="334874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Attribute Manipulation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421474" y="5170388"/>
            <a:ext cx="3348747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a single latent dimension → change only one visual property (e.g., age, expression)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7953871" y="4437658"/>
            <a:ext cx="3576350" cy="1130300"/>
          </a:xfrm>
          <a:prstGeom prst="roundRect">
            <a:avLst>
              <a:gd name="adj" fmla="val 3995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067672" y="4551462"/>
            <a:ext cx="322453" cy="322461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56371" y="4640163"/>
            <a:ext cx="145054" cy="14505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067672" y="4943773"/>
            <a:ext cx="334874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Novel Generation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8067672" y="5170388"/>
            <a:ext cx="3348747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a random point from latent space → Decoder produces an entirely new image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6789766" y="2188170"/>
            <a:ext cx="322453" cy="322461"/>
          </a:xfrm>
          <a:prstGeom prst="ellipse">
            <a:avLst/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70330" y="2268835"/>
            <a:ext cx="161226" cy="16123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950993" y="2903041"/>
            <a:ext cx="322453" cy="322461"/>
          </a:xfrm>
          <a:prstGeom prst="ellipse">
            <a:avLst/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31556" y="2983706"/>
            <a:ext cx="161226" cy="16123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7112219" y="3726160"/>
            <a:ext cx="322453" cy="322461"/>
          </a:xfrm>
          <a:prstGeom prst="ellipse">
            <a:avLst/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92783" y="3806825"/>
            <a:ext cx="161226" cy="1612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4001"/>
            <a:ext cx="10868745" cy="397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spc="-5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Can Machines Generate New Images?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613991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GANs and VAEs represent two distinct philosophies for image generation — each with characteristic strengths and failure modes.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78133" y="1862534"/>
            <a:ext cx="5459871" cy="3323828"/>
          </a:xfrm>
          <a:prstGeom prst="roundRect">
            <a:avLst>
              <a:gd name="adj" fmla="val 2508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93819" y="1943497"/>
            <a:ext cx="5228499" cy="19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GAN Approach — Adversarial Learning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124" y="2233513"/>
            <a:ext cx="3659890" cy="1578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24392" y="3507297"/>
            <a:ext cx="913339" cy="11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spc="-14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 or Fake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724392" y="3141952"/>
            <a:ext cx="913339" cy="11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spc="-14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Discriminator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724392" y="2780298"/>
            <a:ext cx="913339" cy="11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spc="-14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Generator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724392" y="2414953"/>
            <a:ext cx="913339" cy="11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spc="-14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Noise Input</a:t>
            </a:r>
            <a:endParaRPr lang="en-US" sz="7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819" y="3902869"/>
            <a:ext cx="2573769" cy="10154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3004" y="4031258"/>
            <a:ext cx="2266199" cy="20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Strengths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73004" y="4317504"/>
            <a:ext cx="2266199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Highly photorealistic outputs; strong record in image synthesis, super-resolution, and style transfer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48549" y="3902869"/>
            <a:ext cx="2573769" cy="10154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7734" y="4031258"/>
            <a:ext cx="2266199" cy="20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Limitations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527734" y="4317504"/>
            <a:ext cx="226619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instability; mode collapse; requires careful hyperparameter balancing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243382" y="1943497"/>
            <a:ext cx="5293188" cy="19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VAE Approach — Latent Representation</a:t>
            </a:r>
            <a:endParaRPr lang="en-US" sz="12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7311" y="2233513"/>
            <a:ext cx="3705232" cy="15978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86636" y="3523072"/>
            <a:ext cx="924650" cy="115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spc="-15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Decoder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7286636" y="3153203"/>
            <a:ext cx="924650" cy="115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spc="-15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Latent Z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7286636" y="2787070"/>
            <a:ext cx="924650" cy="115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spc="-15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Encoder</a:t>
            </a:r>
            <a:endParaRPr lang="en-US" sz="700" dirty="0"/>
          </a:p>
        </p:txBody>
      </p:sp>
      <p:sp>
        <p:nvSpPr>
          <p:cNvPr id="22" name="Text 16"/>
          <p:cNvSpPr/>
          <p:nvPr/>
        </p:nvSpPr>
        <p:spPr>
          <a:xfrm>
            <a:off x="7286636" y="2417200"/>
            <a:ext cx="924650" cy="115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spc="-15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</a:t>
            </a:r>
            <a:endParaRPr lang="en-US" sz="7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3382" y="3922415"/>
            <a:ext cx="2606114" cy="117286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22567" y="4050804"/>
            <a:ext cx="2298543" cy="20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Strengths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422567" y="4337050"/>
            <a:ext cx="2298543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Structured, continuous latent space; smooth interpolation; useful for representation learning and downstream tasks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30456" y="3922415"/>
            <a:ext cx="2606114" cy="117286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09641" y="4050804"/>
            <a:ext cx="2298543" cy="20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Limitations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9109641" y="4337050"/>
            <a:ext cx="229854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outputs sometimes appear blurrier or less sharp compared to GAN outputs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661475" y="5277445"/>
            <a:ext cx="10868745" cy="526554"/>
          </a:xfrm>
          <a:prstGeom prst="roundRect">
            <a:avLst>
              <a:gd name="adj" fmla="val 9235"/>
            </a:avLst>
          </a:prstGeom>
          <a:solidFill>
            <a:srgbClr val="B6D6FC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161" y="5393928"/>
            <a:ext cx="144657" cy="11568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37505" y="5387280"/>
            <a:ext cx="1037702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spc="-18" kern="0" dirty="0">
                <a:solidFill>
                  <a:srgbClr val="06B6D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Modern Context (2026):</a:t>
            </a:r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GANs and VAEs are foundational and remain widely studied. Modern production image generation (Stable Diffusion, DALL-E, Midjourney) predominantly uses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diffusion models</a:t>
            </a:r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 important architectural development that builds on these foundations.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3477"/>
            <a:ext cx="10868745" cy="36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4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Next-Word Prediction to Text Generation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2007691"/>
            <a:ext cx="4746705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Autoregressive Generation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262287"/>
            <a:ext cx="4746705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generation is an incremental, token-by-token process. At each step, the model uses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all previous tokens as context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predict the most likely next token.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24634"/>
            <a:ext cx="537455" cy="64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8778" y="2732088"/>
            <a:ext cx="413940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Context Window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268778" y="2986683"/>
            <a:ext cx="413940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previously generated tokens fed as input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269655"/>
            <a:ext cx="537455" cy="6450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8778" y="3377109"/>
            <a:ext cx="413940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Scores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268778" y="3631704"/>
            <a:ext cx="413940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Assigns probability to every token in vocabulary</a:t>
            </a:r>
            <a:endParaRPr lang="en-US" sz="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914676"/>
            <a:ext cx="537455" cy="6450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8778" y="4022130"/>
            <a:ext cx="413940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Token Selected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268778" y="4276725"/>
            <a:ext cx="413940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probability (or sampled) token appended</a:t>
            </a:r>
            <a:endParaRPr lang="en-US" sz="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559697"/>
            <a:ext cx="537455" cy="6450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8778" y="4667151"/>
            <a:ext cx="413940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Repeat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1268778" y="4921746"/>
            <a:ext cx="413940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token joins context → process restarts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5676659" y="2007691"/>
            <a:ext cx="585981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Token-by-Token Visualization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600165" y="2271018"/>
            <a:ext cx="12700" cy="2503289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19" name="Shape 13"/>
          <p:cNvSpPr/>
          <p:nvPr/>
        </p:nvSpPr>
        <p:spPr>
          <a:xfrm>
            <a:off x="8404213" y="2385516"/>
            <a:ext cx="215002" cy="1270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20" name="Shape 14"/>
          <p:cNvSpPr/>
          <p:nvPr/>
        </p:nvSpPr>
        <p:spPr>
          <a:xfrm>
            <a:off x="8566233" y="2351584"/>
            <a:ext cx="80564" cy="80566"/>
          </a:xfrm>
          <a:prstGeom prst="ellipse">
            <a:avLst/>
          </a:prstGeom>
          <a:solidFill>
            <a:srgbClr val="6237C8"/>
          </a:solidFill>
          <a:ln/>
        </p:spPr>
      </p:sp>
      <p:sp>
        <p:nvSpPr>
          <p:cNvPr id="21" name="Text 15"/>
          <p:cNvSpPr/>
          <p:nvPr/>
        </p:nvSpPr>
        <p:spPr>
          <a:xfrm>
            <a:off x="5676659" y="2307927"/>
            <a:ext cx="2499853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06B6D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676659" y="2562523"/>
            <a:ext cx="249985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token generated from prompt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8593815" y="2955230"/>
            <a:ext cx="215002" cy="1270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24" name="Shape 18"/>
          <p:cNvSpPr/>
          <p:nvPr/>
        </p:nvSpPr>
        <p:spPr>
          <a:xfrm>
            <a:off x="8566233" y="2921298"/>
            <a:ext cx="80564" cy="80566"/>
          </a:xfrm>
          <a:prstGeom prst="ellipse">
            <a:avLst/>
          </a:prstGeom>
          <a:solidFill>
            <a:srgbClr val="6237C8"/>
          </a:solidFill>
          <a:ln/>
        </p:spPr>
      </p:sp>
      <p:sp>
        <p:nvSpPr>
          <p:cNvPr id="25" name="Text 19"/>
          <p:cNvSpPr/>
          <p:nvPr/>
        </p:nvSpPr>
        <p:spPr>
          <a:xfrm>
            <a:off x="9036518" y="2877641"/>
            <a:ext cx="249995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06B6D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capital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036518" y="3132237"/>
            <a:ext cx="249995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token: "capital" predicted from "The"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8404213" y="3473549"/>
            <a:ext cx="215002" cy="1270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28" name="Shape 22"/>
          <p:cNvSpPr/>
          <p:nvPr/>
        </p:nvSpPr>
        <p:spPr>
          <a:xfrm>
            <a:off x="8566233" y="3439616"/>
            <a:ext cx="80564" cy="80566"/>
          </a:xfrm>
          <a:prstGeom prst="ellipse">
            <a:avLst/>
          </a:prstGeom>
          <a:solidFill>
            <a:srgbClr val="6237C8"/>
          </a:solidFill>
          <a:ln/>
        </p:spPr>
      </p:sp>
      <p:sp>
        <p:nvSpPr>
          <p:cNvPr id="29" name="Text 23"/>
          <p:cNvSpPr/>
          <p:nvPr/>
        </p:nvSpPr>
        <p:spPr>
          <a:xfrm>
            <a:off x="5676659" y="3395960"/>
            <a:ext cx="2499853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06B6D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capital of France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5676659" y="3650555"/>
            <a:ext cx="249985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 builds with each forward pass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8593815" y="3991868"/>
            <a:ext cx="215002" cy="1270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32" name="Shape 26"/>
          <p:cNvSpPr/>
          <p:nvPr/>
        </p:nvSpPr>
        <p:spPr>
          <a:xfrm>
            <a:off x="8566233" y="3957935"/>
            <a:ext cx="80564" cy="80566"/>
          </a:xfrm>
          <a:prstGeom prst="ellipse">
            <a:avLst/>
          </a:prstGeom>
          <a:solidFill>
            <a:srgbClr val="6237C8"/>
          </a:solidFill>
          <a:ln/>
        </p:spPr>
      </p:sp>
      <p:sp>
        <p:nvSpPr>
          <p:cNvPr id="33" name="Text 27"/>
          <p:cNvSpPr/>
          <p:nvPr/>
        </p:nvSpPr>
        <p:spPr>
          <a:xfrm>
            <a:off x="9036518" y="3914279"/>
            <a:ext cx="249995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10B98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capital of France is Paris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9036518" y="4168874"/>
            <a:ext cx="249995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token "Paris" predicted with high confidence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5676659" y="4852888"/>
            <a:ext cx="5859812" cy="462955"/>
          </a:xfrm>
          <a:prstGeom prst="roundRect">
            <a:avLst>
              <a:gd name="adj" fmla="val 9753"/>
            </a:avLst>
          </a:prstGeom>
          <a:solidFill>
            <a:srgbClr val="E0D7F4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110" y="4963418"/>
            <a:ext cx="134339" cy="10745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025900" y="4942483"/>
            <a:ext cx="5403120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Point: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model generates from learned parameters — it is not retrieving answers from a database. Every token is a statistical prediction conditioned on context.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2161"/>
            <a:ext cx="10868745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Makes a Language Model 'Large'?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74056" y="779760"/>
            <a:ext cx="3792145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100B+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1054298"/>
            <a:ext cx="5417407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b="1" spc="-1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Parameters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1475" y="1185565"/>
            <a:ext cx="5417407" cy="75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500" spc="-1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numerical weights encoding world knowledge from training data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6925295" y="779760"/>
            <a:ext cx="3792244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Tera-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12714" y="1054298"/>
            <a:ext cx="5417506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b="1" spc="-1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Tokens of Data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112714" y="1185565"/>
            <a:ext cx="5417506" cy="75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500" spc="-1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text, books, code, and scientific papers consumed during pre-training</a:t>
            </a:r>
            <a:endParaRPr lang="en-US" sz="500" dirty="0"/>
          </a:p>
        </p:txBody>
      </p:sp>
      <p:sp>
        <p:nvSpPr>
          <p:cNvPr id="9" name="Text 7"/>
          <p:cNvSpPr/>
          <p:nvPr/>
        </p:nvSpPr>
        <p:spPr>
          <a:xfrm>
            <a:off x="1474056" y="1348383"/>
            <a:ext cx="3792145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1000s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1475" y="1622921"/>
            <a:ext cx="5417407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b="1" spc="-1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GPU Days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61475" y="1754188"/>
            <a:ext cx="5417407" cy="75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500" spc="-1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Substantial compute required — training runs cost millions of dollars</a:t>
            </a:r>
            <a:endParaRPr lang="en-US" sz="500" dirty="0"/>
          </a:p>
        </p:txBody>
      </p:sp>
      <p:sp>
        <p:nvSpPr>
          <p:cNvPr id="12" name="Text 10"/>
          <p:cNvSpPr/>
          <p:nvPr/>
        </p:nvSpPr>
        <p:spPr>
          <a:xfrm>
            <a:off x="6925295" y="1348383"/>
            <a:ext cx="3792244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8+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12714" y="1622921"/>
            <a:ext cx="5417506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b="1" spc="-1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Tasks, One Model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112714" y="1754188"/>
            <a:ext cx="5417506" cy="75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500" spc="-1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LLM handles generation, summarization, translation, QA, classification, and more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661475" y="1869976"/>
            <a:ext cx="10868745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spc="-14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One Model — Many Tasks via Prompting</a:t>
            </a:r>
            <a:endParaRPr lang="en-US" sz="7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25650"/>
            <a:ext cx="7608102" cy="427960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61475" y="6335712"/>
            <a:ext cx="11478330" cy="60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400" b="1" spc="-11" kern="0" dirty="0">
                <a:solidFill>
                  <a:srgbClr val="F59E0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Prompting Insight:</a:t>
            </a:r>
            <a:pPr algn="l" indent="0" marL="0">
              <a:lnSpc>
                <a:spcPct val="94000"/>
              </a:lnSpc>
              <a:buNone/>
            </a:pPr>
            <a:r>
              <a:rPr lang="en-US" sz="400" spc="-1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same pre-trained LLM handles all tasks above — only the input instruction changes. This generality is what distinguishes LLMs from earlier task-specific models.</a:t>
            </a:r>
            <a:endParaRPr lang="en-US" sz="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6855"/>
            <a:ext cx="10868745" cy="36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4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Transformers Changed Language AI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731070"/>
            <a:ext cx="530330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 with Earlier Models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94396"/>
            <a:ext cx="2616730" cy="9205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424" y="2114550"/>
            <a:ext cx="2325629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RNNs — Sequential Processing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32424" y="2369145"/>
            <a:ext cx="2325629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tokens one-by-one; hard to parallelize;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long-range dependencies fade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 many steps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8053" y="1994396"/>
            <a:ext cx="2616730" cy="9205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19003" y="2114550"/>
            <a:ext cx="2325629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Transformer Solution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519003" y="2369145"/>
            <a:ext cx="2325629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all tokens simultaneously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attention mechanism connects any two tokens regardless of distance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61475" y="2993529"/>
            <a:ext cx="530330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Self-Attention — Intuitively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22701" y="3319661"/>
            <a:ext cx="5751666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animal didn't cross the street because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was tired."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661475" y="3256855"/>
            <a:ext cx="12700" cy="267494"/>
          </a:xfrm>
          <a:prstGeom prst="roundRect">
            <a:avLst>
              <a:gd name="adj" fmla="val 49999"/>
            </a:avLst>
          </a:prstGeom>
          <a:solidFill>
            <a:srgbClr val="6237C8"/>
          </a:solidFill>
          <a:ln/>
        </p:spPr>
      </p:sp>
      <p:sp>
        <p:nvSpPr>
          <p:cNvPr id="13" name="Text 9"/>
          <p:cNvSpPr/>
          <p:nvPr/>
        </p:nvSpPr>
        <p:spPr>
          <a:xfrm>
            <a:off x="661475" y="3602930"/>
            <a:ext cx="5303308" cy="346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model processes </a:t>
            </a:r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b="1" spc="-17" kern="0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"it"</a:t>
            </a:r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self-attention asks: </a:t>
            </a:r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i="1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"Which other tokens are most relevant?"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attention weights assigned to: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animal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F59E0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06B6D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tired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allowing correct coreference resolution.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61475" y="4012307"/>
            <a:ext cx="5912893" cy="11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Self-Attention Question:</a:t>
            </a:r>
            <a:pPr algn="l" indent="0" marL="0">
              <a:lnSpc>
                <a:spcPct val="110000"/>
              </a:lnSpc>
              <a:buNone/>
            </a:pPr>
            <a:r>
              <a:rPr lang="en-US" sz="6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"Which other tokens in this sequence should I pay attention to when representing myself?"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6233262" y="1731070"/>
            <a:ext cx="530330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Transformer Block Architecture</a:t>
            </a:r>
            <a:endParaRPr lang="en-US" sz="11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1331" y="1994396"/>
            <a:ext cx="3447071" cy="15511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80594" y="2067211"/>
            <a:ext cx="603223" cy="10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spc="-1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 Tokens</a:t>
            </a:r>
            <a:endParaRPr lang="en-US" sz="600" dirty="0"/>
          </a:p>
        </p:txBody>
      </p:sp>
      <p:sp>
        <p:nvSpPr>
          <p:cNvPr id="18" name="Text 13"/>
          <p:cNvSpPr/>
          <p:nvPr/>
        </p:nvSpPr>
        <p:spPr>
          <a:xfrm>
            <a:off x="7680594" y="2196270"/>
            <a:ext cx="603223" cy="123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50" spc="-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tokens enter the block</a:t>
            </a:r>
            <a:endParaRPr lang="en-US" sz="450" dirty="0"/>
          </a:p>
        </p:txBody>
      </p:sp>
      <p:sp>
        <p:nvSpPr>
          <p:cNvPr id="19" name="Text 14"/>
          <p:cNvSpPr/>
          <p:nvPr/>
        </p:nvSpPr>
        <p:spPr>
          <a:xfrm>
            <a:off x="8277188" y="3179330"/>
            <a:ext cx="606539" cy="205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spc="-1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Token Embeddings</a:t>
            </a:r>
            <a:endParaRPr lang="en-US" sz="600" dirty="0"/>
          </a:p>
        </p:txBody>
      </p:sp>
      <p:sp>
        <p:nvSpPr>
          <p:cNvPr id="20" name="Text 15"/>
          <p:cNvSpPr/>
          <p:nvPr/>
        </p:nvSpPr>
        <p:spPr>
          <a:xfrm>
            <a:off x="8277188" y="3410931"/>
            <a:ext cx="606539" cy="123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50" spc="-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tokens to vectors</a:t>
            </a:r>
            <a:endParaRPr lang="en-US" sz="450" dirty="0"/>
          </a:p>
        </p:txBody>
      </p:sp>
      <p:sp>
        <p:nvSpPr>
          <p:cNvPr id="21" name="Text 16"/>
          <p:cNvSpPr/>
          <p:nvPr/>
        </p:nvSpPr>
        <p:spPr>
          <a:xfrm>
            <a:off x="8867155" y="2004340"/>
            <a:ext cx="603224" cy="205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spc="-1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Positional Encoding</a:t>
            </a:r>
            <a:endParaRPr lang="en-US" sz="600" dirty="0"/>
          </a:p>
        </p:txBody>
      </p:sp>
      <p:sp>
        <p:nvSpPr>
          <p:cNvPr id="22" name="Text 17"/>
          <p:cNvSpPr/>
          <p:nvPr/>
        </p:nvSpPr>
        <p:spPr>
          <a:xfrm>
            <a:off x="8867155" y="2235940"/>
            <a:ext cx="603224" cy="123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50" spc="-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sequence position info</a:t>
            </a:r>
            <a:endParaRPr lang="en-US" sz="450" dirty="0"/>
          </a:p>
        </p:txBody>
      </p:sp>
      <p:sp>
        <p:nvSpPr>
          <p:cNvPr id="23" name="Text 18"/>
          <p:cNvSpPr/>
          <p:nvPr/>
        </p:nvSpPr>
        <p:spPr>
          <a:xfrm>
            <a:off x="9463750" y="3261364"/>
            <a:ext cx="603224" cy="10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spc="-1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Self-Attention</a:t>
            </a:r>
            <a:endParaRPr lang="en-US" sz="600" dirty="0"/>
          </a:p>
        </p:txBody>
      </p:sp>
      <p:sp>
        <p:nvSpPr>
          <p:cNvPr id="24" name="Text 19"/>
          <p:cNvSpPr/>
          <p:nvPr/>
        </p:nvSpPr>
        <p:spPr>
          <a:xfrm>
            <a:off x="9463750" y="3390422"/>
            <a:ext cx="603224" cy="6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50" spc="-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tokens matter</a:t>
            </a:r>
            <a:endParaRPr lang="en-US" sz="450" dirty="0"/>
          </a:p>
        </p:txBody>
      </p:sp>
      <p:sp>
        <p:nvSpPr>
          <p:cNvPr id="25" name="Shape 20"/>
          <p:cNvSpPr/>
          <p:nvPr/>
        </p:nvSpPr>
        <p:spPr>
          <a:xfrm>
            <a:off x="661475" y="4267200"/>
            <a:ext cx="2664751" cy="737989"/>
          </a:xfrm>
          <a:prstGeom prst="roundRect">
            <a:avLst>
              <a:gd name="adj" fmla="val 611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75276" y="4381004"/>
            <a:ext cx="243714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Token Embeddings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775276" y="4607620"/>
            <a:ext cx="2437148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discrete tokens to continuous vector representations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3396074" y="4267200"/>
            <a:ext cx="2664850" cy="737989"/>
          </a:xfrm>
          <a:prstGeom prst="roundRect">
            <a:avLst>
              <a:gd name="adj" fmla="val 611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509875" y="4381004"/>
            <a:ext cx="243724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Positional Encoding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3509875" y="4607620"/>
            <a:ext cx="2437248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 sequence order since attention is order-agnostic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6130772" y="4267200"/>
            <a:ext cx="2664751" cy="737989"/>
          </a:xfrm>
          <a:prstGeom prst="roundRect">
            <a:avLst>
              <a:gd name="adj" fmla="val 611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244573" y="4381004"/>
            <a:ext cx="243714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Self-Attention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6244573" y="4607620"/>
            <a:ext cx="2437148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token-to-token relevance across full sequence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8865370" y="4267200"/>
            <a:ext cx="2664850" cy="737989"/>
          </a:xfrm>
          <a:prstGeom prst="roundRect">
            <a:avLst>
              <a:gd name="adj" fmla="val 611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979171" y="4381004"/>
            <a:ext cx="243724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Feed-Forward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8979171" y="4607620"/>
            <a:ext cx="243724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non-linear transformations to each position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661475" y="5075039"/>
            <a:ext cx="10868745" cy="596106"/>
          </a:xfrm>
          <a:prstGeom prst="roundRect">
            <a:avLst>
              <a:gd name="adj" fmla="val 757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75276" y="5188843"/>
            <a:ext cx="10641143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Stack × N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775276" y="5415459"/>
            <a:ext cx="1064114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blocks 12–96× for deeper representations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0604"/>
            <a:ext cx="10868745" cy="36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4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BERT &amp; GPT to Modern LLMs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724819"/>
            <a:ext cx="585981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Evolution Timeline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584981" y="1988145"/>
            <a:ext cx="12700" cy="361057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5" name="Shape 3"/>
          <p:cNvSpPr/>
          <p:nvPr/>
        </p:nvSpPr>
        <p:spPr>
          <a:xfrm>
            <a:off x="3281578" y="2411809"/>
            <a:ext cx="322453" cy="1270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6" name="Shape 4"/>
          <p:cNvSpPr/>
          <p:nvPr/>
        </p:nvSpPr>
        <p:spPr>
          <a:xfrm>
            <a:off x="3551049" y="2377877"/>
            <a:ext cx="80564" cy="80566"/>
          </a:xfrm>
          <a:prstGeom prst="ellipse">
            <a:avLst/>
          </a:prstGeom>
          <a:solidFill>
            <a:srgbClr val="6237C8"/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1988145"/>
            <a:ext cx="2607404" cy="860028"/>
          </a:xfrm>
          <a:prstGeom prst="roundRect">
            <a:avLst>
              <a:gd name="adj" fmla="val 5250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5276" y="2101949"/>
            <a:ext cx="237980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59E0B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2017</a:t>
            </a:r>
            <a:pPr algn="r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Transformer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5276" y="2356545"/>
            <a:ext cx="2379801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"Attention Is All You Need" — foundational architecture introduced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578632" y="2981523"/>
            <a:ext cx="322453" cy="1270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11" name="Shape 9"/>
          <p:cNvSpPr/>
          <p:nvPr/>
        </p:nvSpPr>
        <p:spPr>
          <a:xfrm>
            <a:off x="3551049" y="2947591"/>
            <a:ext cx="80564" cy="80566"/>
          </a:xfrm>
          <a:prstGeom prst="ellipse">
            <a:avLst/>
          </a:prstGeom>
          <a:solidFill>
            <a:srgbClr val="6237C8"/>
          </a:solidFill>
          <a:ln/>
        </p:spPr>
      </p:sp>
      <p:sp>
        <p:nvSpPr>
          <p:cNvPr id="12" name="Shape 10"/>
          <p:cNvSpPr/>
          <p:nvPr/>
        </p:nvSpPr>
        <p:spPr>
          <a:xfrm>
            <a:off x="3913784" y="2557859"/>
            <a:ext cx="2607503" cy="860028"/>
          </a:xfrm>
          <a:prstGeom prst="roundRect">
            <a:avLst>
              <a:gd name="adj" fmla="val 5250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7585" y="2671663"/>
            <a:ext cx="237990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563EB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2018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BERT &amp; GPT-1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27585" y="2926259"/>
            <a:ext cx="2379901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encoder, bidirectional, understanding tasks · 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decoder, autoregressive, generation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81578" y="3481388"/>
            <a:ext cx="322453" cy="1270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16" name="Shape 14"/>
          <p:cNvSpPr/>
          <p:nvPr/>
        </p:nvSpPr>
        <p:spPr>
          <a:xfrm>
            <a:off x="3551049" y="3447455"/>
            <a:ext cx="80564" cy="80566"/>
          </a:xfrm>
          <a:prstGeom prst="ellipse">
            <a:avLst/>
          </a:prstGeom>
          <a:solidFill>
            <a:srgbClr val="6237C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1475" y="3057723"/>
            <a:ext cx="2607404" cy="860028"/>
          </a:xfrm>
          <a:prstGeom prst="roundRect">
            <a:avLst>
              <a:gd name="adj" fmla="val 5250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5276" y="3171527"/>
            <a:ext cx="237980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10B98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2019–2020</a:t>
            </a:r>
            <a:pPr algn="r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GPT-2 &amp; T5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5276" y="3426123"/>
            <a:ext cx="2379801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GPT-2</a:t>
            </a:r>
            <a:pPr algn="r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scale reveals emergent abilities · </a:t>
            </a:r>
            <a:pPr algn="r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T5</a:t>
            </a:r>
            <a:pPr algn="r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encoder-decoder, text-to-text formulation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578632" y="4026595"/>
            <a:ext cx="322453" cy="1270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21" name="Shape 19"/>
          <p:cNvSpPr/>
          <p:nvPr/>
        </p:nvSpPr>
        <p:spPr>
          <a:xfrm>
            <a:off x="3551049" y="3992662"/>
            <a:ext cx="80564" cy="80566"/>
          </a:xfrm>
          <a:prstGeom prst="ellipse">
            <a:avLst/>
          </a:prstGeom>
          <a:solidFill>
            <a:srgbClr val="6237C8"/>
          </a:solidFill>
          <a:ln/>
        </p:spPr>
      </p:sp>
      <p:sp>
        <p:nvSpPr>
          <p:cNvPr id="22" name="Shape 20"/>
          <p:cNvSpPr/>
          <p:nvPr/>
        </p:nvSpPr>
        <p:spPr>
          <a:xfrm>
            <a:off x="3913784" y="3557588"/>
            <a:ext cx="2607503" cy="950714"/>
          </a:xfrm>
          <a:prstGeom prst="roundRect">
            <a:avLst>
              <a:gd name="adj" fmla="val 4749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7585" y="3671391"/>
            <a:ext cx="2379901" cy="369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59E0B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2020–2022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GPT-3 &amp; Instruction Tuning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027585" y="4110732"/>
            <a:ext cx="2379901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Few-shot prompting, RLHF alignment, InstructGPT emerge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81578" y="4526459"/>
            <a:ext cx="322453" cy="1270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26" name="Shape 24"/>
          <p:cNvSpPr/>
          <p:nvPr/>
        </p:nvSpPr>
        <p:spPr>
          <a:xfrm>
            <a:off x="3551049" y="4492526"/>
            <a:ext cx="80564" cy="80566"/>
          </a:xfrm>
          <a:prstGeom prst="ellipse">
            <a:avLst/>
          </a:prstGeom>
          <a:solidFill>
            <a:srgbClr val="6237C8"/>
          </a:solidFill>
          <a:ln/>
        </p:spPr>
      </p:sp>
      <p:sp>
        <p:nvSpPr>
          <p:cNvPr id="27" name="Shape 25"/>
          <p:cNvSpPr/>
          <p:nvPr/>
        </p:nvSpPr>
        <p:spPr>
          <a:xfrm>
            <a:off x="661475" y="4102795"/>
            <a:ext cx="2607404" cy="860028"/>
          </a:xfrm>
          <a:prstGeom prst="roundRect">
            <a:avLst>
              <a:gd name="adj" fmla="val 5250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5276" y="4216598"/>
            <a:ext cx="237980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EF444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2022+</a:t>
            </a:r>
            <a:pPr algn="r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ChatGPT Era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5276" y="4471194"/>
            <a:ext cx="2379801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interfaces, public accessibility, mainstream adoption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78632" y="5117009"/>
            <a:ext cx="322453" cy="1270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31" name="Shape 29"/>
          <p:cNvSpPr/>
          <p:nvPr/>
        </p:nvSpPr>
        <p:spPr>
          <a:xfrm>
            <a:off x="3551049" y="5083076"/>
            <a:ext cx="80564" cy="80566"/>
          </a:xfrm>
          <a:prstGeom prst="ellipse">
            <a:avLst/>
          </a:prstGeom>
          <a:solidFill>
            <a:srgbClr val="6237C8"/>
          </a:solidFill>
          <a:ln/>
        </p:spPr>
      </p:sp>
      <p:sp>
        <p:nvSpPr>
          <p:cNvPr id="32" name="Shape 30"/>
          <p:cNvSpPr/>
          <p:nvPr/>
        </p:nvSpPr>
        <p:spPr>
          <a:xfrm>
            <a:off x="3913784" y="4648002"/>
            <a:ext cx="2607503" cy="950714"/>
          </a:xfrm>
          <a:prstGeom prst="roundRect">
            <a:avLst>
              <a:gd name="adj" fmla="val 4749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7585" y="4761805"/>
            <a:ext cx="2379901" cy="369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06B6D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2023–2026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Multimodal &amp; Agentic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027585" y="5201146"/>
            <a:ext cx="2379901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Long-context, open-weight, multimodal, instruction-tuned, agentic systems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89766" y="1724819"/>
            <a:ext cx="4746705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Architecture Distinctions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789766" y="1988145"/>
            <a:ext cx="2338428" cy="765969"/>
          </a:xfrm>
          <a:prstGeom prst="roundRect">
            <a:avLst>
              <a:gd name="adj" fmla="val 5895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567" y="2101949"/>
            <a:ext cx="2110826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563EB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BERT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Encoder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903567" y="2356545"/>
            <a:ext cx="2110826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Bidirectional · Sees full context · Best for: classification, NER, QA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98043" y="1988145"/>
            <a:ext cx="2338428" cy="765969"/>
          </a:xfrm>
          <a:prstGeom prst="roundRect">
            <a:avLst>
              <a:gd name="adj" fmla="val 5895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11844" y="2101949"/>
            <a:ext cx="2110826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59E0B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GPT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Decoder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311844" y="2356545"/>
            <a:ext cx="2110826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Autoregressive · Left-to-right · Best for: generation, completion, chat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89766" y="2823964"/>
            <a:ext cx="4746705" cy="624086"/>
          </a:xfrm>
          <a:prstGeom prst="roundRect">
            <a:avLst>
              <a:gd name="adj" fmla="val 7235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567" y="2937768"/>
            <a:ext cx="4519103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10B98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T5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Enc-Dec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903567" y="3192363"/>
            <a:ext cx="451910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Text-to-text · Flexible · Best for: translation, summarization, seq2seq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89766" y="3526631"/>
            <a:ext cx="4746705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Hugging Face Workflow</a:t>
            </a:r>
            <a:endParaRPr lang="en-US" sz="115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405" y="3789958"/>
            <a:ext cx="3085328" cy="1157784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0113319" y="4662196"/>
            <a:ext cx="465358" cy="98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spc="-12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Application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9526839" y="4662196"/>
            <a:ext cx="465359" cy="98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spc="-12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Pipeline</a:t>
            </a:r>
            <a:endParaRPr lang="en-US" sz="600" dirty="0"/>
          </a:p>
        </p:txBody>
      </p:sp>
      <p:sp>
        <p:nvSpPr>
          <p:cNvPr id="49" name="Text 46"/>
          <p:cNvSpPr/>
          <p:nvPr/>
        </p:nvSpPr>
        <p:spPr>
          <a:xfrm>
            <a:off x="8943547" y="4662196"/>
            <a:ext cx="465359" cy="98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spc="-12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Tokenizer</a:t>
            </a:r>
            <a:endParaRPr lang="en-US" sz="600" dirty="0"/>
          </a:p>
        </p:txBody>
      </p:sp>
      <p:sp>
        <p:nvSpPr>
          <p:cNvPr id="50" name="Text 47"/>
          <p:cNvSpPr/>
          <p:nvPr/>
        </p:nvSpPr>
        <p:spPr>
          <a:xfrm>
            <a:off x="8360255" y="4662196"/>
            <a:ext cx="465358" cy="98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spc="-12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Load Model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7764213" y="4662196"/>
            <a:ext cx="465358" cy="98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spc="-12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Hub</a:t>
            </a:r>
            <a:endParaRPr lang="en-US" sz="600" dirty="0"/>
          </a:p>
        </p:txBody>
      </p:sp>
      <p:sp>
        <p:nvSpPr>
          <p:cNvPr id="52" name="Text 49"/>
          <p:cNvSpPr/>
          <p:nvPr/>
        </p:nvSpPr>
        <p:spPr>
          <a:xfrm>
            <a:off x="6789766" y="5026323"/>
            <a:ext cx="4746705" cy="227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advantage:</a:t>
            </a:r>
            <a:pPr algn="l" indent="0" marL="0">
              <a:lnSpc>
                <a:spcPct val="110000"/>
              </a:lnSpc>
              <a:buNone/>
            </a:pPr>
            <a:r>
              <a:rPr lang="en-US" sz="6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Load existing pre-trained models instead of training from scratch. One </a:t>
            </a:r>
            <a:pPr algn="l" indent="0" marL="0">
              <a:lnSpc>
                <a:spcPct val="110000"/>
              </a:lnSpc>
              <a:buNone/>
            </a:pPr>
            <a:r>
              <a:rPr lang="en-US" sz="650" spc="-17" kern="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pipeline()</a:t>
            </a:r>
            <a:pPr algn="l" indent="0" marL="0">
              <a:lnSpc>
                <a:spcPct val="110000"/>
              </a:lnSpc>
              <a:buNone/>
            </a:pPr>
            <a:r>
              <a:rPr lang="en-US" sz="6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call handles tokenization, inference, and decoding.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2026-09-16T05:04:32Z</dcterms:created>
  <dcterms:modified xsi:type="dcterms:W3CDTF">2026-09-16T05:04:32Z</dcterms:modified>
</cp:coreProperties>
</file>