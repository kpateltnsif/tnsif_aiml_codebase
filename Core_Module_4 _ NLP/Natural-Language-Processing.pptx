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86323"/>
            <a:ext cx="6296860" cy="129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Natural Language Processing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661475" y="406915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Teaching Machines to Understand Human Language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Natural Language Processing?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3380184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bridges two fundamentally different worlds — human language with all its nuance, ambiguity, and meaning, and machine representations built on numbers, vectors, and patterns.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combines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linguistics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statistics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solve tasks like translation, search, chatbots, classification, sentiment analysis, question answering, and text generation.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968673"/>
            <a:ext cx="5319083" cy="531921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6394053"/>
            <a:ext cx="5410759" cy="518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427" y="6501209"/>
            <a:ext cx="5145653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Example: Intent Detection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19427" y="6691908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"Book me a flight to Delhi"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Intent: 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Booking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9461" y="6394053"/>
            <a:ext cx="5410759" cy="5184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77413" y="6501209"/>
            <a:ext cx="5145653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Example: Sentiment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277413" y="6691908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"The movie was amazing!"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Sentiment: 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5887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47167"/>
            <a:ext cx="6296860" cy="45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5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Is Human Language Hard?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661475" y="1740793"/>
            <a:ext cx="6296860" cy="746522"/>
          </a:xfrm>
          <a:prstGeom prst="roundRect">
            <a:avLst>
              <a:gd name="adj" fmla="val 744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080" y="1879402"/>
            <a:ext cx="60196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🔀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Ambiguity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080" y="2168723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"Bank" = financial institution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river bank. Same word, completely different meanings.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2579886"/>
            <a:ext cx="6296860" cy="746522"/>
          </a:xfrm>
          <a:prstGeom prst="roundRect">
            <a:avLst>
              <a:gd name="adj" fmla="val 744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080" y="2718495"/>
            <a:ext cx="60196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🎭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Sarcasm &amp; Tone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080" y="3007816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"Great job!" can be genuine praise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sarcasm. "I am fine" — okay or not?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1475" y="3418979"/>
            <a:ext cx="6296860" cy="746522"/>
          </a:xfrm>
          <a:prstGeom prst="roundRect">
            <a:avLst>
              <a:gd name="adj" fmla="val 744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080" y="3557588"/>
            <a:ext cx="60196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Word Order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0080" y="3846909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"Dog bites man" ≠ "Man bites dog" — same words, opposite events.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1475" y="4258072"/>
            <a:ext cx="6296860" cy="746522"/>
          </a:xfrm>
          <a:prstGeom prst="roundRect">
            <a:avLst>
              <a:gd name="adj" fmla="val 744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080" y="4396680"/>
            <a:ext cx="601964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Negation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0080" y="4686002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liked it" vs "I did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like it" — opposite meanings, one word difference.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1475" y="5108773"/>
            <a:ext cx="6296860" cy="601960"/>
          </a:xfrm>
          <a:prstGeom prst="roundRect">
            <a:avLst>
              <a:gd name="adj" fmla="val 9232"/>
            </a:avLst>
          </a:prstGeom>
          <a:solidFill>
            <a:srgbClr val="E0D7F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30" y="5245596"/>
            <a:ext cx="165294" cy="1322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1280" y="5234384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systems must simultaneously process: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Words + Order + Context + Meaning + Relationships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all at once.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4006"/>
            <a:ext cx="10868745" cy="45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5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Text Preprocessing: Clean Before Learning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2260203"/>
            <a:ext cx="359430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Raw Input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9907" y="2675136"/>
            <a:ext cx="40054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"OMG!!! The movie was AMAZING!!!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😍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loved it."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2591792"/>
            <a:ext cx="19050" cy="346670"/>
          </a:xfrm>
          <a:prstGeom prst="roundRect">
            <a:avLst>
              <a:gd name="adj" fmla="val 49999"/>
            </a:avLst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42642"/>
            <a:ext cx="359430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any model can learn, raw text must be prepared through a sequential pipeline of transformations.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1475" y="3485952"/>
            <a:ext cx="3594308" cy="816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Lowercasing: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Normalize case variations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Symbol removal: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Strip noise (!!!, URLs, HTML tags)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Tokenization: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Split into meaningful units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Stop-word handling: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Optionally remove common words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1475" y="4407098"/>
            <a:ext cx="3594308" cy="772716"/>
          </a:xfrm>
          <a:prstGeom prst="roundRect">
            <a:avLst>
              <a:gd name="adj" fmla="val 7192"/>
            </a:avLst>
          </a:prstGeom>
          <a:solidFill>
            <a:srgbClr val="E0D7F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4550271"/>
            <a:ext cx="165294" cy="1322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1280" y="4523482"/>
            <a:ext cx="303224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insight: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Preprocessing is task-dependent. Modern NLP often preserves emojis, negation, and capitalization that older pipelines discarded.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47" y="2676525"/>
            <a:ext cx="4866161" cy="20984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54965" y="4370152"/>
            <a:ext cx="1214378" cy="15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Tokens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954965" y="3884388"/>
            <a:ext cx="1214378" cy="15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Tokenize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954965" y="3403532"/>
            <a:ext cx="1214378" cy="15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Remove Symbols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954965" y="2917768"/>
            <a:ext cx="1214378" cy="15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Lowercase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1845"/>
            <a:ext cx="10868745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6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Tokenization, Stemming &amp; Lemmatization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43448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operations — often confused, but fundamentally different in purpose and output.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97163"/>
            <a:ext cx="3622882" cy="604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680" y="3422948"/>
            <a:ext cx="332047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680" y="3755430"/>
            <a:ext cx="3320471" cy="101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"Machine learning is powerful"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["Machine", "learning", "is", "powerful"]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Splits text into units. Modern Transformers use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subword tokenization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697163"/>
            <a:ext cx="3622882" cy="6048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35562" y="3422948"/>
            <a:ext cx="332047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Stemming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435562" y="3755430"/>
            <a:ext cx="3320471" cy="101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"playing, played, plays"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"play"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Rough root form. Fast but may produce non-dictionary words.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697163"/>
            <a:ext cx="3622882" cy="6048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58444" y="3422948"/>
            <a:ext cx="332047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Lemmatization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58444" y="3755430"/>
            <a:ext cx="3320471" cy="101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"running, ran, runs"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spc="-24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"run"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Linguistically correct base form. Slower, more accurate, uses vocabulary knowledge.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56682" y="5058470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Distinction: </a:t>
            </a:r>
            <a:pPr algn="ctr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Tokenization ≠ Stemming ≠ Lemmatization</a:t>
            </a:r>
            <a:pPr algn="ctr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each solves a different problem in the NLP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583"/>
            <a:ext cx="10868745" cy="414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5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Words to Numbers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970510"/>
            <a:ext cx="5287433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254375"/>
            <a:ext cx="5287433" cy="31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models operate on </a:t>
            </a:r>
            <a:pPr algn="l" indent="0" marL="0">
              <a:lnSpc>
                <a:spcPct val="109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numerical representations</a:t>
            </a:r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raw text. The challenge: how do we encode meaning mathematically?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9137" y="1151434"/>
            <a:ext cx="4229887" cy="42299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554266"/>
            <a:ext cx="271059" cy="271066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7639" y="5565577"/>
            <a:ext cx="198730" cy="248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9327" y="5595640"/>
            <a:ext cx="3211035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One-Hot Encoding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9327" y="5848747"/>
            <a:ext cx="3211035" cy="31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"cat" → [1,0,0,0…] | "dog" → [0,1,0,0…]. Words treated as </a:t>
            </a:r>
            <a:pPr algn="l" indent="0" marL="0">
              <a:lnSpc>
                <a:spcPct val="109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unrelated symbols</a:t>
            </a:r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No semantic structure.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16305" y="5554266"/>
            <a:ext cx="271059" cy="271066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52469" y="5565577"/>
            <a:ext cx="198730" cy="248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664157" y="5595640"/>
            <a:ext cx="3211135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Bag of Words / TF-IDF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4157" y="5848747"/>
            <a:ext cx="3211135" cy="31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occurrence and importance scores. Captures </a:t>
            </a:r>
            <a:pPr algn="l" indent="0" marL="0">
              <a:lnSpc>
                <a:spcPct val="109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</a:t>
            </a:r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but not meaning or word relationships.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971233" y="5554266"/>
            <a:ext cx="271059" cy="271066"/>
          </a:xfrm>
          <a:prstGeom prst="roundRect">
            <a:avLst>
              <a:gd name="adj" fmla="val 186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7398" y="5565577"/>
            <a:ext cx="198730" cy="248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319086" y="5595640"/>
            <a:ext cx="3211135" cy="20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Word Embeddings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19086" y="5848747"/>
            <a:ext cx="3211135" cy="473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vectors where </a:t>
            </a:r>
            <a:pPr algn="l" indent="0" marL="0">
              <a:lnSpc>
                <a:spcPct val="109000"/>
              </a:lnSpc>
              <a:buNone/>
            </a:pPr>
            <a:r>
              <a:rPr lang="en-US" sz="90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related words cluster together</a:t>
            </a:r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representation space. "king" is close to "queen"; "Paris" close to "France".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37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4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Word Embeddings: Word2Vec &amp; GloVe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60549"/>
            <a:ext cx="4393892" cy="43940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91155" y="2737842"/>
            <a:ext cx="4745316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Central Idea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791155" y="2986683"/>
            <a:ext cx="4745316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Words used in </a:t>
            </a:r>
            <a:pPr algn="l" indent="0" marL="0">
              <a:lnSpc>
                <a:spcPct val="105000"/>
              </a:lnSpc>
              <a:buNone/>
            </a:pPr>
            <a:r>
              <a:rPr lang="en-US" sz="85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similar contexts</a:t>
            </a:r>
            <a:pPr algn="l" indent="0" marL="0">
              <a:lnSpc>
                <a:spcPct val="105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related vector representations. Two architectures, two directions of prediction: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791155" y="3329980"/>
            <a:ext cx="4745316" cy="439539"/>
          </a:xfrm>
          <a:prstGeom prst="roundRect">
            <a:avLst>
              <a:gd name="adj" fmla="val 10371"/>
            </a:avLst>
          </a:prstGeom>
          <a:solidFill>
            <a:srgbClr val="E0D7F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598" y="3432373"/>
            <a:ext cx="135629" cy="1084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671" y="3413125"/>
            <a:ext cx="4284357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context:</a:t>
            </a:r>
            <a:pPr algn="l" indent="0" marL="0">
              <a:lnSpc>
                <a:spcPct val="105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Transformers use </a:t>
            </a:r>
            <a:pPr algn="l" indent="0" marL="0">
              <a:lnSpc>
                <a:spcPct val="105000"/>
              </a:lnSpc>
              <a:buNone/>
            </a:pPr>
            <a:r>
              <a:rPr lang="en-US" sz="850" i="1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</a:t>
            </a:r>
            <a:pPr algn="l" indent="0" marL="0">
              <a:lnSpc>
                <a:spcPct val="105000"/>
              </a:lnSpc>
              <a:buNone/>
            </a:pPr>
            <a:r>
              <a:rPr lang="en-US" sz="85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token representations, not static word embeddings alone.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594648"/>
            <a:ext cx="3581310" cy="7393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3417" y="5715794"/>
            <a:ext cx="3288226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A855F7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CBOW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Context → Word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833417" y="5939631"/>
            <a:ext cx="3288226" cy="13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cat ___ on the mat" → predicts </a:t>
            </a:r>
            <a:pPr algn="l" indent="0" marL="0">
              <a:lnSpc>
                <a:spcPct val="105000"/>
              </a:lnSpc>
              <a:buNone/>
            </a:pPr>
            <a:r>
              <a:rPr lang="en-US" sz="85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"sat"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5093" y="5594648"/>
            <a:ext cx="3581410" cy="7393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77035" y="5715794"/>
            <a:ext cx="3288325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06B6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Skip-gram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Word → Context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477035" y="5939631"/>
            <a:ext cx="3288325" cy="13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"sat" → predicts </a:t>
            </a:r>
            <a:pPr algn="l" indent="0" marL="0">
              <a:lnSpc>
                <a:spcPct val="105000"/>
              </a:lnSpc>
              <a:buNone/>
            </a:pPr>
            <a:r>
              <a:rPr lang="en-US" sz="85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"cat, mat, the…"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8811" y="5594648"/>
            <a:ext cx="3581410" cy="7393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20752" y="5715794"/>
            <a:ext cx="3288325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10B98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GloVe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Global Statistics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8120752" y="5939631"/>
            <a:ext cx="3288325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from global word co-occurrence matrix across entire corpus.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0636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Transformers &amp; Contextual Understanding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2175867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Transformers Changed Everything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466777"/>
            <a:ext cx="360928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RNNs process text step-by-step — slow and limited in capturing long-range dependencies.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Transformers process all tokens in parallel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self-attention.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3032919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Self-Attention in 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5719" y="3405684"/>
            <a:ext cx="40346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animal didn't cross the street because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 tired."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61475" y="3333849"/>
            <a:ext cx="12700" cy="305792"/>
          </a:xfrm>
          <a:prstGeom prst="roundRect">
            <a:avLst>
              <a:gd name="adj" fmla="val 49999"/>
            </a:avLst>
          </a:prstGeom>
          <a:solidFill>
            <a:srgbClr val="6237C8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729434"/>
            <a:ext cx="360928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Self-attention allows the model to connect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"it"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directly to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"animal"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regardless of how many words separate them. Every token attends to every other token simultaneously.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7094" y="1592461"/>
            <a:ext cx="3198931" cy="319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7816" y="2199540"/>
            <a:ext cx="1030727" cy="177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 Tokens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7816" y="2423406"/>
            <a:ext cx="1030727" cy="2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words fed in as parallel tokens.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20105" y="2146179"/>
            <a:ext cx="1030728" cy="177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20105" y="2370044"/>
            <a:ext cx="1030728" cy="32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vectors plus positional signals added.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67905" y="3698417"/>
            <a:ext cx="1030728" cy="177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7905" y="3922283"/>
            <a:ext cx="1030728" cy="3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All-to-all token interactions compute attention.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320105" y="3645056"/>
            <a:ext cx="1030728" cy="177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Feed-Forward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20105" y="3868922"/>
            <a:ext cx="1030728" cy="42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800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Per-token MLPs transform contextualized features.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1475" y="4970959"/>
            <a:ext cx="10868745" cy="926306"/>
          </a:xfrm>
          <a:prstGeom prst="roundRect">
            <a:avLst>
              <a:gd name="adj" fmla="val 5571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825" y="4977309"/>
            <a:ext cx="2713962" cy="456803"/>
          </a:xfrm>
          <a:custGeom>
            <a:avLst/>
            <a:gdLst/>
            <a:ahLst/>
            <a:cxnLst/>
            <a:rect l="l" t="t" r="r" b="b"/>
            <a:pathLst>
              <a:path w="2713962" h="456803">
                <a:moveTo>
                  <a:pt x="43002" y="0"/>
                </a:moveTo>
                <a:lnTo>
                  <a:pt x="2713962" y="0"/>
                </a:lnTo>
                <a:lnTo>
                  <a:pt x="2713962" y="456803"/>
                </a:lnTo>
                <a:lnTo>
                  <a:pt x="0" y="456803"/>
                </a:lnTo>
                <a:lnTo>
                  <a:pt x="0" y="43003"/>
                </a:lnTo>
                <a:arcTo hR="43003" wR="43002" stAng="10800000" swAng="5400000"/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20" name="Text 17"/>
          <p:cNvSpPr/>
          <p:nvPr/>
        </p:nvSpPr>
        <p:spPr>
          <a:xfrm>
            <a:off x="790654" y="5100141"/>
            <a:ext cx="246830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Tokens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81786" y="4977309"/>
            <a:ext cx="2714061" cy="456803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22" name="Shape 19"/>
          <p:cNvSpPr/>
          <p:nvPr/>
        </p:nvSpPr>
        <p:spPr>
          <a:xfrm>
            <a:off x="3381786" y="4977309"/>
            <a:ext cx="12700" cy="456803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3" name="Text 20"/>
          <p:cNvSpPr/>
          <p:nvPr/>
        </p:nvSpPr>
        <p:spPr>
          <a:xfrm>
            <a:off x="3504616" y="5100141"/>
            <a:ext cx="246840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5848" y="4977309"/>
            <a:ext cx="2713962" cy="456803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25" name="Shape 22"/>
          <p:cNvSpPr/>
          <p:nvPr/>
        </p:nvSpPr>
        <p:spPr>
          <a:xfrm>
            <a:off x="6095848" y="4977309"/>
            <a:ext cx="12700" cy="456803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6" name="Text 23"/>
          <p:cNvSpPr/>
          <p:nvPr/>
        </p:nvSpPr>
        <p:spPr>
          <a:xfrm>
            <a:off x="6218677" y="5100141"/>
            <a:ext cx="246830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809809" y="4977309"/>
            <a:ext cx="2714061" cy="456803"/>
          </a:xfrm>
          <a:custGeom>
            <a:avLst/>
            <a:gdLst/>
            <a:ahLst/>
            <a:cxnLst/>
            <a:rect l="l" t="t" r="r" b="b"/>
            <a:pathLst>
              <a:path w="2714061" h="456803">
                <a:moveTo>
                  <a:pt x="0" y="0"/>
                </a:moveTo>
                <a:lnTo>
                  <a:pt x="2671059" y="0"/>
                </a:lnTo>
                <a:arcTo hR="43003" wR="43002" stAng="16200000" swAng="5400000"/>
                <a:lnTo>
                  <a:pt x="2714061" y="456803"/>
                </a:lnTo>
                <a:lnTo>
                  <a:pt x="0" y="456803"/>
                </a:lnTo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28" name="Shape 25"/>
          <p:cNvSpPr/>
          <p:nvPr/>
        </p:nvSpPr>
        <p:spPr>
          <a:xfrm>
            <a:off x="8809809" y="4977309"/>
            <a:ext cx="12700" cy="456803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9" name="Text 26"/>
          <p:cNvSpPr/>
          <p:nvPr/>
        </p:nvSpPr>
        <p:spPr>
          <a:xfrm>
            <a:off x="8932639" y="5100141"/>
            <a:ext cx="246840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Feed-Forward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67825" y="5434112"/>
            <a:ext cx="10856046" cy="456803"/>
          </a:xfrm>
          <a:custGeom>
            <a:avLst/>
            <a:gdLst/>
            <a:ahLst/>
            <a:cxnLst/>
            <a:rect l="l" t="t" r="r" b="b"/>
            <a:pathLst>
              <a:path w="10856046" h="456803">
                <a:moveTo>
                  <a:pt x="0" y="0"/>
                </a:moveTo>
                <a:lnTo>
                  <a:pt x="10856046" y="0"/>
                </a:lnTo>
                <a:lnTo>
                  <a:pt x="10856046" y="413800"/>
                </a:lnTo>
                <a:arcTo hR="43003" wR="43002" stAng="0" swAng="5400000"/>
                <a:lnTo>
                  <a:pt x="43002" y="456803"/>
                </a:lnTo>
                <a:arcTo hR="43003" wR="43002" stAng="5400000" swAng="5400000"/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31" name="Shape 28"/>
          <p:cNvSpPr/>
          <p:nvPr/>
        </p:nvSpPr>
        <p:spPr>
          <a:xfrm>
            <a:off x="667825" y="5434112"/>
            <a:ext cx="10856046" cy="1270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32" name="Text 29"/>
          <p:cNvSpPr/>
          <p:nvPr/>
        </p:nvSpPr>
        <p:spPr>
          <a:xfrm>
            <a:off x="790654" y="5556945"/>
            <a:ext cx="10610386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582"/>
            <a:ext cx="1086874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spc="-5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BERT vs GPT: Two Transformer Families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1475" y="1251744"/>
            <a:ext cx="10868745" cy="1550988"/>
          </a:xfrm>
          <a:prstGeom prst="roundRect">
            <a:avLst>
              <a:gd name="adj" fmla="val 352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258094"/>
            <a:ext cx="5428023" cy="1538288"/>
          </a:xfrm>
          <a:custGeom>
            <a:avLst/>
            <a:gdLst/>
            <a:ahLst/>
            <a:cxnLst/>
            <a:rect l="l" t="t" r="r" b="b"/>
            <a:pathLst>
              <a:path w="5428023" h="1538288">
                <a:moveTo>
                  <a:pt x="45586" y="0"/>
                </a:moveTo>
                <a:lnTo>
                  <a:pt x="5428023" y="0"/>
                </a:lnTo>
                <a:lnTo>
                  <a:pt x="5428023" y="1538288"/>
                </a:lnTo>
                <a:lnTo>
                  <a:pt x="45586" y="1538288"/>
                </a:lnTo>
                <a:arcTo hR="45587" wR="45586" stAng="5400000" swAng="5400000"/>
                <a:lnTo>
                  <a:pt x="0" y="45587"/>
                </a:lnTo>
                <a:arcTo hR="45587" wR="45586" stAng="10800000" swAng="5400000"/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5" name="Text 3"/>
          <p:cNvSpPr/>
          <p:nvPr/>
        </p:nvSpPr>
        <p:spPr>
          <a:xfrm>
            <a:off x="797996" y="1388269"/>
            <a:ext cx="516767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BERT — Encoder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7996" y="1678583"/>
            <a:ext cx="5167679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Bidirectional context: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reads left-to-right AND right-to-left simultaneously. Understands full sentence context before making predictions.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uses: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Text classification, Named Entity Recognition, Question Answering, Semantic Search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orientation: Understanding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95848" y="1258094"/>
            <a:ext cx="5428023" cy="1538288"/>
          </a:xfrm>
          <a:custGeom>
            <a:avLst/>
            <a:gdLst/>
            <a:ahLst/>
            <a:cxnLst/>
            <a:rect l="l" t="t" r="r" b="b"/>
            <a:pathLst>
              <a:path w="5428023" h="1538288">
                <a:moveTo>
                  <a:pt x="0" y="0"/>
                </a:moveTo>
                <a:lnTo>
                  <a:pt x="5382437" y="0"/>
                </a:lnTo>
                <a:arcTo hR="45587" wR="45586" stAng="16200000" swAng="5400000"/>
                <a:lnTo>
                  <a:pt x="5428023" y="1492700"/>
                </a:lnTo>
                <a:arcTo hR="45587" wR="45586" stAng="0" swAng="5400000"/>
                <a:lnTo>
                  <a:pt x="0" y="1538288"/>
                </a:lnTo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258094"/>
            <a:ext cx="19050" cy="1538288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9" name="Text 7"/>
          <p:cNvSpPr/>
          <p:nvPr/>
        </p:nvSpPr>
        <p:spPr>
          <a:xfrm>
            <a:off x="6226019" y="1388269"/>
            <a:ext cx="516767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🟣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GPT — Decoder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26019" y="1678583"/>
            <a:ext cx="5167679" cy="811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Autoregressive generation: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reads left-to-right only, predicting the next token at each step.</a:t>
            </a:r>
            <a:endParaRPr lang="en-US" sz="1000" dirty="0"/>
          </a:p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uses: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Text generation, Code generation, Conversational AI, Summarization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orientation: Generation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535" y="3004542"/>
            <a:ext cx="4867352" cy="261540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0187" y="3288020"/>
            <a:ext cx="1165112" cy="15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Understanding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820187" y="3478640"/>
            <a:ext cx="1165112" cy="186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6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context across tokens.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291047" y="3660082"/>
            <a:ext cx="1165112" cy="15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Encoder Block 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91047" y="3850703"/>
            <a:ext cx="1165112" cy="186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encoder with bidirectional arrows.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820187" y="4041935"/>
            <a:ext cx="1165112" cy="15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Encoder Block 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820187" y="4232556"/>
            <a:ext cx="1165112" cy="186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6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encoder with bidirectional arrows.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291047" y="4467848"/>
            <a:ext cx="1165112" cy="15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Encoder Block 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291047" y="4658469"/>
            <a:ext cx="1165112" cy="186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encoder with bidirectional arrows.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1820187" y="4869283"/>
            <a:ext cx="1165112" cy="15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 Cases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820187" y="5059904"/>
            <a:ext cx="1165112" cy="186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6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Classification, NER, Question Answering.</a:t>
            </a:r>
            <a:endParaRPr lang="en-US" sz="6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625" y="3053159"/>
            <a:ext cx="2518208" cy="25181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723235" y="3486074"/>
            <a:ext cx="811384" cy="14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8723235" y="3662300"/>
            <a:ext cx="811384" cy="25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6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Autoregressive left-to-right token generation.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9945191" y="3486074"/>
            <a:ext cx="811385" cy="14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Decoder Block 1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9945191" y="3662300"/>
            <a:ext cx="811385" cy="25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6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previous tokens and passes context rightward.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8723306" y="4664994"/>
            <a:ext cx="811384" cy="14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Decoder Block 2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8723306" y="4841221"/>
            <a:ext cx="811384" cy="343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6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on earlier context, refining predictions sequentially.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9945191" y="4664994"/>
            <a:ext cx="811385" cy="14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Decoder Block 3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945191" y="4841221"/>
            <a:ext cx="811385" cy="343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600" spc="-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layer produces next-token probabilities for output.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661475" y="5821759"/>
            <a:ext cx="10868745" cy="411559"/>
          </a:xfrm>
          <a:prstGeom prst="roundRect">
            <a:avLst>
              <a:gd name="adj" fmla="val 13292"/>
            </a:avLst>
          </a:prstGeom>
          <a:solidFill>
            <a:srgbClr val="E0D7F4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7" y="5950744"/>
            <a:ext cx="162715" cy="130175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084533" y="5943997"/>
            <a:ext cx="1092510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nuance: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BERT can generate; GPT can understand. These are </a:t>
            </a:r>
            <a:pPr algn="l" indent="0" marL="0">
              <a:lnSpc>
                <a:spcPct val="113000"/>
              </a:lnSpc>
              <a:buNone/>
            </a:pPr>
            <a:r>
              <a:rPr lang="en-US" sz="1000" i="1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cases, not absolute architectural limitations. Both are built on the Transformer foundation.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943"/>
            <a:ext cx="10868745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6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Sentiment Analysis &amp; Text Classification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57970"/>
            <a:ext cx="6935515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 End-to-End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97" y="2253952"/>
            <a:ext cx="5548372" cy="2392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7210" y="2253952"/>
            <a:ext cx="5503946" cy="15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Real-World Applications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377210" y="2520279"/>
            <a:ext cx="1775467" cy="15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377210" y="2743865"/>
            <a:ext cx="1775467" cy="12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Spam / Not Spam detection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241449" y="2520279"/>
            <a:ext cx="1775467" cy="15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41449" y="2743865"/>
            <a:ext cx="1775467" cy="12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 / Politics / Tech routing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105689" y="2520279"/>
            <a:ext cx="1775466" cy="15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Support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105689" y="2743865"/>
            <a:ext cx="1775466" cy="12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/ Refund / Delivery routing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972226" y="2129234"/>
            <a:ext cx="3564245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Sentiment in Action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72226" y="2437507"/>
            <a:ext cx="3564245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72226" y="2818408"/>
            <a:ext cx="3564245" cy="165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Sarcasm: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"Oh great, another bug." — genuinely negative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Negation: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"Not bad at all" — actually positive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Mixed sentiment: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"Good product, awful delivery"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 language: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Medical, legal, financial context shifts meaning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18670"/>
            <a:ext cx="3542219" cy="9033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07928" y="5088930"/>
            <a:ext cx="3125511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10B98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Positive — Score: 0.91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07928" y="5434112"/>
            <a:ext cx="31255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absolutely loved this product!"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4639" y="4918670"/>
            <a:ext cx="3542318" cy="9033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1092" y="5088930"/>
            <a:ext cx="3125610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➖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F59E0B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Neutral — Score: 0.06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71092" y="5434112"/>
            <a:ext cx="31256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product arrived yesterday."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7902" y="4918670"/>
            <a:ext cx="3542318" cy="9033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34355" y="5088930"/>
            <a:ext cx="3125610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EF444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Negative — Score: 0.03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34355" y="5434112"/>
            <a:ext cx="312561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service was terrible."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2026-09-16T05:03:30Z</dcterms:created>
  <dcterms:modified xsi:type="dcterms:W3CDTF">2026-09-16T05:03:30Z</dcterms:modified>
</cp:coreProperties>
</file>