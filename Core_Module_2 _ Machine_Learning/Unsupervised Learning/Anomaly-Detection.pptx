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3.png"/><Relationship Id="rId6" Type="http://schemas.openxmlformats.org/officeDocument/2006/relationships/image" Target="../media/image-5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4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4-7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10123"/>
            <a:ext cx="6296860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Anomaly Detection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661475" y="334327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What Doesn't Belong — From Statistical Outliers to Isolation Forest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160738"/>
            <a:ext cx="346641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6237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4879" y="4217392"/>
            <a:ext cx="384919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· DATA SCIENCE · B.TECH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1224" y="462855"/>
            <a:ext cx="4448957" cy="5932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89025"/>
            <a:ext cx="6296860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an Anomaly?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1475" y="1702891"/>
            <a:ext cx="200912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anomaly is an observation that differs substantially from the expected pattern of the data.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79055"/>
            <a:ext cx="2009129" cy="22947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7803" y="2414588"/>
            <a:ext cx="168727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Real-World Examples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47803" y="2705497"/>
            <a:ext cx="1687272" cy="173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card transaction of unusual amount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request with unusual behavior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reporting extreme temperature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machine with abnormal vibration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 measurement outside expected range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61475" y="4663579"/>
            <a:ext cx="2009129" cy="1015603"/>
          </a:xfrm>
          <a:prstGeom prst="roundRect">
            <a:avLst>
              <a:gd name="adj" fmla="val 5081"/>
            </a:avLst>
          </a:prstGeom>
          <a:solidFill>
            <a:srgbClr val="FCF2B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05" y="4787106"/>
            <a:ext cx="153488" cy="1228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0622" y="4766072"/>
            <a:ext cx="1487153" cy="810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Anomaly ≠ Automatically an Error. It can be fraud, equipment failure, a rare event, or a legitimate but unusual observation.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2976587" y="2975967"/>
            <a:ext cx="3987998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Detection Pipeline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474" y="3276898"/>
            <a:ext cx="2592124" cy="11370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460045" y="4122171"/>
            <a:ext cx="391755" cy="7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b="1" spc="-1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Learn Normal</a:t>
            </a:r>
            <a:endParaRPr lang="en-US" sz="450" dirty="0"/>
          </a:p>
        </p:txBody>
      </p:sp>
      <p:sp>
        <p:nvSpPr>
          <p:cNvPr id="15" name="Text 9"/>
          <p:cNvSpPr/>
          <p:nvPr/>
        </p:nvSpPr>
        <p:spPr>
          <a:xfrm>
            <a:off x="4460045" y="4219284"/>
            <a:ext cx="391755" cy="9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350" spc="-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expected behavior</a:t>
            </a:r>
            <a:endParaRPr lang="en-US" sz="350" dirty="0"/>
          </a:p>
        </p:txBody>
      </p:sp>
      <p:sp>
        <p:nvSpPr>
          <p:cNvPr id="16" name="Text 10"/>
          <p:cNvSpPr/>
          <p:nvPr/>
        </p:nvSpPr>
        <p:spPr>
          <a:xfrm>
            <a:off x="5704559" y="4045011"/>
            <a:ext cx="391755" cy="15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b="1" spc="-1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Investigate / Alert</a:t>
            </a:r>
            <a:endParaRPr lang="en-US" sz="450" dirty="0"/>
          </a:p>
        </p:txBody>
      </p:sp>
      <p:sp>
        <p:nvSpPr>
          <p:cNvPr id="17" name="Text 11"/>
          <p:cNvSpPr/>
          <p:nvPr/>
        </p:nvSpPr>
        <p:spPr>
          <a:xfrm>
            <a:off x="5704559" y="4219284"/>
            <a:ext cx="391755" cy="92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350" spc="-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and notify stakeholders</a:t>
            </a:r>
            <a:endParaRPr lang="en-US" sz="350" dirty="0"/>
          </a:p>
        </p:txBody>
      </p:sp>
      <p:sp>
        <p:nvSpPr>
          <p:cNvPr id="18" name="Text 12"/>
          <p:cNvSpPr/>
          <p:nvPr/>
        </p:nvSpPr>
        <p:spPr>
          <a:xfrm>
            <a:off x="3851506" y="3379092"/>
            <a:ext cx="391755" cy="77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b="1" spc="-1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Raw Data</a:t>
            </a:r>
            <a:endParaRPr lang="en-US" sz="450" dirty="0"/>
          </a:p>
        </p:txBody>
      </p:sp>
      <p:sp>
        <p:nvSpPr>
          <p:cNvPr id="19" name="Text 13"/>
          <p:cNvSpPr/>
          <p:nvPr/>
        </p:nvSpPr>
        <p:spPr>
          <a:xfrm>
            <a:off x="3851506" y="3476206"/>
            <a:ext cx="391755" cy="92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350" spc="-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sensor and logs</a:t>
            </a:r>
            <a:endParaRPr lang="en-US" sz="350" dirty="0"/>
          </a:p>
        </p:txBody>
      </p:sp>
      <p:sp>
        <p:nvSpPr>
          <p:cNvPr id="20" name="Text 14"/>
          <p:cNvSpPr/>
          <p:nvPr/>
        </p:nvSpPr>
        <p:spPr>
          <a:xfrm>
            <a:off x="5091031" y="3379092"/>
            <a:ext cx="391755" cy="15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50" b="1" spc="-10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Identify Unusual</a:t>
            </a:r>
            <a:endParaRPr lang="en-US" sz="450" dirty="0"/>
          </a:p>
        </p:txBody>
      </p:sp>
      <p:sp>
        <p:nvSpPr>
          <p:cNvPr id="21" name="Text 15"/>
          <p:cNvSpPr/>
          <p:nvPr/>
        </p:nvSpPr>
        <p:spPr>
          <a:xfrm>
            <a:off x="5091031" y="3553366"/>
            <a:ext cx="391755" cy="92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350" spc="-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deviations from norm</a:t>
            </a:r>
            <a:endParaRPr lang="en-US" sz="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880"/>
            <a:ext cx="10868745" cy="415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5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Not All Anomalies Look the Same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1106289"/>
            <a:ext cx="3571389" cy="1348184"/>
          </a:xfrm>
          <a:prstGeom prst="roundRect">
            <a:avLst>
              <a:gd name="adj" fmla="val 376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8670" y="1233488"/>
            <a:ext cx="331699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 — Point Anomaly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8670" y="1487686"/>
            <a:ext cx="3316998" cy="68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observation</a:t>
            </a:r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dramatically unusual compared to the rest of the dataset.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Most transactions: ₹100–₹2,000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transaction: </a:t>
            </a:r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₹95,000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10153" y="1106289"/>
            <a:ext cx="3571389" cy="1348184"/>
          </a:xfrm>
          <a:prstGeom prst="roundRect">
            <a:avLst>
              <a:gd name="adj" fmla="val 376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7348" y="1233488"/>
            <a:ext cx="331699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 — Contextual Anomaly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37348" y="1487686"/>
            <a:ext cx="3316998" cy="8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point is unusual </a:t>
            </a:r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only within a specific context</a:t>
            </a:r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time, location, or conditions matter.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Temperature = 35°C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in summer · </a:t>
            </a:r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Unusual in winter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Context: Season + Location + Time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958831" y="1106289"/>
            <a:ext cx="3571389" cy="1348184"/>
          </a:xfrm>
          <a:prstGeom prst="roundRect">
            <a:avLst>
              <a:gd name="adj" fmla="val 376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86027" y="1233488"/>
            <a:ext cx="3316998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 — Collective Anomaly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86027" y="1487686"/>
            <a:ext cx="3316998" cy="839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 or sequence</a:t>
            </a:r>
            <a:pPr algn="l" indent="0" marL="0">
              <a:lnSpc>
                <a:spcPct val="109000"/>
              </a:lnSpc>
              <a:spcAft>
                <a:spcPts val="350"/>
              </a:spcAft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unusual even if individual points appear normal.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Normal: 10, 11, 9, 12, 10…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Then: 100 requests in 3 seconds</a:t>
            </a:r>
            <a:endParaRPr lang="en-US" sz="95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point is extreme — the pattern is.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550" y="2541488"/>
            <a:ext cx="7064595" cy="378063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730658" y="2802978"/>
            <a:ext cx="1141620" cy="215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Point Anomaly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730658" y="3074032"/>
            <a:ext cx="1141620" cy="385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isolated red point far from blue cluster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730658" y="4807824"/>
            <a:ext cx="1141620" cy="430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Collective Anomaly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730658" y="5294242"/>
            <a:ext cx="1141620" cy="385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 series then sudden burst of spikes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313457" y="3805401"/>
            <a:ext cx="1141620" cy="43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Contextual Anomaly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313457" y="4291819"/>
            <a:ext cx="1141620" cy="385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5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series with a red spike in wrong season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450"/>
            <a:ext cx="10868745" cy="402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spc="-5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Intuition to Anomaly Score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100038"/>
            <a:ext cx="1147833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Every observation receives an anomaly score: f(x) — measuring how unusual x is.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61475" y="1414760"/>
            <a:ext cx="3618417" cy="1312863"/>
          </a:xfrm>
          <a:prstGeom prst="roundRect">
            <a:avLst>
              <a:gd name="adj" fmla="val 3746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4900" y="1538188"/>
            <a:ext cx="351226" cy="35123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1437" y="1634728"/>
            <a:ext cx="158052" cy="1580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4900" y="1961952"/>
            <a:ext cx="3371567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Statistical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4900" y="2235696"/>
            <a:ext cx="337156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unlikely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this observation?"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Z-score, Gaussian models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1475" y="2800152"/>
            <a:ext cx="3618417" cy="1312863"/>
          </a:xfrm>
          <a:prstGeom prst="roundRect">
            <a:avLst>
              <a:gd name="adj" fmla="val 3746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4900" y="2923580"/>
            <a:ext cx="351226" cy="35123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437" y="3020120"/>
            <a:ext cx="158052" cy="1580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4900" y="3347343"/>
            <a:ext cx="3371567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Distance / Density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84900" y="3621088"/>
            <a:ext cx="337156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far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normal observations?"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k-NN, Local Outlier Factor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61475" y="4185543"/>
            <a:ext cx="3618417" cy="1312863"/>
          </a:xfrm>
          <a:prstGeom prst="roundRect">
            <a:avLst>
              <a:gd name="adj" fmla="val 3746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4900" y="4308971"/>
            <a:ext cx="351226" cy="351234"/>
          </a:xfrm>
          <a:prstGeom prst="ellipse">
            <a:avLst/>
          </a:prstGeom>
          <a:solidFill>
            <a:srgbClr val="6237C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437" y="4405511"/>
            <a:ext cx="158052" cy="1580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4900" y="4732734"/>
            <a:ext cx="3371567" cy="201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Isolation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84900" y="5006479"/>
            <a:ext cx="337156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b="1" spc="-1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easily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can this be isolated?"</a:t>
            </a:r>
            <a:endParaRPr lang="en-US" sz="9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spc="-1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61475" y="5579963"/>
            <a:ext cx="3618417" cy="643930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50" y="5693569"/>
            <a:ext cx="146344" cy="11707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41969" y="5674519"/>
            <a:ext cx="3120848" cy="454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spc="-18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no universal anomaly detector best for every dataset. Method choice depends on data distribution, dimensionality, and available labels.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0559" y="2826345"/>
            <a:ext cx="4527040" cy="198586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62501" y="4170857"/>
            <a:ext cx="684203" cy="269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Compute Score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7162501" y="4475228"/>
            <a:ext cx="684203" cy="15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anomaly score f(x)</a:t>
            </a:r>
            <a:endParaRPr lang="en-US" sz="600" dirty="0"/>
          </a:p>
        </p:txBody>
      </p:sp>
      <p:sp>
        <p:nvSpPr>
          <p:cNvPr id="25" name="Text 18"/>
          <p:cNvSpPr/>
          <p:nvPr/>
        </p:nvSpPr>
        <p:spPr>
          <a:xfrm>
            <a:off x="9336055" y="4305619"/>
            <a:ext cx="684203" cy="13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Decision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9336055" y="4475228"/>
            <a:ext cx="684203" cy="15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(low) or Anomaly (high)</a:t>
            </a:r>
            <a:endParaRPr lang="en-US" sz="600" dirty="0"/>
          </a:p>
        </p:txBody>
      </p:sp>
      <p:sp>
        <p:nvSpPr>
          <p:cNvPr id="27" name="Text 20"/>
          <p:cNvSpPr/>
          <p:nvPr/>
        </p:nvSpPr>
        <p:spPr>
          <a:xfrm>
            <a:off x="6099681" y="3004829"/>
            <a:ext cx="684204" cy="134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Observation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6099681" y="3174438"/>
            <a:ext cx="684204" cy="79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input data x</a:t>
            </a:r>
            <a:endParaRPr lang="en-US" sz="600" dirty="0"/>
          </a:p>
        </p:txBody>
      </p:sp>
      <p:sp>
        <p:nvSpPr>
          <p:cNvPr id="29" name="Text 22"/>
          <p:cNvSpPr/>
          <p:nvPr/>
        </p:nvSpPr>
        <p:spPr>
          <a:xfrm>
            <a:off x="8264524" y="3004829"/>
            <a:ext cx="684204" cy="269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Apply Threshold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264524" y="3309200"/>
            <a:ext cx="684204" cy="15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score to threshold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5590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Statistical Anomaly Detection — Z-Score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2348508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Worked Example: Transaction Amounts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639417"/>
            <a:ext cx="3609289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Mean: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μ = ₹500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deviation: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σ = ₹100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transaction: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 = ₹900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3253383"/>
            <a:ext cx="421887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Z-Score Formula: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516511"/>
            <a:ext cx="3609289" cy="3356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3953173"/>
            <a:ext cx="421887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observation is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standard deviations above the mean.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726" y="2017415"/>
            <a:ext cx="4523766" cy="2421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84397" y="2238673"/>
            <a:ext cx="1374917" cy="17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 Range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884397" y="2683103"/>
            <a:ext cx="1374917" cy="17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μ, μ+1σ, μ+2σ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884397" y="3127531"/>
            <a:ext cx="1374917" cy="17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μ+3σ (Threshold)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884397" y="3571960"/>
            <a:ext cx="1374917" cy="171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spc="-22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Tail &amp; Anomaly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18137"/>
            <a:ext cx="5394488" cy="854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7803" y="4753670"/>
            <a:ext cx="507263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Rule of Thumb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47803" y="5012630"/>
            <a:ext cx="50726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|z| &gt; 3 may indicate an unusual observation requiring investigation.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5732" y="4618137"/>
            <a:ext cx="5394488" cy="8542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22061" y="4753670"/>
            <a:ext cx="507263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322061" y="5012630"/>
            <a:ext cx="5072630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best when distribution assumptions hold. Extreme outliers can distort mean and standard deviation estimates.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1146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Distance &amp; Density Based Detection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2012950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 2 — Euclidean Distance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303859"/>
            <a:ext cx="421887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 Formula (n dimensions):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66988"/>
            <a:ext cx="3609289" cy="5083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176389"/>
            <a:ext cx="421887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Two-Dimensional Case: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439517"/>
            <a:ext cx="3609289" cy="2256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3766145"/>
            <a:ext cx="421887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Worked Example: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61475" y="4000103"/>
            <a:ext cx="3609289" cy="35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A: (2, 3) — Point B: (6, 6)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d(A,B) = √[(6−2)² + (6−3)²] = √(16+9) = √25 =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10B98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61475" y="4472682"/>
            <a:ext cx="3609289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61475" y="4605834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Local Density Approach (LOF)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61475" y="4896743"/>
            <a:ext cx="3609289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563E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 region: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local density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Anomalous region: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LOW local density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Outlier Factor compares local density with neighbors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726" y="2453680"/>
            <a:ext cx="4523766" cy="24925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05183" y="2801433"/>
            <a:ext cx="854468" cy="322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Distance Example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905183" y="3165503"/>
            <a:ext cx="854468" cy="193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7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A (2,3) and B (6,6) with d = 5.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9349106" y="3530876"/>
            <a:ext cx="854468" cy="322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2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Density Anomaly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349106" y="3894946"/>
            <a:ext cx="854468" cy="29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700" spc="-1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 blue cluster vs single red low-density anomaly.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1224" y="462855"/>
            <a:ext cx="4448957" cy="5932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22995"/>
            <a:ext cx="6296860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Isolation Forest — Core Intuition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1475" y="2044799"/>
            <a:ext cx="200912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06B6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2335709"/>
            <a:ext cx="2009129" cy="810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Anomalies are easier to isolate than normal points.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Isolation Forest builds many random trees and measures how quickly each observation becomes isolated.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61475" y="3236119"/>
            <a:ext cx="2009129" cy="1177727"/>
          </a:xfrm>
          <a:prstGeom prst="roundRect">
            <a:avLst>
              <a:gd name="adj" fmla="val 4381"/>
            </a:avLst>
          </a:prstGeom>
          <a:solidFill>
            <a:srgbClr val="E0D7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05" y="3359646"/>
            <a:ext cx="153488" cy="1228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0622" y="3338612"/>
            <a:ext cx="1487153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Forest does NOT model normality by estimating a probability distribution — it exploits isolation path length directly.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474" y="2597150"/>
            <a:ext cx="2592124" cy="127426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42868" y="2710684"/>
            <a:ext cx="652071" cy="8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b="1" spc="-1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 — Long Path</a:t>
            </a:r>
            <a:endParaRPr lang="en-US" sz="500" dirty="0"/>
          </a:p>
        </p:txBody>
      </p:sp>
      <p:sp>
        <p:nvSpPr>
          <p:cNvPr id="12" name="Text 7"/>
          <p:cNvSpPr/>
          <p:nvPr/>
        </p:nvSpPr>
        <p:spPr>
          <a:xfrm>
            <a:off x="4942868" y="2813272"/>
            <a:ext cx="1198757" cy="48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50" spc="-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splits (blue)</a:t>
            </a:r>
            <a:endParaRPr lang="en-US" sz="350" dirty="0"/>
          </a:p>
        </p:txBody>
      </p:sp>
      <p:sp>
        <p:nvSpPr>
          <p:cNvPr id="13" name="Text 8"/>
          <p:cNvSpPr/>
          <p:nvPr/>
        </p:nvSpPr>
        <p:spPr>
          <a:xfrm>
            <a:off x="4942868" y="3008405"/>
            <a:ext cx="652071" cy="8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b="1" spc="-1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Anomaly — Short Path</a:t>
            </a:r>
            <a:endParaRPr lang="en-US" sz="500" dirty="0"/>
          </a:p>
        </p:txBody>
      </p:sp>
      <p:sp>
        <p:nvSpPr>
          <p:cNvPr id="14" name="Text 9"/>
          <p:cNvSpPr/>
          <p:nvPr/>
        </p:nvSpPr>
        <p:spPr>
          <a:xfrm>
            <a:off x="4942868" y="3110993"/>
            <a:ext cx="1198757" cy="48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50" spc="-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quickly (red)</a:t>
            </a:r>
            <a:endParaRPr lang="en-US" sz="350" dirty="0"/>
          </a:p>
        </p:txBody>
      </p:sp>
      <p:sp>
        <p:nvSpPr>
          <p:cNvPr id="15" name="Text 10"/>
          <p:cNvSpPr/>
          <p:nvPr/>
        </p:nvSpPr>
        <p:spPr>
          <a:xfrm>
            <a:off x="4942868" y="3306125"/>
            <a:ext cx="652071" cy="8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b="1" spc="-1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&lt; 80?</a:t>
            </a:r>
            <a:endParaRPr lang="en-US" sz="500" dirty="0"/>
          </a:p>
        </p:txBody>
      </p:sp>
      <p:sp>
        <p:nvSpPr>
          <p:cNvPr id="16" name="Text 11"/>
          <p:cNvSpPr/>
          <p:nvPr/>
        </p:nvSpPr>
        <p:spPr>
          <a:xfrm>
            <a:off x="4942868" y="3408714"/>
            <a:ext cx="1198757" cy="4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50" spc="-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split check</a:t>
            </a:r>
            <a:endParaRPr lang="en-US" sz="350" dirty="0"/>
          </a:p>
        </p:txBody>
      </p:sp>
      <p:sp>
        <p:nvSpPr>
          <p:cNvPr id="17" name="Text 12"/>
          <p:cNvSpPr/>
          <p:nvPr/>
        </p:nvSpPr>
        <p:spPr>
          <a:xfrm>
            <a:off x="4945502" y="3603846"/>
            <a:ext cx="652071" cy="8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00" b="1" spc="-10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&lt; 50?</a:t>
            </a:r>
            <a:endParaRPr lang="en-US" sz="500" dirty="0"/>
          </a:p>
        </p:txBody>
      </p:sp>
      <p:sp>
        <p:nvSpPr>
          <p:cNvPr id="18" name="Text 13"/>
          <p:cNvSpPr/>
          <p:nvPr/>
        </p:nvSpPr>
        <p:spPr>
          <a:xfrm>
            <a:off x="4945502" y="3706434"/>
            <a:ext cx="1198757" cy="4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350" spc="-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split decision</a:t>
            </a:r>
            <a:endParaRPr lang="en-US" sz="350" dirty="0"/>
          </a:p>
        </p:txBody>
      </p:sp>
      <p:sp>
        <p:nvSpPr>
          <p:cNvPr id="19" name="Shape 14"/>
          <p:cNvSpPr/>
          <p:nvPr/>
        </p:nvSpPr>
        <p:spPr>
          <a:xfrm>
            <a:off x="661475" y="4593431"/>
            <a:ext cx="6296860" cy="841573"/>
          </a:xfrm>
          <a:prstGeom prst="roundRect">
            <a:avLst>
              <a:gd name="adj" fmla="val 6132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7825" y="4599781"/>
            <a:ext cx="3142080" cy="828873"/>
          </a:xfrm>
          <a:custGeom>
            <a:avLst/>
            <a:gdLst/>
            <a:ahLst/>
            <a:cxnLst/>
            <a:rect l="l" t="t" r="r" b="b"/>
            <a:pathLst>
              <a:path w="3142080" h="828873">
                <a:moveTo>
                  <a:pt x="43002" y="0"/>
                </a:moveTo>
                <a:lnTo>
                  <a:pt x="3142080" y="0"/>
                </a:lnTo>
                <a:lnTo>
                  <a:pt x="3142080" y="828873"/>
                </a:lnTo>
                <a:lnTo>
                  <a:pt x="43002" y="828873"/>
                </a:lnTo>
                <a:arcTo hR="43003" wR="43002" stAng="5400000" swAng="5400000"/>
                <a:lnTo>
                  <a:pt x="0" y="43003"/>
                </a:lnTo>
                <a:arcTo hR="43003" wR="43002" stAng="10800000" swAng="5400000"/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21" name="Text 16"/>
          <p:cNvSpPr/>
          <p:nvPr/>
        </p:nvSpPr>
        <p:spPr>
          <a:xfrm>
            <a:off x="790654" y="4722614"/>
            <a:ext cx="289642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 Points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90654" y="4981575"/>
            <a:ext cx="289642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Surrounded by many similar observations → require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MORE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random splits to isolate →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PATH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809905" y="4599781"/>
            <a:ext cx="3142080" cy="828873"/>
          </a:xfrm>
          <a:custGeom>
            <a:avLst/>
            <a:gdLst/>
            <a:ahLst/>
            <a:cxnLst/>
            <a:rect l="l" t="t" r="r" b="b"/>
            <a:pathLst>
              <a:path w="3142080" h="828873">
                <a:moveTo>
                  <a:pt x="0" y="0"/>
                </a:moveTo>
                <a:lnTo>
                  <a:pt x="3099078" y="0"/>
                </a:lnTo>
                <a:arcTo hR="43003" wR="43002" stAng="16200000" swAng="5400000"/>
                <a:lnTo>
                  <a:pt x="3142080" y="785871"/>
                </a:lnTo>
                <a:arcTo hR="43003" wR="43002" stAng="0" swAng="5400000"/>
                <a:lnTo>
                  <a:pt x="0" y="828873"/>
                </a:lnTo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24" name="Shape 19"/>
          <p:cNvSpPr/>
          <p:nvPr/>
        </p:nvSpPr>
        <p:spPr>
          <a:xfrm>
            <a:off x="3809905" y="4599781"/>
            <a:ext cx="12700" cy="828873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25" name="Text 20"/>
          <p:cNvSpPr/>
          <p:nvPr/>
        </p:nvSpPr>
        <p:spPr>
          <a:xfrm>
            <a:off x="3932734" y="4722614"/>
            <a:ext cx="289642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Anomalies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932734" y="4981575"/>
            <a:ext cx="2896421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from majority → require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FEWER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random splits → 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PATH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5487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Isolation Forest — Mathematics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1817291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Path Length &amp; Anomaly Score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108200"/>
            <a:ext cx="3609289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h(x)</a:t>
            </a:r>
            <a:pPr algn="l" indent="0" marL="0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number of edges to isolate x in one tree</a:t>
            </a:r>
            <a:endParaRPr lang="en-US" sz="9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E[h(x)]</a:t>
            </a:r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average path length across all trees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2576116"/>
            <a:ext cx="3609289" cy="35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Shorter E[h(x)] →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anomalous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Longer E[h(x)] →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normal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61475" y="3048695"/>
            <a:ext cx="3609289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181846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Anomaly Score Formula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493988"/>
            <a:ext cx="3609289" cy="2634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1475" y="3858419"/>
            <a:ext cx="421887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Normalization factor: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121547"/>
            <a:ext cx="3609289" cy="3533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1475" y="4575870"/>
            <a:ext cx="421887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H is the harmonic number, n is sample size.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61475" y="4858445"/>
            <a:ext cx="3609289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61475" y="4991596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Score Interpretation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1475" y="5282505"/>
            <a:ext cx="3609289" cy="35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E[h(x)] small →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 → 1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Anomaly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E[h(x)] large →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 → 0.5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lower →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726" y="2722959"/>
            <a:ext cx="4523766" cy="19540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74243" y="4034496"/>
            <a:ext cx="671681" cy="26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Measure Path Lengths h(x)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874243" y="4338436"/>
            <a:ext cx="671681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edges to isolate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8598948" y="4034496"/>
            <a:ext cx="671681" cy="26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Calculate s(x,n)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8598948" y="4338436"/>
            <a:ext cx="671681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to anomaly score</a:t>
            </a:r>
            <a:endParaRPr lang="en-US" sz="600" dirty="0"/>
          </a:p>
        </p:txBody>
      </p:sp>
      <p:sp>
        <p:nvSpPr>
          <p:cNvPr id="20" name="Text 15"/>
          <p:cNvSpPr/>
          <p:nvPr/>
        </p:nvSpPr>
        <p:spPr>
          <a:xfrm>
            <a:off x="6014032" y="2899277"/>
            <a:ext cx="671681" cy="40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Many Random Trees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6014032" y="3337787"/>
            <a:ext cx="671681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isolation trees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9433537" y="2899277"/>
            <a:ext cx="671681" cy="26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Anomaly Decision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9433537" y="3203217"/>
            <a:ext cx="671681" cy="242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Classify NORMAL/AMBER/RED</a:t>
            </a:r>
            <a:endParaRPr lang="en-US" sz="600" dirty="0"/>
          </a:p>
        </p:txBody>
      </p:sp>
      <p:sp>
        <p:nvSpPr>
          <p:cNvPr id="24" name="Text 19"/>
          <p:cNvSpPr/>
          <p:nvPr/>
        </p:nvSpPr>
        <p:spPr>
          <a:xfrm>
            <a:off x="7747299" y="2899277"/>
            <a:ext cx="671682" cy="26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spc="-1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Compute E[h(x)]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7747299" y="3203217"/>
            <a:ext cx="671682" cy="16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across trees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3407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spc="-53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Worked Example — Isolation in Action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2005211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Daily Transaction Amounts (₹)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96120"/>
            <a:ext cx="421887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100, 110, 105, 120, 115, 108, 112, 118, 125,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spc="-19" kern="0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61475" y="2578695"/>
            <a:ext cx="3609289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711847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002756"/>
            <a:ext cx="3609289" cy="51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≈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F59E0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₹181.3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(heavily distorted by 900)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lesson: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Outliers skew statistical measures — Z-score can be unreliable when the anomaly is extreme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1475" y="3637459"/>
            <a:ext cx="3609289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3770610"/>
            <a:ext cx="3609289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-27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Isolation Forest Perspective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4061520"/>
            <a:ext cx="3609289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split on transaction amount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900 isolated with very few splits</a:t>
            </a:r>
            <a:endParaRPr lang="en-US" sz="950" dirty="0"/>
          </a:p>
          <a:p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path length → </a:t>
            </a:r>
            <a:pPr algn="l" marL="193040" indent="-193040">
              <a:lnSpc>
                <a:spcPct val="110000"/>
              </a:lnSpc>
              <a:buSzPct val="100000"/>
              <a:buChar char="•"/>
            </a:pPr>
            <a:r>
              <a:rPr lang="en-US" sz="950" b="1" spc="-19" kern="0" dirty="0">
                <a:solidFill>
                  <a:srgbClr val="E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anomaly score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1475" y="4693444"/>
            <a:ext cx="3609289" cy="691356"/>
          </a:xfrm>
          <a:prstGeom prst="roundRect">
            <a:avLst>
              <a:gd name="adj" fmla="val 7464"/>
            </a:avLst>
          </a:prstGeom>
          <a:solidFill>
            <a:srgbClr val="FCF2B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05" y="4816971"/>
            <a:ext cx="153488" cy="12283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622" y="4795937"/>
            <a:ext cx="3087313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decisions depend on: algorithm choice, contamination assumptions, feature scaling, data distribution, and threshold selection.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726" y="2567880"/>
            <a:ext cx="4523766" cy="22641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15090" y="3598423"/>
            <a:ext cx="849608" cy="13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Low Amount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498348" y="4632920"/>
            <a:ext cx="1118500" cy="13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Low Frequency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9444001" y="3598423"/>
            <a:ext cx="849608" cy="13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Amount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495805" y="2654453"/>
            <a:ext cx="1118500" cy="13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-1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Frequency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062387" y="4195819"/>
            <a:ext cx="872204" cy="83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Frequency Gap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8259973" y="4200338"/>
            <a:ext cx="872204" cy="83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Cluster Arrow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8259973" y="3322322"/>
            <a:ext cx="872204" cy="167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Isolated Observation — Strong Anomaly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7035271" y="3322322"/>
            <a:ext cx="872205" cy="167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" spc="-1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Region (9 transactions)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583"/>
            <a:ext cx="10868745" cy="40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spc="-5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 Implementation &amp; Evaluation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31987"/>
            <a:ext cx="5847112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6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scikit-learn — Isolation Forest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420713"/>
            <a:ext cx="5847112" cy="4047927"/>
          </a:xfrm>
          <a:prstGeom prst="roundRect">
            <a:avLst>
              <a:gd name="adj" fmla="val 1235"/>
            </a:avLst>
          </a:prstGeom>
          <a:solidFill>
            <a:srgbClr val="F0EDEA"/>
          </a:solidFill>
          <a:ln/>
        </p:spPr>
      </p:sp>
      <p:sp>
        <p:nvSpPr>
          <p:cNvPr id="5" name="Text 3"/>
          <p:cNvSpPr/>
          <p:nvPr/>
        </p:nvSpPr>
        <p:spPr>
          <a:xfrm>
            <a:off x="804247" y="1539677"/>
            <a:ext cx="5561568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IsolationForest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df[['amount', 'frequency']]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StandardScaler().fit_transform(X)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IsolationForest(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n_estimators=200,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contamination=0.02,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model.fit(X_scaled)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 = model.predict(X_scaled)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df['anomaly'] = predictions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continuous anomaly scores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model.decision_function(X_scaled)</a:t>
            </a:r>
            <a:endParaRPr lang="en-US" sz="9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00" spc="-19" kern="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df['anomaly_score'] = scores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1475" y="5552877"/>
            <a:ext cx="5847112" cy="685205"/>
          </a:xfrm>
          <a:prstGeom prst="roundRect">
            <a:avLst>
              <a:gd name="adj" fmla="val 7296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825" y="5559227"/>
            <a:ext cx="2917157" cy="672505"/>
          </a:xfrm>
          <a:custGeom>
            <a:avLst/>
            <a:gdLst/>
            <a:ahLst/>
            <a:cxnLst/>
            <a:rect l="l" t="t" r="r" b="b"/>
            <a:pathLst>
              <a:path w="2917157" h="672505">
                <a:moveTo>
                  <a:pt x="41658" y="0"/>
                </a:moveTo>
                <a:lnTo>
                  <a:pt x="2917157" y="0"/>
                </a:lnTo>
                <a:lnTo>
                  <a:pt x="2917157" y="672505"/>
                </a:lnTo>
                <a:lnTo>
                  <a:pt x="41658" y="672505"/>
                </a:lnTo>
                <a:arcTo hR="41659" wR="41658" stAng="5400000" swAng="5400000"/>
                <a:lnTo>
                  <a:pt x="0" y="41659"/>
                </a:lnTo>
                <a:arcTo hR="41659" wR="41658" stAng="10800000" swAng="5400000"/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8" name="Text 6"/>
          <p:cNvSpPr/>
          <p:nvPr/>
        </p:nvSpPr>
        <p:spPr>
          <a:xfrm>
            <a:off x="786785" y="5678190"/>
            <a:ext cx="2679236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6" kern="0" dirty="0">
                <a:solidFill>
                  <a:srgbClr val="10B98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+1 → Inlier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785" y="5957590"/>
            <a:ext cx="267923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observation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84981" y="5559227"/>
            <a:ext cx="2917256" cy="672505"/>
          </a:xfrm>
          <a:custGeom>
            <a:avLst/>
            <a:gdLst/>
            <a:ahLst/>
            <a:cxnLst/>
            <a:rect l="l" t="t" r="r" b="b"/>
            <a:pathLst>
              <a:path w="2917256" h="672505">
                <a:moveTo>
                  <a:pt x="0" y="0"/>
                </a:moveTo>
                <a:lnTo>
                  <a:pt x="2875598" y="0"/>
                </a:lnTo>
                <a:arcTo hR="41659" wR="41658" stAng="16200000" swAng="5400000"/>
                <a:lnTo>
                  <a:pt x="2917256" y="630846"/>
                </a:lnTo>
                <a:arcTo hR="41659" wR="41658" stAng="0" swAng="5400000"/>
                <a:lnTo>
                  <a:pt x="0" y="672505"/>
                </a:lnTo>
                <a:lnTo>
                  <a:pt x="0" y="0"/>
                </a:lnTo>
                <a:close/>
              </a:path>
            </a:pathLst>
          </a:custGeom>
          <a:solidFill>
            <a:srgbClr val="E0D7F4"/>
          </a:solidFill>
          <a:ln/>
        </p:spPr>
      </p:sp>
      <p:sp>
        <p:nvSpPr>
          <p:cNvPr id="11" name="Shape 9"/>
          <p:cNvSpPr/>
          <p:nvPr/>
        </p:nvSpPr>
        <p:spPr>
          <a:xfrm>
            <a:off x="3584981" y="5559227"/>
            <a:ext cx="12700" cy="672505"/>
          </a:xfrm>
          <a:prstGeom prst="roundRect">
            <a:avLst>
              <a:gd name="adj" fmla="val 49999"/>
            </a:avLst>
          </a:prstGeom>
          <a:solidFill>
            <a:srgbClr val="C6BDDA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942" y="5678190"/>
            <a:ext cx="2679335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6" kern="0" dirty="0">
                <a:solidFill>
                  <a:srgbClr val="EF444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−1 → Outlier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03942" y="5957590"/>
            <a:ext cx="2679335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Flagged anomaly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05244" y="1865412"/>
            <a:ext cx="473122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6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Detection Pipeline</a:t>
            </a:r>
            <a:endParaRPr lang="en-US" sz="12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204" y="2154138"/>
            <a:ext cx="3075208" cy="13260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840209" y="3224366"/>
            <a:ext cx="767384" cy="95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IsolationForest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7840209" y="2917405"/>
            <a:ext cx="767384" cy="95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Scaling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7840209" y="2613545"/>
            <a:ext cx="767384" cy="95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Cleaning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840209" y="2306583"/>
            <a:ext cx="767384" cy="95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spc="-12" kern="0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Raw Data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805244" y="3564434"/>
            <a:ext cx="4731227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spc="-26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Sample Output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05244" y="3853160"/>
          <a:ext cx="9143771" cy="914400"/>
        </p:xfrm>
        <a:graphic>
          <a:graphicData uri="http://schemas.openxmlformats.org/drawingml/2006/table">
            <a:tbl>
              <a:tblPr/>
              <a:tblGrid>
                <a:gridCol w="1577076"/>
                <a:gridCol w="1577076"/>
                <a:gridCol w="1577076"/>
              </a:tblGrid>
              <a:tr h="2609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Transaction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Prediction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6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T101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−0.03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-19" kern="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641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T102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−0.01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-19" kern="0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Normal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2609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T103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spc="-19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−0.42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-19" kern="0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Anomaly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23" marR="119023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6805244" y="5000228"/>
            <a:ext cx="4731227" cy="504428"/>
          </a:xfrm>
          <a:prstGeom prst="roundRect">
            <a:avLst>
              <a:gd name="adj" fmla="val 9910"/>
            </a:avLst>
          </a:prstGeom>
          <a:solidFill>
            <a:srgbClr val="FCF2B5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204" y="5114925"/>
            <a:ext cx="148725" cy="11896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91890" y="5097264"/>
            <a:ext cx="4225621" cy="310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00" spc="-19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is misleading when anomalies are rare. Use Precision, Recall, F1, PR-AUC, or ROC-AUC instead.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2026-09-16T05:12:05Z</dcterms:created>
  <dcterms:modified xsi:type="dcterms:W3CDTF">2026-09-16T05:12:05Z</dcterms:modified>
</cp:coreProperties>
</file>