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Inter Bold"/>
      <p:regular r:id="rId201314"/>
    </p:embeddedFont>
    <p:embeddedFont>
      <p:font typeface="Inter"/>
      <p:regular r:id="rId201315"/>
    </p:embeddedFont>
    <p:embeddedFont>
      <p:font typeface="Petrona Bold"/>
      <p:regular r:id="rId2013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2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A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3.png"/><Relationship Id="rId6" Type="http://schemas.openxmlformats.org/officeDocument/2006/relationships/image" Target="../media/image-2-4.svg"/><Relationship Id="rId7" Type="http://schemas.openxmlformats.org/officeDocument/2006/relationships/image" Target="../media/image-2-3.png"/><Relationship Id="rId8" Type="http://schemas.openxmlformats.org/officeDocument/2006/relationships/image" Target="../media/image-2-4.svg"/><Relationship Id="rId9" Type="http://schemas.openxmlformats.org/officeDocument/2006/relationships/image" Target="../media/image-2-3.png"/><Relationship Id="rId10" Type="http://schemas.openxmlformats.org/officeDocument/2006/relationships/image" Target="../media/image-2-4.svg"/><Relationship Id="rId11" Type="http://schemas.openxmlformats.org/officeDocument/2006/relationships/image" Target="../media/image-2-3.png"/><Relationship Id="rId12" Type="http://schemas.openxmlformats.org/officeDocument/2006/relationships/image" Target="../media/image-2-4.svg"/><Relationship Id="rId13" Type="http://schemas.openxmlformats.org/officeDocument/2006/relationships/slideLayout" Target="../slideLayouts/slideLayout2.xml"/><Relationship Id="rId1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svg"/><Relationship Id="rId4" Type="http://schemas.openxmlformats.org/officeDocument/2006/relationships/image" Target="../media/image-3-2.png"/><Relationship Id="rId5" Type="http://schemas.openxmlformats.org/officeDocument/2006/relationships/image" Target="../media/image-3-3.svg"/><Relationship Id="rId6" Type="http://schemas.openxmlformats.org/officeDocument/2006/relationships/image" Target="../media/image-3-6.png"/><Relationship Id="rId7" Type="http://schemas.openxmlformats.org/officeDocument/2006/relationships/image" Target="../media/image-3-7.svg"/><Relationship Id="rId8" Type="http://schemas.openxmlformats.org/officeDocument/2006/relationships/image" Target="../media/image-3-8.pn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image" Target="../media/image-5-5.png"/><Relationship Id="rId6" Type="http://schemas.openxmlformats.org/officeDocument/2006/relationships/image" Target="../media/image-5-6.svg"/><Relationship Id="rId7" Type="http://schemas.openxmlformats.org/officeDocument/2006/relationships/image" Target="../media/image-5-7.png"/><Relationship Id="rId8" Type="http://schemas.openxmlformats.org/officeDocument/2006/relationships/image" Target="../media/image-5-8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2-2.png"/><Relationship Id="rId3" Type="http://schemas.openxmlformats.org/officeDocument/2006/relationships/image" Target="../media/image-6-3.png"/><Relationship Id="rId4" Type="http://schemas.openxmlformats.org/officeDocument/2006/relationships/image" Target="../media/image-6-4.svg"/><Relationship Id="rId5" Type="http://schemas.openxmlformats.org/officeDocument/2006/relationships/image" Target="../media/image-6-3.png"/><Relationship Id="rId6" Type="http://schemas.openxmlformats.org/officeDocument/2006/relationships/image" Target="../media/image-6-4.svg"/><Relationship Id="rId7" Type="http://schemas.openxmlformats.org/officeDocument/2006/relationships/image" Target="../media/image-6-7.png"/><Relationship Id="rId8" Type="http://schemas.openxmlformats.org/officeDocument/2006/relationships/image" Target="../media/image-6-8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svg"/><Relationship Id="rId4" Type="http://schemas.openxmlformats.org/officeDocument/2006/relationships/image" Target="../media/image-10-4.png"/><Relationship Id="rId5" Type="http://schemas.openxmlformats.org/officeDocument/2006/relationships/image" Target="../media/image-10-5.svg"/><Relationship Id="rId6" Type="http://schemas.openxmlformats.org/officeDocument/2006/relationships/image" Target="../media/image-10-6.png"/><Relationship Id="rId7" Type="http://schemas.openxmlformats.org/officeDocument/2006/relationships/image" Target="../media/image-10-7.svg"/><Relationship Id="rId8" Type="http://schemas.openxmlformats.org/officeDocument/2006/relationships/image" Target="../media/image-10-8.pn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276648"/>
            <a:ext cx="10868745" cy="540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3400" b="1" spc="-68" kern="0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Association Rule Mining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61475" y="1876326"/>
            <a:ext cx="10868745" cy="2699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700" b="1" spc="-34" kern="0" dirty="0">
                <a:solidFill>
                  <a:srgbClr val="06B6D4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Apriori Algorithm</a:t>
            </a:r>
            <a:pPr algn="ctr" indent="0" marL="0">
              <a:lnSpc>
                <a:spcPct val="104000"/>
              </a:lnSpc>
              <a:buNone/>
            </a:pPr>
            <a:r>
              <a:rPr lang="en-US" sz="1700" b="1" spc="-34" kern="0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 · Discovering Hidden Relationships in Transaction Data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61475" y="2370138"/>
            <a:ext cx="10868745" cy="1850231"/>
          </a:xfrm>
          <a:prstGeom prst="roundRect">
            <a:avLst>
              <a:gd name="adj" fmla="val 3567"/>
            </a:avLst>
          </a:prstGeom>
          <a:solidFill>
            <a:srgbClr val="E0D7F4"/>
          </a:solidFill>
          <a:ln w="6350">
            <a:solidFill>
              <a:srgbClr val="C6BDD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67825" y="2376488"/>
            <a:ext cx="5428023" cy="918766"/>
          </a:xfrm>
          <a:custGeom>
            <a:avLst/>
            <a:gdLst/>
            <a:ahLst/>
            <a:cxnLst/>
            <a:rect l="l" t="t" r="r" b="b"/>
            <a:pathLst>
              <a:path w="5428023" h="918766">
                <a:moveTo>
                  <a:pt x="54993" y="0"/>
                </a:moveTo>
                <a:lnTo>
                  <a:pt x="5428023" y="0"/>
                </a:lnTo>
                <a:lnTo>
                  <a:pt x="5428023" y="918766"/>
                </a:lnTo>
                <a:lnTo>
                  <a:pt x="0" y="918766"/>
                </a:lnTo>
                <a:lnTo>
                  <a:pt x="0" y="54994"/>
                </a:lnTo>
                <a:arcTo hR="54994" wR="54993" stAng="10800000" swAng="5400000"/>
                <a:close/>
              </a:path>
            </a:pathLst>
          </a:custGeom>
          <a:solidFill>
            <a:srgbClr val="E0D7F4"/>
          </a:solidFill>
          <a:ln/>
        </p:spPr>
      </p:sp>
      <p:sp>
        <p:nvSpPr>
          <p:cNvPr id="6" name="Text 4"/>
          <p:cNvSpPr/>
          <p:nvPr/>
        </p:nvSpPr>
        <p:spPr>
          <a:xfrm>
            <a:off x="824884" y="2533551"/>
            <a:ext cx="5113904" cy="2699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b="1" spc="-34" kern="0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Mathematical Rigor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24884" y="2893020"/>
            <a:ext cx="5113904" cy="245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spc="-2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Support, Confidence, and Lift — rigorously defined and applied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095848" y="2376488"/>
            <a:ext cx="5428023" cy="918766"/>
          </a:xfrm>
          <a:custGeom>
            <a:avLst/>
            <a:gdLst/>
            <a:ahLst/>
            <a:cxnLst/>
            <a:rect l="l" t="t" r="r" b="b"/>
            <a:pathLst>
              <a:path w="5428023" h="918766">
                <a:moveTo>
                  <a:pt x="0" y="0"/>
                </a:moveTo>
                <a:lnTo>
                  <a:pt x="5373030" y="0"/>
                </a:lnTo>
                <a:arcTo hR="54994" wR="54993" stAng="16200000" swAng="5400000"/>
                <a:lnTo>
                  <a:pt x="5428023" y="918766"/>
                </a:lnTo>
                <a:lnTo>
                  <a:pt x="0" y="918766"/>
                </a:lnTo>
                <a:lnTo>
                  <a:pt x="0" y="0"/>
                </a:lnTo>
                <a:close/>
              </a:path>
            </a:pathLst>
          </a:custGeom>
          <a:solidFill>
            <a:srgbClr val="E0D7F4"/>
          </a:solidFill>
          <a:ln/>
        </p:spPr>
      </p:sp>
      <p:sp>
        <p:nvSpPr>
          <p:cNvPr id="9" name="Shape 7"/>
          <p:cNvSpPr/>
          <p:nvPr/>
        </p:nvSpPr>
        <p:spPr>
          <a:xfrm>
            <a:off x="6095848" y="2376488"/>
            <a:ext cx="19050" cy="918766"/>
          </a:xfrm>
          <a:prstGeom prst="roundRect">
            <a:avLst>
              <a:gd name="adj" fmla="val 49999"/>
            </a:avLst>
          </a:prstGeom>
          <a:solidFill>
            <a:srgbClr val="C6BDDA"/>
          </a:solidFill>
          <a:ln/>
        </p:spPr>
      </p:sp>
      <p:sp>
        <p:nvSpPr>
          <p:cNvPr id="10" name="Text 8"/>
          <p:cNvSpPr/>
          <p:nvPr/>
        </p:nvSpPr>
        <p:spPr>
          <a:xfrm>
            <a:off x="6252907" y="2533551"/>
            <a:ext cx="5113904" cy="2699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b="1" spc="-34" kern="0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Complete Pipeline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252907" y="2893020"/>
            <a:ext cx="5113904" cy="245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spc="-2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raw transactions to actionable association rules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67825" y="3295253"/>
            <a:ext cx="5428023" cy="918766"/>
          </a:xfrm>
          <a:custGeom>
            <a:avLst/>
            <a:gdLst/>
            <a:ahLst/>
            <a:cxnLst/>
            <a:rect l="l" t="t" r="r" b="b"/>
            <a:pathLst>
              <a:path w="5428023" h="918766">
                <a:moveTo>
                  <a:pt x="0" y="0"/>
                </a:moveTo>
                <a:lnTo>
                  <a:pt x="5428023" y="0"/>
                </a:lnTo>
                <a:lnTo>
                  <a:pt x="5428023" y="918766"/>
                </a:lnTo>
                <a:lnTo>
                  <a:pt x="54993" y="918766"/>
                </a:lnTo>
                <a:arcTo hR="54994" wR="54993" stAng="5400000" swAng="5400000"/>
                <a:lnTo>
                  <a:pt x="0" y="0"/>
                </a:lnTo>
                <a:close/>
              </a:path>
            </a:pathLst>
          </a:custGeom>
          <a:solidFill>
            <a:srgbClr val="E0D7F4"/>
          </a:solidFill>
          <a:ln/>
        </p:spPr>
      </p:sp>
      <p:sp>
        <p:nvSpPr>
          <p:cNvPr id="13" name="Shape 11"/>
          <p:cNvSpPr/>
          <p:nvPr/>
        </p:nvSpPr>
        <p:spPr>
          <a:xfrm>
            <a:off x="667825" y="3295253"/>
            <a:ext cx="5428023" cy="19050"/>
          </a:xfrm>
          <a:prstGeom prst="roundRect">
            <a:avLst>
              <a:gd name="adj" fmla="val 49999"/>
            </a:avLst>
          </a:prstGeom>
          <a:solidFill>
            <a:srgbClr val="C6BDDA"/>
          </a:solidFill>
          <a:ln/>
        </p:spPr>
      </p:sp>
      <p:sp>
        <p:nvSpPr>
          <p:cNvPr id="14" name="Text 12"/>
          <p:cNvSpPr/>
          <p:nvPr/>
        </p:nvSpPr>
        <p:spPr>
          <a:xfrm>
            <a:off x="824884" y="3452316"/>
            <a:ext cx="5113904" cy="2699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b="1" spc="-34" kern="0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Practical Code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24884" y="3811786"/>
            <a:ext cx="5113904" cy="245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spc="-2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Python implementation with mlxtend — ready to run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095848" y="3295253"/>
            <a:ext cx="5428023" cy="918766"/>
          </a:xfrm>
          <a:custGeom>
            <a:avLst/>
            <a:gdLst/>
            <a:ahLst/>
            <a:cxnLst/>
            <a:rect l="l" t="t" r="r" b="b"/>
            <a:pathLst>
              <a:path w="5428023" h="918766">
                <a:moveTo>
                  <a:pt x="0" y="0"/>
                </a:moveTo>
                <a:lnTo>
                  <a:pt x="5428023" y="0"/>
                </a:lnTo>
                <a:lnTo>
                  <a:pt x="5428023" y="863772"/>
                </a:lnTo>
                <a:arcTo hR="54994" wR="54993" stAng="0" swAng="5400000"/>
                <a:lnTo>
                  <a:pt x="0" y="918766"/>
                </a:lnTo>
                <a:lnTo>
                  <a:pt x="0" y="0"/>
                </a:lnTo>
                <a:close/>
              </a:path>
            </a:pathLst>
          </a:custGeom>
          <a:solidFill>
            <a:srgbClr val="E0D7F4"/>
          </a:solidFill>
          <a:ln/>
        </p:spPr>
      </p:sp>
      <p:sp>
        <p:nvSpPr>
          <p:cNvPr id="17" name="Shape 15"/>
          <p:cNvSpPr/>
          <p:nvPr/>
        </p:nvSpPr>
        <p:spPr>
          <a:xfrm>
            <a:off x="6095848" y="3295253"/>
            <a:ext cx="19050" cy="918766"/>
          </a:xfrm>
          <a:prstGeom prst="roundRect">
            <a:avLst>
              <a:gd name="adj" fmla="val 49999"/>
            </a:avLst>
          </a:prstGeom>
          <a:solidFill>
            <a:srgbClr val="C6BDDA"/>
          </a:solidFill>
          <a:ln/>
        </p:spPr>
      </p:sp>
      <p:sp>
        <p:nvSpPr>
          <p:cNvPr id="18" name="Shape 16"/>
          <p:cNvSpPr/>
          <p:nvPr/>
        </p:nvSpPr>
        <p:spPr>
          <a:xfrm>
            <a:off x="6095848" y="3295253"/>
            <a:ext cx="5428023" cy="19050"/>
          </a:xfrm>
          <a:prstGeom prst="roundRect">
            <a:avLst>
              <a:gd name="adj" fmla="val 49999"/>
            </a:avLst>
          </a:prstGeom>
          <a:solidFill>
            <a:srgbClr val="C6BDDA"/>
          </a:solidFill>
          <a:ln/>
        </p:spPr>
      </p:sp>
      <p:sp>
        <p:nvSpPr>
          <p:cNvPr id="19" name="Text 17"/>
          <p:cNvSpPr/>
          <p:nvPr/>
        </p:nvSpPr>
        <p:spPr>
          <a:xfrm>
            <a:off x="6252907" y="3452316"/>
            <a:ext cx="5113904" cy="2699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b="1" spc="-34" kern="0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Real Applications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252907" y="3811786"/>
            <a:ext cx="5113904" cy="245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spc="-2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 basket analysis, recommendations, layout optimization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269" y="4388247"/>
            <a:ext cx="5469098" cy="1193105"/>
          </a:xfrm>
          <a:prstGeom prst="roundRect">
            <a:avLst>
              <a:gd name="adj" fmla="val 9482"/>
            </a:avLst>
          </a:prstGeom>
          <a:solidFill>
            <a:srgbClr val="2563EB"/>
          </a:solidFill>
          <a:ln/>
        </p:spPr>
      </p:sp>
      <p:sp>
        <p:nvSpPr>
          <p:cNvPr id="22" name="Text 20"/>
          <p:cNvSpPr/>
          <p:nvPr/>
        </p:nvSpPr>
        <p:spPr>
          <a:xfrm>
            <a:off x="705328" y="4537472"/>
            <a:ext cx="5154980" cy="2699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b="1" spc="-34" kern="0" dirty="0">
                <a:solidFill>
                  <a:srgbClr val="FFFFF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Prerequisite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705328" y="4956671"/>
            <a:ext cx="5764564" cy="245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spc="-25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Basic probability notation: </a:t>
            </a:r>
            <a:pPr algn="l" indent="0" marL="0">
              <a:lnSpc>
                <a:spcPct val="130000"/>
              </a:lnSpc>
              <a:buNone/>
            </a:pPr>
            <a:r>
              <a:rPr lang="en-US" sz="1200" b="1" spc="-25" kern="0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P(A)</a:t>
            </a:r>
            <a:pPr algn="l" indent="0" marL="0">
              <a:lnSpc>
                <a:spcPct val="130000"/>
              </a:lnSpc>
              <a:buNone/>
            </a:pPr>
            <a:r>
              <a:rPr lang="en-US" sz="1200" spc="-25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pPr algn="l" indent="0" marL="0">
              <a:lnSpc>
                <a:spcPct val="130000"/>
              </a:lnSpc>
              <a:buNone/>
            </a:pPr>
            <a:r>
              <a:rPr lang="en-US" sz="1200" b="1" spc="-25" kern="0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P(A|B)</a:t>
            </a:r>
            <a:pPr algn="l" indent="0" marL="0">
              <a:lnSpc>
                <a:spcPct val="130000"/>
              </a:lnSpc>
              <a:buNone/>
            </a:pPr>
            <a:r>
              <a:rPr lang="en-US" sz="1200" spc="-25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pPr algn="l" indent="0" marL="0">
              <a:lnSpc>
                <a:spcPct val="130000"/>
              </a:lnSpc>
              <a:buNone/>
            </a:pPr>
            <a:r>
              <a:rPr lang="en-US" sz="1200" b="1" spc="-25" kern="0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P(A ∩ B)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293883" y="4537472"/>
            <a:ext cx="5242687" cy="2699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b="1" spc="-34" kern="0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Core Formula Set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6293883" y="4956671"/>
            <a:ext cx="5242687" cy="4903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spc="-2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Candidate itemsets: </a:t>
            </a:r>
            <a:pPr algn="l" indent="0" marL="0">
              <a:lnSpc>
                <a:spcPct val="130000"/>
              </a:lnSpc>
              <a:buNone/>
            </a:pPr>
            <a:r>
              <a:rPr lang="en-US" sz="1200" b="1" spc="-25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2ⁿ − 1</a:t>
            </a:r>
            <a:pPr algn="l" indent="0" marL="0">
              <a:lnSpc>
                <a:spcPct val="130000"/>
              </a:lnSpc>
              <a:buNone/>
            </a:pPr>
            <a:r>
              <a:rPr lang="en-US" sz="1200" spc="-2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· Support = </a:t>
            </a:r>
            <a:pPr algn="l" indent="0" marL="0">
              <a:lnSpc>
                <a:spcPct val="130000"/>
              </a:lnSpc>
              <a:buNone/>
            </a:pPr>
            <a:r>
              <a:rPr lang="en-US" sz="1200" b="1" spc="-25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P(A ∩ B)</a:t>
            </a:r>
            <a:pPr algn="l" indent="0" marL="0">
              <a:lnSpc>
                <a:spcPct val="130000"/>
              </a:lnSpc>
              <a:buNone/>
            </a:pPr>
            <a:r>
              <a:rPr lang="en-US" sz="1200" spc="-2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· Confidence = </a:t>
            </a:r>
            <a:pPr algn="l" indent="0" marL="0">
              <a:lnSpc>
                <a:spcPct val="130000"/>
              </a:lnSpc>
              <a:buNone/>
            </a:pPr>
            <a:r>
              <a:rPr lang="en-US" sz="1200" b="1" spc="-25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P(B|A)</a:t>
            </a:r>
            <a:pPr algn="l" indent="0" marL="0">
              <a:lnSpc>
                <a:spcPct val="130000"/>
              </a:lnSpc>
              <a:buNone/>
            </a:pPr>
            <a:r>
              <a:rPr lang="en-US" sz="1200" spc="-2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· Lift = </a:t>
            </a:r>
            <a:pPr algn="l" indent="0" marL="0">
              <a:lnSpc>
                <a:spcPct val="130000"/>
              </a:lnSpc>
              <a:buNone/>
            </a:pPr>
            <a:r>
              <a:rPr lang="en-US" sz="1200" b="1" spc="-25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P(B|A) / P(B)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1865213"/>
            <a:ext cx="1082648" cy="163413"/>
          </a:xfrm>
          <a:prstGeom prst="roundRect">
            <a:avLst>
              <a:gd name="adj" fmla="val 22104"/>
            </a:avLst>
          </a:prstGeom>
          <a:solidFill>
            <a:srgbClr val="E0D7F4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5965" y="1903909"/>
            <a:ext cx="85921" cy="8592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54847" y="1897459"/>
            <a:ext cx="1434370" cy="98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650" spc="-17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PROBLEM</a:t>
            </a:r>
            <a:endParaRPr lang="en-US" sz="650" dirty="0"/>
          </a:p>
        </p:txBody>
      </p:sp>
      <p:sp>
        <p:nvSpPr>
          <p:cNvPr id="5" name="Text 2"/>
          <p:cNvSpPr/>
          <p:nvPr/>
        </p:nvSpPr>
        <p:spPr>
          <a:xfrm>
            <a:off x="661475" y="2056507"/>
            <a:ext cx="10868745" cy="369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00" b="1" spc="-47" kern="0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Which Products Are Bought Together?</a:t>
            </a:r>
            <a:endParaRPr lang="en-US" sz="2300" dirty="0"/>
          </a:p>
        </p:txBody>
      </p:sp>
      <p:sp>
        <p:nvSpPr>
          <p:cNvPr id="6" name="Text 3"/>
          <p:cNvSpPr/>
          <p:nvPr/>
        </p:nvSpPr>
        <p:spPr>
          <a:xfrm>
            <a:off x="661475" y="2600722"/>
            <a:ext cx="5859812" cy="1847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spc="-23" kern="0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The Core Problem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661475" y="2855317"/>
            <a:ext cx="5859812" cy="425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00" spc="-17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supermarket processes </a:t>
            </a:r>
            <a:pPr algn="l" indent="0" marL="0">
              <a:lnSpc>
                <a:spcPct val="110000"/>
              </a:lnSpc>
              <a:buNone/>
            </a:pPr>
            <a:r>
              <a:rPr lang="en-US" sz="800" b="1" spc="-17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thousands of transactions daily</a:t>
            </a:r>
            <a:pPr algn="l" indent="0" marL="0">
              <a:lnSpc>
                <a:spcPct val="110000"/>
              </a:lnSpc>
              <a:buNone/>
            </a:pPr>
            <a:r>
              <a:rPr lang="en-US" sz="800" spc="-17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Hidden within that data are powerful patterns — patterns that drive cross-selling, product placement, and recommendations. Association Rule Mining extracts those patterns systematically.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661475" y="3359547"/>
            <a:ext cx="5859812" cy="321072"/>
          </a:xfrm>
          <a:prstGeom prst="roundRect">
            <a:avLst>
              <a:gd name="adj" fmla="val 14063"/>
            </a:avLst>
          </a:prstGeom>
          <a:solidFill>
            <a:srgbClr val="E0D7F4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926" y="3470077"/>
            <a:ext cx="134339" cy="10745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10716" y="3449141"/>
            <a:ext cx="6012704" cy="141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00" b="1" spc="-17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Discovered Rule:</a:t>
            </a:r>
            <a:pPr algn="l" indent="0" marL="0">
              <a:lnSpc>
                <a:spcPct val="110000"/>
              </a:lnSpc>
              <a:buNone/>
            </a:pPr>
            <a:r>
              <a:rPr lang="en-US" sz="800" spc="-17" kern="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{Bread, Butter} → {Milk} — customers who buy Bread and Butter also tend to buy Milk.</a:t>
            </a:r>
            <a:endParaRPr lang="en-US" sz="800" dirty="0"/>
          </a:p>
        </p:txBody>
      </p:sp>
      <p:sp>
        <p:nvSpPr>
          <p:cNvPr id="11" name="Text 7"/>
          <p:cNvSpPr/>
          <p:nvPr/>
        </p:nvSpPr>
        <p:spPr>
          <a:xfrm>
            <a:off x="661475" y="3759200"/>
            <a:ext cx="5859812" cy="1847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spc="-23" kern="0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What is Association Rule Mining?</a:t>
            </a:r>
            <a:endParaRPr lang="en-US" sz="1150" dirty="0"/>
          </a:p>
        </p:txBody>
      </p:sp>
      <p:sp>
        <p:nvSpPr>
          <p:cNvPr id="12" name="Text 8"/>
          <p:cNvSpPr/>
          <p:nvPr/>
        </p:nvSpPr>
        <p:spPr>
          <a:xfrm>
            <a:off x="661475" y="4013795"/>
            <a:ext cx="5859812" cy="2837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00" spc="-17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technique that discovers </a:t>
            </a:r>
            <a:pPr algn="l" indent="0" marL="0">
              <a:lnSpc>
                <a:spcPct val="110000"/>
              </a:lnSpc>
              <a:buNone/>
            </a:pPr>
            <a:r>
              <a:rPr lang="en-US" sz="800" b="1" spc="-17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recurring item combinations</a:t>
            </a:r>
            <a:pPr algn="l" indent="0" marL="0">
              <a:lnSpc>
                <a:spcPct val="110000"/>
              </a:lnSpc>
              <a:buNone/>
            </a:pPr>
            <a:r>
              <a:rPr lang="en-US" sz="800" spc="-17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 large transaction datasets and expresses them as interpretable if-then rules: </a:t>
            </a:r>
            <a:pPr algn="l" indent="0" marL="0">
              <a:lnSpc>
                <a:spcPct val="110000"/>
              </a:lnSpc>
              <a:buNone/>
            </a:pPr>
            <a:r>
              <a:rPr lang="en-US" sz="800" b="1" spc="-17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Antecedent → Consequent</a:t>
            </a:r>
            <a:pPr algn="l" indent="0" marL="0">
              <a:lnSpc>
                <a:spcPct val="110000"/>
              </a:lnSpc>
              <a:buNone/>
            </a:pPr>
            <a:r>
              <a:rPr lang="en-US" sz="800" spc="-17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800" dirty="0"/>
          </a:p>
        </p:txBody>
      </p:sp>
      <p:sp>
        <p:nvSpPr>
          <p:cNvPr id="13" name="Text 9"/>
          <p:cNvSpPr/>
          <p:nvPr/>
        </p:nvSpPr>
        <p:spPr>
          <a:xfrm>
            <a:off x="661475" y="4367411"/>
            <a:ext cx="5859812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spc="-23" kern="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⚠️</a:t>
            </a:r>
            <a:pPr algn="l" indent="0" marL="0">
              <a:lnSpc>
                <a:spcPct val="104000"/>
              </a:lnSpc>
              <a:buNone/>
            </a:pPr>
            <a:r>
              <a:rPr lang="en-US" sz="1150" b="1" spc="-23" kern="0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 Critical Distinction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661475" y="4628356"/>
            <a:ext cx="5859812" cy="2837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00" b="1" spc="-17" kern="0" dirty="0">
                <a:solidFill>
                  <a:srgbClr val="EF4444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Association ≠ Causation.</a:t>
            </a:r>
            <a:pPr algn="l" indent="0" marL="0">
              <a:lnSpc>
                <a:spcPct val="110000"/>
              </a:lnSpc>
              <a:buNone/>
            </a:pPr>
            <a:r>
              <a:rPr lang="en-US" sz="800" spc="-17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If {Bread} → {Butter}, it does </a:t>
            </a:r>
            <a:pPr algn="l" indent="0" marL="0">
              <a:lnSpc>
                <a:spcPct val="110000"/>
              </a:lnSpc>
              <a:buNone/>
            </a:pPr>
            <a:r>
              <a:rPr lang="en-US" sz="800" u="sng" spc="-17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</a:t>
            </a:r>
            <a:pPr algn="l" indent="0" marL="0">
              <a:lnSpc>
                <a:spcPct val="110000"/>
              </a:lnSpc>
              <a:buNone/>
            </a:pPr>
            <a:r>
              <a:rPr lang="en-US" sz="800" spc="-17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mean buying bread causes butter purchases. It means they </a:t>
            </a:r>
            <a:pPr algn="l" indent="0" marL="0">
              <a:lnSpc>
                <a:spcPct val="110000"/>
              </a:lnSpc>
              <a:buNone/>
            </a:pPr>
            <a:r>
              <a:rPr lang="en-US" sz="800" b="1" spc="-17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frequently co-occur</a:t>
            </a:r>
            <a:pPr algn="l" indent="0" marL="0">
              <a:lnSpc>
                <a:spcPct val="110000"/>
              </a:lnSpc>
              <a:buNone/>
            </a:pPr>
            <a:r>
              <a:rPr lang="en-US" sz="800" spc="-17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 the same transaction. Never over-interpret directionality.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6789766" y="2600722"/>
            <a:ext cx="4746705" cy="1847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spc="-23" kern="0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Key Applications</a:t>
            </a:r>
            <a:endParaRPr lang="en-US" sz="115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789766" y="2864048"/>
            <a:ext cx="2338428" cy="63678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960716" y="2984202"/>
            <a:ext cx="2047328" cy="1847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spc="-23" kern="0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Market Basket Analysis</a:t>
            </a:r>
            <a:endParaRPr lang="en-US" sz="1150" dirty="0"/>
          </a:p>
        </p:txBody>
      </p:sp>
      <p:sp>
        <p:nvSpPr>
          <p:cNvPr id="18" name="Text 13"/>
          <p:cNvSpPr/>
          <p:nvPr/>
        </p:nvSpPr>
        <p:spPr>
          <a:xfrm>
            <a:off x="6960716" y="3238798"/>
            <a:ext cx="2047328" cy="141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00" spc="-17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Cross-selling strategies in retail</a:t>
            </a:r>
            <a:endParaRPr lang="en-US" sz="800" dirty="0"/>
          </a:p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198043" y="2864048"/>
            <a:ext cx="2338428" cy="63678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9368992" y="2984202"/>
            <a:ext cx="2047328" cy="1847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spc="-23" kern="0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Recommendation Systems</a:t>
            </a:r>
            <a:endParaRPr lang="en-US" sz="1150" dirty="0"/>
          </a:p>
        </p:txBody>
      </p:sp>
      <p:sp>
        <p:nvSpPr>
          <p:cNvPr id="21" name="Text 15"/>
          <p:cNvSpPr/>
          <p:nvPr/>
        </p:nvSpPr>
        <p:spPr>
          <a:xfrm>
            <a:off x="9368992" y="3238798"/>
            <a:ext cx="2047328" cy="141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00" spc="-17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E-commerce product suggestions</a:t>
            </a:r>
            <a:endParaRPr lang="en-US" sz="800" dirty="0"/>
          </a:p>
        </p:txBody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789766" y="3570684"/>
            <a:ext cx="2338428" cy="636786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6960716" y="3690838"/>
            <a:ext cx="2047328" cy="1847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spc="-23" kern="0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Store Layout Optimization</a:t>
            </a:r>
            <a:endParaRPr lang="en-US" sz="1150" dirty="0"/>
          </a:p>
        </p:txBody>
      </p:sp>
      <p:sp>
        <p:nvSpPr>
          <p:cNvPr id="24" name="Text 17"/>
          <p:cNvSpPr/>
          <p:nvPr/>
        </p:nvSpPr>
        <p:spPr>
          <a:xfrm>
            <a:off x="6960716" y="3945434"/>
            <a:ext cx="2047328" cy="141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00" spc="-17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Strategic product placement on shelves</a:t>
            </a:r>
            <a:endParaRPr lang="en-US" sz="800" dirty="0"/>
          </a:p>
        </p:txBody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198043" y="3570684"/>
            <a:ext cx="2338428" cy="636786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9368992" y="3690838"/>
            <a:ext cx="2047328" cy="1847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spc="-23" kern="0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Web Behavior Analysis</a:t>
            </a:r>
            <a:endParaRPr lang="en-US" sz="1150" dirty="0"/>
          </a:p>
        </p:txBody>
      </p:sp>
      <p:sp>
        <p:nvSpPr>
          <p:cNvPr id="27" name="Text 19"/>
          <p:cNvSpPr/>
          <p:nvPr/>
        </p:nvSpPr>
        <p:spPr>
          <a:xfrm>
            <a:off x="9368992" y="3945434"/>
            <a:ext cx="2047328" cy="141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00" spc="-17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 click-path and action patterns</a:t>
            </a:r>
            <a:endParaRPr lang="en-US" sz="800" dirty="0"/>
          </a:p>
        </p:txBody>
      </p:sp>
      <p:pic>
        <p:nvPicPr>
          <p:cNvPr id="28" name="Image 6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789766" y="4277320"/>
            <a:ext cx="2338428" cy="636786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6960716" y="4397474"/>
            <a:ext cx="2047328" cy="1847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spc="-23" kern="0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Medical Discovery</a:t>
            </a:r>
            <a:endParaRPr lang="en-US" sz="1150" dirty="0"/>
          </a:p>
        </p:txBody>
      </p:sp>
      <p:sp>
        <p:nvSpPr>
          <p:cNvPr id="30" name="Text 21"/>
          <p:cNvSpPr/>
          <p:nvPr/>
        </p:nvSpPr>
        <p:spPr>
          <a:xfrm>
            <a:off x="6960716" y="4652070"/>
            <a:ext cx="2047328" cy="141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00" spc="-17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Symptom and diagnosis co-occurrence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456704"/>
            <a:ext cx="877072" cy="167580"/>
          </a:xfrm>
          <a:prstGeom prst="roundRect">
            <a:avLst>
              <a:gd name="adj" fmla="val 22125"/>
            </a:avLst>
          </a:prstGeom>
          <a:solidFill>
            <a:srgbClr val="E0D7F4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7652" y="496391"/>
            <a:ext cx="88203" cy="8820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59907" y="489744"/>
            <a:ext cx="1222047" cy="1015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650" spc="-17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FOUNDATIONS</a:t>
            </a:r>
            <a:endParaRPr lang="en-US" sz="650" dirty="0"/>
          </a:p>
        </p:txBody>
      </p:sp>
      <p:sp>
        <p:nvSpPr>
          <p:cNvPr id="5" name="Text 2"/>
          <p:cNvSpPr/>
          <p:nvPr/>
        </p:nvSpPr>
        <p:spPr>
          <a:xfrm>
            <a:off x="661475" y="653653"/>
            <a:ext cx="10868745" cy="379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50" b="1" spc="-48" kern="0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From Transactions to Itemsets</a:t>
            </a:r>
            <a:endParaRPr lang="en-US" sz="2350" dirty="0"/>
          </a:p>
        </p:txBody>
      </p:sp>
      <p:sp>
        <p:nvSpPr>
          <p:cNvPr id="6" name="Shape 3"/>
          <p:cNvSpPr/>
          <p:nvPr/>
        </p:nvSpPr>
        <p:spPr>
          <a:xfrm>
            <a:off x="582102" y="1143397"/>
            <a:ext cx="4344780" cy="5257899"/>
          </a:xfrm>
          <a:prstGeom prst="roundRect">
            <a:avLst>
              <a:gd name="adj" fmla="val 1829"/>
            </a:avLst>
          </a:prstGeom>
          <a:solidFill>
            <a:srgbClr val="172033"/>
          </a:solidFill>
          <a:ln/>
        </p:spPr>
      </p:sp>
      <p:sp>
        <p:nvSpPr>
          <p:cNvPr id="7" name="Text 4"/>
          <p:cNvSpPr/>
          <p:nvPr/>
        </p:nvSpPr>
        <p:spPr>
          <a:xfrm>
            <a:off x="692430" y="1217017"/>
            <a:ext cx="4124123" cy="1896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spc="-24" kern="0" dirty="0">
                <a:solidFill>
                  <a:srgbClr val="FFFFF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Transaction Dataset</a:t>
            </a:r>
            <a:endParaRPr lang="en-US" sz="11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2430" y="1489373"/>
          <a:ext cx="9143771" cy="914400"/>
        </p:xfrm>
        <a:graphic>
          <a:graphicData uri="http://schemas.openxmlformats.org/drawingml/2006/table">
            <a:tbl>
              <a:tblPr/>
              <a:tblGrid>
                <a:gridCol w="2062061"/>
                <a:gridCol w="2062061"/>
              </a:tblGrid>
              <a:tr h="25131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spc="-17" kern="0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TID</a:t>
                      </a:r>
                      <a:endParaRPr lang="en-US" sz="8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0347" marR="110347" marT="6350" marB="6350" anchor="ctr">
                    <a:lnL w="12700" cap="flat" cmpd="sng" algn="ctr">
                      <a:solidFill>
                        <a:srgbClr val="4F56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20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56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56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spc="-17" kern="0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Items Purchased</a:t>
                      </a:r>
                      <a:endParaRPr lang="en-US" sz="8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0347" marR="110347" marT="6350" marB="6350" anchor="ctr">
                    <a:lnL w="12700" cap="flat" cmpd="sng" algn="ctr">
                      <a:solidFill>
                        <a:srgbClr val="1720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56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56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56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33"/>
                    </a:solidFill>
                  </a:tcPr>
                </a:tc>
              </a:tr>
              <a:tr h="2544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spc="-17" kern="0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T1</a:t>
                      </a:r>
                      <a:endParaRPr lang="en-US" sz="8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0347" marR="110347" marT="6350" marB="6350" anchor="ctr">
                    <a:lnL w="12700" cap="flat" cmpd="sng" algn="ctr">
                      <a:solidFill>
                        <a:srgbClr val="4F56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20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56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56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spc="-17" kern="0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Bread, Milk</a:t>
                      </a:r>
                      <a:endParaRPr lang="en-US" sz="8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0347" marR="110347" marT="6350" marB="6350" anchor="ctr">
                    <a:lnL w="12700" cap="flat" cmpd="sng" algn="ctr">
                      <a:solidFill>
                        <a:srgbClr val="1720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56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56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56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33"/>
                    </a:solidFill>
                  </a:tcPr>
                </a:tc>
              </a:tr>
              <a:tr h="2544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spc="-17" kern="0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T2</a:t>
                      </a:r>
                      <a:endParaRPr lang="en-US" sz="8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0347" marR="110347" marT="6350" marB="6350" anchor="ctr">
                    <a:lnL w="12700" cap="flat" cmpd="sng" algn="ctr">
                      <a:solidFill>
                        <a:srgbClr val="4F56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20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56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56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spc="-17" kern="0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Bread, Diaper, Beer, Eggs</a:t>
                      </a:r>
                      <a:endParaRPr lang="en-US" sz="8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0347" marR="110347" marT="6350" marB="6350" anchor="ctr">
                    <a:lnL w="12700" cap="flat" cmpd="sng" algn="ctr">
                      <a:solidFill>
                        <a:srgbClr val="1720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56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56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56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33"/>
                    </a:solidFill>
                  </a:tcPr>
                </a:tc>
              </a:tr>
              <a:tr h="2544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spc="-17" kern="0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T3</a:t>
                      </a:r>
                      <a:endParaRPr lang="en-US" sz="8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0347" marR="110347" marT="6350" marB="6350" anchor="ctr">
                    <a:lnL w="12700" cap="flat" cmpd="sng" algn="ctr">
                      <a:solidFill>
                        <a:srgbClr val="4F56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20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56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56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spc="-17" kern="0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Milk, Diaper, Beer, Coke</a:t>
                      </a:r>
                      <a:endParaRPr lang="en-US" sz="8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0347" marR="110347" marT="6350" marB="6350" anchor="ctr">
                    <a:lnL w="12700" cap="flat" cmpd="sng" algn="ctr">
                      <a:solidFill>
                        <a:srgbClr val="1720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56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56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56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33"/>
                    </a:solidFill>
                  </a:tcPr>
                </a:tc>
              </a:tr>
              <a:tr h="2544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spc="-17" kern="0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T4</a:t>
                      </a:r>
                      <a:endParaRPr lang="en-US" sz="8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0347" marR="110347" marT="6350" marB="6350" anchor="ctr">
                    <a:lnL w="12700" cap="flat" cmpd="sng" algn="ctr">
                      <a:solidFill>
                        <a:srgbClr val="4F56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20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56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56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spc="-17" kern="0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Bread, Milk, Diaper, Beer</a:t>
                      </a:r>
                      <a:endParaRPr lang="en-US" sz="8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0347" marR="110347" marT="6350" marB="6350" anchor="ctr">
                    <a:lnL w="12700" cap="flat" cmpd="sng" algn="ctr">
                      <a:solidFill>
                        <a:srgbClr val="1720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56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56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56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33"/>
                    </a:solidFill>
                  </a:tcPr>
                </a:tc>
              </a:tr>
              <a:tr h="25131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spc="-17" kern="0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T5</a:t>
                      </a:r>
                      <a:endParaRPr lang="en-US" sz="8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0347" marR="110347" marT="6350" marB="6350" anchor="ctr">
                    <a:lnL w="12700" cap="flat" cmpd="sng" algn="ctr">
                      <a:solidFill>
                        <a:srgbClr val="4F56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20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56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56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spc="-17" kern="0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Bread, Milk, Diaper, Coke</a:t>
                      </a:r>
                      <a:endParaRPr lang="en-US" sz="8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0347" marR="110347" marT="6350" marB="6350" anchor="ctr">
                    <a:lnL w="12700" cap="flat" cmpd="sng" algn="ctr">
                      <a:solidFill>
                        <a:srgbClr val="1720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56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56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56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33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692430" y="3105448"/>
            <a:ext cx="4733707" cy="147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850" i="1" spc="-17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Each transaction is a set of items purchased together in a single shopping session.</a:t>
            </a:r>
            <a:endParaRPr lang="en-US" sz="850" dirty="0"/>
          </a:p>
        </p:txBody>
      </p:sp>
      <p:sp>
        <p:nvSpPr>
          <p:cNvPr id="10" name="Text 6"/>
          <p:cNvSpPr/>
          <p:nvPr/>
        </p:nvSpPr>
        <p:spPr>
          <a:xfrm>
            <a:off x="5122933" y="1217017"/>
            <a:ext cx="6413538" cy="1896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spc="-24" kern="0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Itemset Hierarchy</a:t>
            </a:r>
            <a:endParaRPr lang="en-US" sz="115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22933" y="1489373"/>
            <a:ext cx="3169960" cy="112186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641735" y="1572121"/>
            <a:ext cx="132355" cy="16549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spc="-17" kern="0" dirty="0">
                <a:solidFill>
                  <a:srgbClr val="FFFFF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1</a:t>
            </a:r>
            <a:endParaRPr lang="en-US" sz="1000" dirty="0"/>
          </a:p>
        </p:txBody>
      </p:sp>
      <p:sp>
        <p:nvSpPr>
          <p:cNvPr id="13" name="Text 8"/>
          <p:cNvSpPr/>
          <p:nvPr/>
        </p:nvSpPr>
        <p:spPr>
          <a:xfrm>
            <a:off x="5245961" y="1930698"/>
            <a:ext cx="2923903" cy="1896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spc="-24" kern="0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1-Itemset</a:t>
            </a:r>
            <a:endParaRPr lang="en-US" sz="1150" dirty="0"/>
          </a:p>
        </p:txBody>
      </p:sp>
      <p:sp>
        <p:nvSpPr>
          <p:cNvPr id="14" name="Text 9"/>
          <p:cNvSpPr/>
          <p:nvPr/>
        </p:nvSpPr>
        <p:spPr>
          <a:xfrm>
            <a:off x="5245961" y="2193925"/>
            <a:ext cx="2923903" cy="147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850" spc="-17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{Bread} · {Milk} · {Diaper} · {Beer} · {Eggs} · {Coke}</a:t>
            </a:r>
            <a:endParaRPr lang="en-US" sz="85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66511" y="1489373"/>
            <a:ext cx="3169960" cy="1121866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9885314" y="1572121"/>
            <a:ext cx="132355" cy="16549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spc="-17" kern="0" dirty="0">
                <a:solidFill>
                  <a:srgbClr val="FFFFF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2</a:t>
            </a:r>
            <a:endParaRPr lang="en-US" sz="1000" dirty="0"/>
          </a:p>
        </p:txBody>
      </p:sp>
      <p:sp>
        <p:nvSpPr>
          <p:cNvPr id="17" name="Text 11"/>
          <p:cNvSpPr/>
          <p:nvPr/>
        </p:nvSpPr>
        <p:spPr>
          <a:xfrm>
            <a:off x="8489539" y="1930698"/>
            <a:ext cx="2923903" cy="1896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spc="-24" kern="0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2-Itemset</a:t>
            </a:r>
            <a:endParaRPr lang="en-US" sz="1150" dirty="0"/>
          </a:p>
        </p:txBody>
      </p:sp>
      <p:sp>
        <p:nvSpPr>
          <p:cNvPr id="18" name="Text 12"/>
          <p:cNvSpPr/>
          <p:nvPr/>
        </p:nvSpPr>
        <p:spPr>
          <a:xfrm>
            <a:off x="8489539" y="2193925"/>
            <a:ext cx="2923903" cy="2942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850" spc="-17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{Bread, Milk} · {Bread, Diaper} · {Milk, Diaper} · {Beer, Diaper} · …</a:t>
            </a:r>
            <a:endParaRPr lang="en-US" sz="850" dirty="0"/>
          </a:p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122933" y="2684859"/>
            <a:ext cx="6413538" cy="974725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263525" y="2767608"/>
            <a:ext cx="132355" cy="16549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spc="-17" kern="0" dirty="0">
                <a:solidFill>
                  <a:srgbClr val="FFFFF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3</a:t>
            </a:r>
            <a:endParaRPr lang="en-US" sz="1000" dirty="0"/>
          </a:p>
        </p:txBody>
      </p:sp>
      <p:sp>
        <p:nvSpPr>
          <p:cNvPr id="21" name="Text 14"/>
          <p:cNvSpPr/>
          <p:nvPr/>
        </p:nvSpPr>
        <p:spPr>
          <a:xfrm>
            <a:off x="5245961" y="3126184"/>
            <a:ext cx="6167482" cy="1896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spc="-24" kern="0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3-Itemset</a:t>
            </a:r>
            <a:endParaRPr lang="en-US" sz="1150" dirty="0"/>
          </a:p>
        </p:txBody>
      </p:sp>
      <p:sp>
        <p:nvSpPr>
          <p:cNvPr id="22" name="Text 15"/>
          <p:cNvSpPr/>
          <p:nvPr/>
        </p:nvSpPr>
        <p:spPr>
          <a:xfrm>
            <a:off x="5245961" y="3389412"/>
            <a:ext cx="6167482" cy="147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850" spc="-17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{Bread, Milk, Diaper} · {Milk, Beer, Diaper} · …</a:t>
            </a:r>
            <a:endParaRPr lang="en-US" sz="850" dirty="0"/>
          </a:p>
        </p:txBody>
      </p:sp>
      <p:sp>
        <p:nvSpPr>
          <p:cNvPr id="23" name="Text 16"/>
          <p:cNvSpPr/>
          <p:nvPr/>
        </p:nvSpPr>
        <p:spPr>
          <a:xfrm>
            <a:off x="5122933" y="3742333"/>
            <a:ext cx="6413538" cy="1896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spc="-24" kern="0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Frequent Itemset</a:t>
            </a:r>
            <a:endParaRPr lang="en-US" sz="1150" dirty="0"/>
          </a:p>
        </p:txBody>
      </p:sp>
      <p:sp>
        <p:nvSpPr>
          <p:cNvPr id="24" name="Text 17"/>
          <p:cNvSpPr/>
          <p:nvPr/>
        </p:nvSpPr>
        <p:spPr>
          <a:xfrm>
            <a:off x="5122933" y="4005560"/>
            <a:ext cx="6413538" cy="2942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850" spc="-17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 itemset whose </a:t>
            </a:r>
            <a:pPr algn="l" indent="0" marL="0">
              <a:lnSpc>
                <a:spcPct val="111000"/>
              </a:lnSpc>
              <a:buNone/>
            </a:pPr>
            <a:r>
              <a:rPr lang="en-US" sz="850" b="1" spc="-17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support ≥ minimum support threshold</a:t>
            </a:r>
            <a:pPr algn="l" indent="0" marL="0">
              <a:lnSpc>
                <a:spcPct val="111000"/>
              </a:lnSpc>
              <a:buNone/>
            </a:pPr>
            <a:r>
              <a:rPr lang="en-US" sz="850" spc="-17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Only frequent itemsets are used to generate association rules — infrequent ones are discarded.</a:t>
            </a:r>
            <a:endParaRPr lang="en-US" sz="850" dirty="0"/>
          </a:p>
        </p:txBody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84934" y="4382591"/>
            <a:ext cx="4489437" cy="1935956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6387067" y="5945052"/>
            <a:ext cx="1120329" cy="1400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b="1" spc="-18" kern="0" dirty="0">
                <a:solidFill>
                  <a:srgbClr val="FFFFF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Association Rules</a:t>
            </a:r>
            <a:endParaRPr lang="en-US" sz="850" dirty="0"/>
          </a:p>
        </p:txBody>
      </p:sp>
      <p:sp>
        <p:nvSpPr>
          <p:cNvPr id="27" name="Text 19"/>
          <p:cNvSpPr/>
          <p:nvPr/>
        </p:nvSpPr>
        <p:spPr>
          <a:xfrm>
            <a:off x="6387067" y="5496909"/>
            <a:ext cx="1120329" cy="1400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b="1" spc="-18" kern="0" dirty="0">
                <a:solidFill>
                  <a:srgbClr val="FFFFF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Frequent Itemsets</a:t>
            </a:r>
            <a:endParaRPr lang="en-US" sz="850" dirty="0"/>
          </a:p>
        </p:txBody>
      </p:sp>
      <p:sp>
        <p:nvSpPr>
          <p:cNvPr id="28" name="Text 20"/>
          <p:cNvSpPr/>
          <p:nvPr/>
        </p:nvSpPr>
        <p:spPr>
          <a:xfrm>
            <a:off x="6387067" y="5053294"/>
            <a:ext cx="1120329" cy="1400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b="1" spc="-18" kern="0" dirty="0">
                <a:solidFill>
                  <a:srgbClr val="FFFFF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Candidate Itemsets</a:t>
            </a:r>
            <a:endParaRPr lang="en-US" sz="850" dirty="0"/>
          </a:p>
        </p:txBody>
      </p:sp>
      <p:sp>
        <p:nvSpPr>
          <p:cNvPr id="29" name="Text 21"/>
          <p:cNvSpPr/>
          <p:nvPr/>
        </p:nvSpPr>
        <p:spPr>
          <a:xfrm>
            <a:off x="6387067" y="4605151"/>
            <a:ext cx="1120329" cy="1400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b="1" spc="-18" kern="0" dirty="0">
                <a:solidFill>
                  <a:srgbClr val="FFFFF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Transactions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1415653"/>
            <a:ext cx="940074" cy="176014"/>
          </a:xfrm>
          <a:prstGeom prst="roundRect">
            <a:avLst>
              <a:gd name="adj" fmla="val 22101"/>
            </a:avLst>
          </a:prstGeom>
          <a:solidFill>
            <a:srgbClr val="E0D7F4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0926" y="1457325"/>
            <a:ext cx="92569" cy="9257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69730" y="1450380"/>
            <a:ext cx="1271953" cy="1065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00" spc="-18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CORE METRICS</a:t>
            </a:r>
            <a:endParaRPr lang="en-US" sz="700" dirty="0"/>
          </a:p>
        </p:txBody>
      </p:sp>
      <p:sp>
        <p:nvSpPr>
          <p:cNvPr id="5" name="Text 2"/>
          <p:cNvSpPr/>
          <p:nvPr/>
        </p:nvSpPr>
        <p:spPr>
          <a:xfrm>
            <a:off x="661475" y="1624013"/>
            <a:ext cx="10868745" cy="397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00" b="1" spc="-50" kern="0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How Do We Know a Rule Is Interesting?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661475" y="2143522"/>
            <a:ext cx="11478330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900" b="1" spc="-18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Working Example:</a:t>
            </a:r>
            <a:pPr algn="l" indent="0" marL="0">
              <a:lnSpc>
                <a:spcPct val="113000"/>
              </a:lnSpc>
              <a:buNone/>
            </a:pPr>
            <a:r>
              <a:rPr lang="en-US" sz="900" spc="-18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Rule </a:t>
            </a:r>
            <a:pPr algn="l" indent="0" marL="0">
              <a:lnSpc>
                <a:spcPct val="113000"/>
              </a:lnSpc>
              <a:buNone/>
            </a:pPr>
            <a:r>
              <a:rPr lang="en-US" sz="900" spc="-18" kern="0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{Bread} → {Milk}</a:t>
            </a:r>
            <a:pPr algn="l" indent="0" marL="0">
              <a:lnSpc>
                <a:spcPct val="113000"/>
              </a:lnSpc>
              <a:buNone/>
            </a:pPr>
            <a:r>
              <a:rPr lang="en-US" sz="900" spc="-18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· Dataset: </a:t>
            </a:r>
            <a:pPr algn="l" indent="0" marL="0">
              <a:lnSpc>
                <a:spcPct val="113000"/>
              </a:lnSpc>
              <a:buNone/>
            </a:pPr>
            <a:r>
              <a:rPr lang="en-US" sz="900" b="1" spc="-18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100 transactions</a:t>
            </a:r>
            <a:pPr algn="l" indent="0" marL="0">
              <a:lnSpc>
                <a:spcPct val="113000"/>
              </a:lnSpc>
              <a:buNone/>
            </a:pPr>
            <a:r>
              <a:rPr lang="en-US" sz="900" spc="-18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· Bread in 40 · Bread AND Milk in 30 · Milk in 50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661475" y="2392065"/>
            <a:ext cx="3568908" cy="2590105"/>
          </a:xfrm>
          <a:prstGeom prst="roundRect">
            <a:avLst>
              <a:gd name="adj" fmla="val 1877"/>
            </a:avLst>
          </a:prstGeom>
          <a:solidFill>
            <a:srgbClr val="2563EB"/>
          </a:solidFill>
          <a:ln w="6350">
            <a:solidFill>
              <a:srgbClr val="3E7C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83511" y="2514104"/>
            <a:ext cx="3324836" cy="198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b="1" spc="-25" kern="0" dirty="0">
                <a:solidFill>
                  <a:srgbClr val="FFFFF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SUPPORT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83511" y="2761655"/>
            <a:ext cx="3324836" cy="5491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450" b="1" spc="-69" kern="0" dirty="0">
                <a:solidFill>
                  <a:srgbClr val="FFFFF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30%</a:t>
            </a:r>
            <a:endParaRPr lang="en-US" sz="3450" dirty="0"/>
          </a:p>
        </p:txBody>
      </p:sp>
      <p:sp>
        <p:nvSpPr>
          <p:cNvPr id="10" name="Text 7"/>
          <p:cNvSpPr/>
          <p:nvPr/>
        </p:nvSpPr>
        <p:spPr>
          <a:xfrm>
            <a:off x="783511" y="3359448"/>
            <a:ext cx="3324836" cy="5696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3000"/>
              </a:lnSpc>
              <a:spcAft>
                <a:spcPts val="350"/>
              </a:spcAft>
              <a:buNone/>
            </a:pPr>
            <a:r>
              <a:rPr lang="en-US" sz="900" b="1" spc="-18" kern="0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Formula:</a:t>
            </a:r>
            <a:endParaRPr lang="en-US" sz="900" dirty="0"/>
          </a:p>
          <a:p>
            <a:pPr algn="l" indent="0" marL="0">
              <a:lnSpc>
                <a:spcPct val="113000"/>
              </a:lnSpc>
              <a:spcAft>
                <a:spcPts val="350"/>
              </a:spcAft>
              <a:buNone/>
            </a:pPr>
            <a:r>
              <a:rPr lang="en-US" sz="900" spc="-18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Support(A → B) = count(A ∪ B) / N</a:t>
            </a:r>
            <a:endParaRPr lang="en-US" sz="900" dirty="0"/>
          </a:p>
          <a:p>
            <a:pPr algn="l" indent="0" marL="0">
              <a:lnSpc>
                <a:spcPct val="113000"/>
              </a:lnSpc>
              <a:buNone/>
            </a:pPr>
            <a:r>
              <a:rPr lang="en-US" sz="900" spc="-18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= 30 / 100 = </a:t>
            </a:r>
            <a:pPr algn="l" indent="0" marL="0">
              <a:lnSpc>
                <a:spcPct val="113000"/>
              </a:lnSpc>
              <a:buNone/>
            </a:pPr>
            <a:r>
              <a:rPr lang="en-US" sz="900" b="1" spc="-18" kern="0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0.30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783511" y="4049018"/>
            <a:ext cx="3324836" cy="12700"/>
          </a:xfrm>
          <a:prstGeom prst="roundRect">
            <a:avLst>
              <a:gd name="adj" fmla="val 49999"/>
            </a:avLst>
          </a:prstGeom>
          <a:solidFill>
            <a:srgbClr val="272525">
              <a:alpha val="50000"/>
            </a:srgbClr>
          </a:solidFill>
          <a:ln/>
        </p:spPr>
      </p:sp>
      <p:sp>
        <p:nvSpPr>
          <p:cNvPr id="12" name="Text 9"/>
          <p:cNvSpPr/>
          <p:nvPr/>
        </p:nvSpPr>
        <p:spPr>
          <a:xfrm>
            <a:off x="783511" y="4181673"/>
            <a:ext cx="3324836" cy="5209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3000"/>
              </a:lnSpc>
              <a:spcAft>
                <a:spcPts val="350"/>
              </a:spcAft>
              <a:buNone/>
            </a:pPr>
            <a:r>
              <a:rPr lang="en-US" sz="900" i="1" spc="-18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"30% of all transactions contain both Bread and Milk."</a:t>
            </a:r>
            <a:endParaRPr lang="en-US" sz="900" dirty="0"/>
          </a:p>
          <a:p>
            <a:pPr algn="l" indent="0" marL="0">
              <a:lnSpc>
                <a:spcPct val="113000"/>
              </a:lnSpc>
              <a:buNone/>
            </a:pPr>
            <a:r>
              <a:rPr lang="en-US" sz="900" spc="-18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Measures </a:t>
            </a:r>
            <a:pPr algn="l" indent="0" marL="0">
              <a:lnSpc>
                <a:spcPct val="113000"/>
              </a:lnSpc>
              <a:buNone/>
            </a:pPr>
            <a:r>
              <a:rPr lang="en-US" sz="900" b="1" spc="-18" kern="0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how frequently</a:t>
            </a:r>
            <a:pPr algn="l" indent="0" marL="0">
              <a:lnSpc>
                <a:spcPct val="113000"/>
              </a:lnSpc>
              <a:buNone/>
            </a:pPr>
            <a:r>
              <a:rPr lang="en-US" sz="900" spc="-18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the rule appears in the dataset. Low support → rule may be statistically unreliable.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4311344" y="2392065"/>
            <a:ext cx="3568908" cy="2590105"/>
          </a:xfrm>
          <a:prstGeom prst="roundRect">
            <a:avLst>
              <a:gd name="adj" fmla="val 1877"/>
            </a:avLst>
          </a:prstGeom>
          <a:solidFill>
            <a:srgbClr val="06B6D4"/>
          </a:solidFill>
          <a:ln w="6350">
            <a:solidFill>
              <a:srgbClr val="009CB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433380" y="2514104"/>
            <a:ext cx="3324836" cy="198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b="1" spc="-25" kern="0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CONFIDENCE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4433380" y="2761655"/>
            <a:ext cx="3324836" cy="5491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450" b="1" spc="-69" kern="0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75%</a:t>
            </a:r>
            <a:endParaRPr lang="en-US" sz="3450" dirty="0"/>
          </a:p>
        </p:txBody>
      </p:sp>
      <p:sp>
        <p:nvSpPr>
          <p:cNvPr id="16" name="Text 13"/>
          <p:cNvSpPr/>
          <p:nvPr/>
        </p:nvSpPr>
        <p:spPr>
          <a:xfrm>
            <a:off x="4433380" y="3359448"/>
            <a:ext cx="3324836" cy="5696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3000"/>
              </a:lnSpc>
              <a:spcAft>
                <a:spcPts val="350"/>
              </a:spcAft>
              <a:buNone/>
            </a:pPr>
            <a:r>
              <a:rPr lang="en-US" sz="900" b="1" spc="-18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Formula:</a:t>
            </a:r>
            <a:endParaRPr lang="en-US" sz="900" dirty="0"/>
          </a:p>
          <a:p>
            <a:pPr algn="l" indent="0" marL="0">
              <a:lnSpc>
                <a:spcPct val="113000"/>
              </a:lnSpc>
              <a:spcAft>
                <a:spcPts val="350"/>
              </a:spcAft>
              <a:buNone/>
            </a:pPr>
            <a:r>
              <a:rPr lang="en-US" sz="900" spc="-18" kern="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Confidence(A → B) = Support(A ∪ B) / Support(A)</a:t>
            </a:r>
            <a:endParaRPr lang="en-US" sz="900" dirty="0"/>
          </a:p>
          <a:p>
            <a:pPr algn="l" indent="0" marL="0">
              <a:lnSpc>
                <a:spcPct val="113000"/>
              </a:lnSpc>
              <a:buNone/>
            </a:pPr>
            <a:r>
              <a:rPr lang="en-US" sz="900" spc="-18" kern="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= 30 / 40 = </a:t>
            </a:r>
            <a:pPr algn="l" indent="0" marL="0">
              <a:lnSpc>
                <a:spcPct val="113000"/>
              </a:lnSpc>
              <a:buNone/>
            </a:pPr>
            <a:r>
              <a:rPr lang="en-US" sz="900" b="1" spc="-18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0.75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4433380" y="4049018"/>
            <a:ext cx="3324836" cy="12700"/>
          </a:xfrm>
          <a:prstGeom prst="roundRect">
            <a:avLst>
              <a:gd name="adj" fmla="val 49999"/>
            </a:avLst>
          </a:prstGeom>
          <a:solidFill>
            <a:srgbClr val="272525">
              <a:alpha val="50000"/>
            </a:srgbClr>
          </a:solidFill>
          <a:ln/>
        </p:spPr>
      </p:sp>
      <p:sp>
        <p:nvSpPr>
          <p:cNvPr id="18" name="Text 15"/>
          <p:cNvSpPr/>
          <p:nvPr/>
        </p:nvSpPr>
        <p:spPr>
          <a:xfrm>
            <a:off x="4433380" y="4181673"/>
            <a:ext cx="3324836" cy="5209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3000"/>
              </a:lnSpc>
              <a:spcAft>
                <a:spcPts val="350"/>
              </a:spcAft>
              <a:buNone/>
            </a:pPr>
            <a:r>
              <a:rPr lang="en-US" sz="900" i="1" spc="-18" kern="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"Among transactions with Bread, 75% also contain Milk."</a:t>
            </a:r>
            <a:endParaRPr lang="en-US" sz="900" dirty="0"/>
          </a:p>
          <a:p>
            <a:pPr algn="l" indent="0" marL="0">
              <a:lnSpc>
                <a:spcPct val="113000"/>
              </a:lnSpc>
              <a:buNone/>
            </a:pPr>
            <a:r>
              <a:rPr lang="en-US" sz="900" spc="-18" kern="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Measures </a:t>
            </a:r>
            <a:pPr algn="l" indent="0" marL="0">
              <a:lnSpc>
                <a:spcPct val="113000"/>
              </a:lnSpc>
              <a:buNone/>
            </a:pPr>
            <a:r>
              <a:rPr lang="en-US" sz="900" b="1" spc="-18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rule reliability</a:t>
            </a:r>
            <a:pPr algn="l" indent="0" marL="0">
              <a:lnSpc>
                <a:spcPct val="113000"/>
              </a:lnSpc>
              <a:buNone/>
            </a:pPr>
            <a:r>
              <a:rPr lang="en-US" sz="900" spc="-18" kern="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given the antecedent. But confidence alone can mislead — see Slide 5.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7961213" y="2392065"/>
            <a:ext cx="3568908" cy="2590105"/>
          </a:xfrm>
          <a:prstGeom prst="roundRect">
            <a:avLst>
              <a:gd name="adj" fmla="val 1877"/>
            </a:avLst>
          </a:prstGeom>
          <a:solidFill>
            <a:srgbClr val="10B981"/>
          </a:solidFill>
          <a:ln w="6350">
            <a:solidFill>
              <a:srgbClr val="009F67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083249" y="2514104"/>
            <a:ext cx="3324836" cy="198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b="1" spc="-25" kern="0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LIFT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8083249" y="2761655"/>
            <a:ext cx="3324836" cy="5491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450" b="1" spc="-69" kern="0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1.5×</a:t>
            </a:r>
            <a:endParaRPr lang="en-US" sz="3450" dirty="0"/>
          </a:p>
        </p:txBody>
      </p:sp>
      <p:sp>
        <p:nvSpPr>
          <p:cNvPr id="22" name="Text 19"/>
          <p:cNvSpPr/>
          <p:nvPr/>
        </p:nvSpPr>
        <p:spPr>
          <a:xfrm>
            <a:off x="8083249" y="3359448"/>
            <a:ext cx="3324836" cy="5696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3000"/>
              </a:lnSpc>
              <a:spcAft>
                <a:spcPts val="350"/>
              </a:spcAft>
              <a:buNone/>
            </a:pPr>
            <a:r>
              <a:rPr lang="en-US" sz="900" b="1" spc="-18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Formula:</a:t>
            </a:r>
            <a:endParaRPr lang="en-US" sz="900" dirty="0"/>
          </a:p>
          <a:p>
            <a:pPr algn="l" indent="0" marL="0">
              <a:lnSpc>
                <a:spcPct val="113000"/>
              </a:lnSpc>
              <a:spcAft>
                <a:spcPts val="350"/>
              </a:spcAft>
              <a:buNone/>
            </a:pPr>
            <a:r>
              <a:rPr lang="en-US" sz="900" spc="-18" kern="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Lift(A → B) = Confidence(A → B) / Support(B)</a:t>
            </a:r>
            <a:endParaRPr lang="en-US" sz="900" dirty="0"/>
          </a:p>
          <a:p>
            <a:pPr algn="l" indent="0" marL="0">
              <a:lnSpc>
                <a:spcPct val="113000"/>
              </a:lnSpc>
              <a:buNone/>
            </a:pPr>
            <a:r>
              <a:rPr lang="en-US" sz="900" spc="-18" kern="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= 0.75 / 0.50 = </a:t>
            </a:r>
            <a:pPr algn="l" indent="0" marL="0">
              <a:lnSpc>
                <a:spcPct val="113000"/>
              </a:lnSpc>
              <a:buNone/>
            </a:pPr>
            <a:r>
              <a:rPr lang="en-US" sz="900" b="1" spc="-18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1.5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8083249" y="4049018"/>
            <a:ext cx="3324836" cy="12700"/>
          </a:xfrm>
          <a:prstGeom prst="roundRect">
            <a:avLst>
              <a:gd name="adj" fmla="val 49999"/>
            </a:avLst>
          </a:prstGeom>
          <a:solidFill>
            <a:srgbClr val="272525">
              <a:alpha val="50000"/>
            </a:srgbClr>
          </a:solidFill>
          <a:ln/>
        </p:spPr>
      </p:sp>
      <p:sp>
        <p:nvSpPr>
          <p:cNvPr id="24" name="Text 21"/>
          <p:cNvSpPr/>
          <p:nvPr/>
        </p:nvSpPr>
        <p:spPr>
          <a:xfrm>
            <a:off x="8083249" y="4181673"/>
            <a:ext cx="3324836" cy="6784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spcAft>
                <a:spcPts val="350"/>
              </a:spcAft>
              <a:buNone/>
            </a:pPr>
            <a:r>
              <a:rPr lang="en-US" sz="900" i="1" spc="-18" kern="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"Bread and Milk co-occur 1.5× more than expected if independent."</a:t>
            </a:r>
            <a:endParaRPr lang="en-US" sz="900" dirty="0"/>
          </a:p>
          <a:p>
            <a:pPr algn="l" indent="0" marL="0">
              <a:lnSpc>
                <a:spcPct val="113000"/>
              </a:lnSpc>
              <a:buNone/>
            </a:pPr>
            <a:r>
              <a:rPr lang="en-US" sz="900" spc="-18" kern="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Measures </a:t>
            </a:r>
            <a:pPr algn="l" indent="0" marL="0">
              <a:lnSpc>
                <a:spcPct val="113000"/>
              </a:lnSpc>
              <a:buNone/>
            </a:pPr>
            <a:r>
              <a:rPr lang="en-US" sz="900" b="1" spc="-18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true association strength</a:t>
            </a:r>
            <a:pPr algn="l" indent="0" marL="0">
              <a:lnSpc>
                <a:spcPct val="113000"/>
              </a:lnSpc>
              <a:buNone/>
            </a:pPr>
            <a:r>
              <a:rPr lang="en-US" sz="900" spc="-18" kern="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against a random baseline. The most reliable single metric.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661475" y="5073253"/>
            <a:ext cx="10868745" cy="369094"/>
          </a:xfrm>
          <a:prstGeom prst="roundRect">
            <a:avLst>
              <a:gd name="adj" fmla="val 13174"/>
            </a:avLst>
          </a:prstGeom>
          <a:solidFill>
            <a:srgbClr val="E0D7F4"/>
          </a:solidFill>
          <a:ln/>
        </p:spPr>
      </p:sp>
      <p:pic>
        <p:nvPicPr>
          <p:cNvPr id="2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61" y="5189736"/>
            <a:ext cx="144657" cy="115689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1037505" y="5183088"/>
            <a:ext cx="10986614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900" spc="-18" kern="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all three metrics together: Support (frequency) + Confidence (reliability) + Lift (genuine association). Never evaluate rules on one metric alone.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1589584"/>
            <a:ext cx="985714" cy="163413"/>
          </a:xfrm>
          <a:prstGeom prst="roundRect">
            <a:avLst>
              <a:gd name="adj" fmla="val 22104"/>
            </a:avLst>
          </a:prstGeom>
          <a:solidFill>
            <a:srgbClr val="E0D7F4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5965" y="1628279"/>
            <a:ext cx="85921" cy="8592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54847" y="1621830"/>
            <a:ext cx="1337435" cy="98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650" spc="-17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CRITICAL INSIGHT</a:t>
            </a:r>
            <a:endParaRPr lang="en-US" sz="650" dirty="0"/>
          </a:p>
        </p:txBody>
      </p:sp>
      <p:sp>
        <p:nvSpPr>
          <p:cNvPr id="5" name="Text 2"/>
          <p:cNvSpPr/>
          <p:nvPr/>
        </p:nvSpPr>
        <p:spPr>
          <a:xfrm>
            <a:off x="661475" y="1780877"/>
            <a:ext cx="10868745" cy="369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00" b="1" spc="-47" kern="0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Why Confidence Alone Can Mislead</a:t>
            </a:r>
            <a:endParaRPr lang="en-US" sz="2300" dirty="0"/>
          </a:p>
        </p:txBody>
      </p:sp>
      <p:sp>
        <p:nvSpPr>
          <p:cNvPr id="6" name="Text 3"/>
          <p:cNvSpPr/>
          <p:nvPr/>
        </p:nvSpPr>
        <p:spPr>
          <a:xfrm>
            <a:off x="661475" y="2325092"/>
            <a:ext cx="5303308" cy="1847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spc="-23" kern="0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The Deceptive Example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661475" y="2579688"/>
            <a:ext cx="5912893" cy="141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00" b="1" spc="-17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Dataset:</a:t>
            </a:r>
            <a:pPr algn="l" indent="0" marL="0">
              <a:lnSpc>
                <a:spcPct val="110000"/>
              </a:lnSpc>
              <a:buNone/>
            </a:pPr>
            <a:r>
              <a:rPr lang="en-US" sz="800" spc="-17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1,000 transactions · Milk appears in 900 · Bread appears in 500 · Bread AND Milk in 450</a:t>
            </a:r>
            <a:endParaRPr lang="en-US" sz="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1475" y="2800152"/>
          <a:ext cx="9143771" cy="914400"/>
        </p:xfrm>
        <a:graphic>
          <a:graphicData uri="http://schemas.openxmlformats.org/drawingml/2006/table">
            <a:tbl>
              <a:tblPr/>
              <a:tblGrid>
                <a:gridCol w="1767769"/>
                <a:gridCol w="1767769"/>
                <a:gridCol w="1767769"/>
              </a:tblGrid>
              <a:tr h="2414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spc="-17" kern="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Metric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7504" marR="107504" marT="6350" marB="6350" anchor="ctr">
                    <a:lnL w="12700" cap="flat" cmpd="sng" algn="ctr">
                      <a:solidFill>
                        <a:srgbClr val="C6B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B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B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B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spc="-17" kern="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Calculation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7504" marR="107504" marT="6350" marB="6350" anchor="ctr">
                    <a:lnL w="12700" cap="flat" cmpd="sng" algn="ctr">
                      <a:solidFill>
                        <a:srgbClr val="C6B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B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B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B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spc="-17" kern="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Result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7504" marR="107504" marT="6350" marB="6350" anchor="ctr">
                    <a:lnL w="12700" cap="flat" cmpd="sng" algn="ctr">
                      <a:solidFill>
                        <a:srgbClr val="C6B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B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B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B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AF7"/>
                    </a:solidFill>
                  </a:tcPr>
                </a:tc>
              </a:tr>
              <a:tr h="24466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spc="-17" kern="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Support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7504" marR="107504" marT="6350" marB="6350" anchor="ctr">
                    <a:lnL w="12700" cap="flat" cmpd="sng" algn="ctr">
                      <a:solidFill>
                        <a:srgbClr val="C6B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B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B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B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spc="-17" kern="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450 / 1000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7504" marR="107504" marT="6350" marB="6350" anchor="ctr">
                    <a:lnL w="12700" cap="flat" cmpd="sng" algn="ctr">
                      <a:solidFill>
                        <a:srgbClr val="C6B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B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B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B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spc="-17" kern="0" dirty="0">
                          <a:solidFill>
                            <a:srgbClr val="F59E0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45%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7504" marR="107504" marT="6350" marB="6350" anchor="ctr">
                    <a:lnL w="12700" cap="flat" cmpd="sng" algn="ctr">
                      <a:solidFill>
                        <a:srgbClr val="C6B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B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B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B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AF7"/>
                    </a:solidFill>
                  </a:tcPr>
                </a:tc>
              </a:tr>
              <a:tr h="24466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spc="-17" kern="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Confidence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7504" marR="107504" marT="6350" marB="6350" anchor="ctr">
                    <a:lnL w="12700" cap="flat" cmpd="sng" algn="ctr">
                      <a:solidFill>
                        <a:srgbClr val="C6B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B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B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B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spc="-17" kern="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450 / 500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7504" marR="107504" marT="6350" marB="6350" anchor="ctr">
                    <a:lnL w="12700" cap="flat" cmpd="sng" algn="ctr">
                      <a:solidFill>
                        <a:srgbClr val="C6B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B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B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B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spc="-17" kern="0" dirty="0">
                          <a:solidFill>
                            <a:srgbClr val="F59E0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90%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7504" marR="107504" marT="6350" marB="6350" anchor="ctr">
                    <a:lnL w="12700" cap="flat" cmpd="sng" algn="ctr">
                      <a:solidFill>
                        <a:srgbClr val="C6B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B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B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B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AF7"/>
                    </a:solidFill>
                  </a:tcPr>
                </a:tc>
              </a:tr>
              <a:tr h="24466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spc="-17" kern="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Support(Milk)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7504" marR="107504" marT="6350" marB="6350" anchor="ctr">
                    <a:lnL w="12700" cap="flat" cmpd="sng" algn="ctr">
                      <a:solidFill>
                        <a:srgbClr val="C6B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B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B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B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spc="-17" kern="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900 / 1000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7504" marR="107504" marT="6350" marB="6350" anchor="ctr">
                    <a:lnL w="12700" cap="flat" cmpd="sng" algn="ctr">
                      <a:solidFill>
                        <a:srgbClr val="C6B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B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B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B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spc="-17" kern="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90%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7504" marR="107504" marT="6350" marB="6350" anchor="ctr">
                    <a:lnL w="12700" cap="flat" cmpd="sng" algn="ctr">
                      <a:solidFill>
                        <a:srgbClr val="C6B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B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B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B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AF7"/>
                    </a:solidFill>
                  </a:tcPr>
                </a:tc>
              </a:tr>
              <a:tr h="2414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spc="-17" kern="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Lift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7504" marR="107504" marT="6350" marB="6350" anchor="ctr">
                    <a:lnL w="12700" cap="flat" cmpd="sng" algn="ctr">
                      <a:solidFill>
                        <a:srgbClr val="C6B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B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B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B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spc="-17" kern="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0.90 / 0.90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7504" marR="107504" marT="6350" marB="6350" anchor="ctr">
                    <a:lnL w="12700" cap="flat" cmpd="sng" algn="ctr">
                      <a:solidFill>
                        <a:srgbClr val="C6B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B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B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B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spc="-17" kern="0" dirty="0">
                          <a:solidFill>
                            <a:srgbClr val="EF444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1.0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7504" marR="107504" marT="6350" marB="6350" anchor="ctr">
                    <a:lnL w="12700" cap="flat" cmpd="sng" algn="ctr">
                      <a:solidFill>
                        <a:srgbClr val="C6B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B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B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B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AF7"/>
                    </a:solidFill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661475" y="4108450"/>
            <a:ext cx="5303308" cy="462955"/>
          </a:xfrm>
          <a:prstGeom prst="roundRect">
            <a:avLst>
              <a:gd name="adj" fmla="val 9753"/>
            </a:avLst>
          </a:prstGeom>
          <a:solidFill>
            <a:srgbClr val="FFB3B4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926" y="4218980"/>
            <a:ext cx="134339" cy="10745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10716" y="4198045"/>
            <a:ext cx="4846615" cy="2837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00" b="1" spc="-17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Lift = 1.0</a:t>
            </a:r>
            <a:pPr algn="l" indent="0" marL="0">
              <a:lnSpc>
                <a:spcPct val="110000"/>
              </a:lnSpc>
              <a:buNone/>
            </a:pPr>
            <a:r>
              <a:rPr lang="en-US" sz="800" spc="-17" kern="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means Bread and Milk are </a:t>
            </a:r>
            <a:pPr algn="l" indent="0" marL="0">
              <a:lnSpc>
                <a:spcPct val="110000"/>
              </a:lnSpc>
              <a:buNone/>
            </a:pPr>
            <a:r>
              <a:rPr lang="en-US" sz="800" b="1" spc="-17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statistically independent.</a:t>
            </a:r>
            <a:pPr algn="l" indent="0" marL="0">
              <a:lnSpc>
                <a:spcPct val="110000"/>
              </a:lnSpc>
              <a:buNone/>
            </a:pPr>
            <a:r>
              <a:rPr lang="en-US" sz="800" spc="-17" kern="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The 90% confidence is entirely explained by Milk's massive baseline popularity — not a real relationship.</a:t>
            </a:r>
            <a:endParaRPr lang="en-US" sz="800" dirty="0"/>
          </a:p>
        </p:txBody>
      </p:sp>
      <p:sp>
        <p:nvSpPr>
          <p:cNvPr id="12" name="Text 7"/>
          <p:cNvSpPr/>
          <p:nvPr/>
        </p:nvSpPr>
        <p:spPr>
          <a:xfrm>
            <a:off x="6233262" y="2325092"/>
            <a:ext cx="5303308" cy="1847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spc="-23" kern="0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The Lift Interpretation Scale</a:t>
            </a:r>
            <a:endParaRPr lang="en-US" sz="115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33262" y="2588419"/>
            <a:ext cx="5303308" cy="636786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404212" y="2708573"/>
            <a:ext cx="5012207" cy="1847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spc="-23" kern="0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Lift &lt; 1 — Negative Association</a:t>
            </a:r>
            <a:endParaRPr lang="en-US" sz="1150" dirty="0"/>
          </a:p>
        </p:txBody>
      </p:sp>
      <p:sp>
        <p:nvSpPr>
          <p:cNvPr id="15" name="Text 9"/>
          <p:cNvSpPr/>
          <p:nvPr/>
        </p:nvSpPr>
        <p:spPr>
          <a:xfrm>
            <a:off x="6404212" y="2963168"/>
            <a:ext cx="5012207" cy="141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00" spc="-17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Items occur together </a:t>
            </a:r>
            <a:pPr algn="l" indent="0" marL="0">
              <a:lnSpc>
                <a:spcPct val="110000"/>
              </a:lnSpc>
              <a:buNone/>
            </a:pPr>
            <a:r>
              <a:rPr lang="en-US" sz="800" b="1" spc="-17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less</a:t>
            </a:r>
            <a:pPr algn="l" indent="0" marL="0">
              <a:lnSpc>
                <a:spcPct val="110000"/>
              </a:lnSpc>
              <a:buNone/>
            </a:pPr>
            <a:r>
              <a:rPr lang="en-US" sz="800" spc="-17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than expected by chance. Buying A makes B </a:t>
            </a:r>
            <a:pPr algn="l" indent="0" marL="0">
              <a:lnSpc>
                <a:spcPct val="110000"/>
              </a:lnSpc>
              <a:buNone/>
            </a:pPr>
            <a:r>
              <a:rPr lang="en-US" sz="800" i="1" spc="-17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less</a:t>
            </a:r>
            <a:pPr algn="l" indent="0" marL="0">
              <a:lnSpc>
                <a:spcPct val="110000"/>
              </a:lnSpc>
              <a:buNone/>
            </a:pPr>
            <a:r>
              <a:rPr lang="en-US" sz="800" spc="-17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likely.</a:t>
            </a:r>
            <a:endParaRPr lang="en-US" sz="8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33262" y="3295055"/>
            <a:ext cx="5303308" cy="841474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6404212" y="3415209"/>
            <a:ext cx="5012207" cy="1847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spc="-23" kern="0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Lift = 1 — Independent</a:t>
            </a:r>
            <a:endParaRPr lang="en-US" sz="1150" dirty="0"/>
          </a:p>
        </p:txBody>
      </p:sp>
      <p:sp>
        <p:nvSpPr>
          <p:cNvPr id="18" name="Text 11"/>
          <p:cNvSpPr/>
          <p:nvPr/>
        </p:nvSpPr>
        <p:spPr>
          <a:xfrm>
            <a:off x="6404212" y="3669804"/>
            <a:ext cx="5012207" cy="3465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spcAft>
                <a:spcPts val="450"/>
              </a:spcAft>
              <a:buNone/>
            </a:pPr>
            <a:r>
              <a:rPr lang="en-US" sz="800" spc="-17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Items are statistically </a:t>
            </a:r>
            <a:pPr algn="l" indent="0" marL="0">
              <a:lnSpc>
                <a:spcPct val="110000"/>
              </a:lnSpc>
              <a:spcAft>
                <a:spcPts val="450"/>
              </a:spcAft>
              <a:buNone/>
            </a:pPr>
            <a:r>
              <a:rPr lang="en-US" sz="800" b="1" spc="-17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unrelated</a:t>
            </a:r>
            <a:pPr algn="l" indent="0" marL="0">
              <a:lnSpc>
                <a:spcPct val="110000"/>
              </a:lnSpc>
              <a:spcAft>
                <a:spcPts val="450"/>
              </a:spcAft>
              <a:buNone/>
            </a:pPr>
            <a:r>
              <a:rPr lang="en-US" sz="800" spc="-17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The rule adds no predictive value above baseline.</a:t>
            </a:r>
            <a:endParaRPr lang="en-US" sz="8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800" i="1" spc="-17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← Our {Bread} → {Milk} example falls here (Lift = 1.0)</a:t>
            </a:r>
            <a:endParaRPr lang="en-US" sz="800" dirty="0"/>
          </a:p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233262" y="4206379"/>
            <a:ext cx="5303308" cy="636786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6404212" y="4326533"/>
            <a:ext cx="5012207" cy="1847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spc="-23" kern="0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Lift &gt; 1 — Positive Association</a:t>
            </a:r>
            <a:endParaRPr lang="en-US" sz="1150" dirty="0"/>
          </a:p>
        </p:txBody>
      </p:sp>
      <p:sp>
        <p:nvSpPr>
          <p:cNvPr id="21" name="Text 13"/>
          <p:cNvSpPr/>
          <p:nvPr/>
        </p:nvSpPr>
        <p:spPr>
          <a:xfrm>
            <a:off x="6404212" y="4581128"/>
            <a:ext cx="5012207" cy="141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00" spc="-17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Items occur together </a:t>
            </a:r>
            <a:pPr algn="l" indent="0" marL="0">
              <a:lnSpc>
                <a:spcPct val="110000"/>
              </a:lnSpc>
              <a:buNone/>
            </a:pPr>
            <a:r>
              <a:rPr lang="en-US" sz="800" b="1" spc="-17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more</a:t>
            </a:r>
            <a:pPr algn="l" indent="0" marL="0">
              <a:lnSpc>
                <a:spcPct val="110000"/>
              </a:lnSpc>
              <a:buNone/>
            </a:pPr>
            <a:r>
              <a:rPr lang="en-US" sz="800" spc="-17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than expected. Genuine, actionable co-occurrence signal.</a:t>
            </a:r>
            <a:endParaRPr lang="en-US" sz="800" dirty="0"/>
          </a:p>
        </p:txBody>
      </p:sp>
      <p:sp>
        <p:nvSpPr>
          <p:cNvPr id="22" name="Text 14"/>
          <p:cNvSpPr/>
          <p:nvPr/>
        </p:nvSpPr>
        <p:spPr>
          <a:xfrm>
            <a:off x="6233262" y="4921746"/>
            <a:ext cx="5303308" cy="2837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00" b="1" spc="-17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Key Lesson:</a:t>
            </a:r>
            <a:pPr algn="l" indent="0" marL="0">
              <a:lnSpc>
                <a:spcPct val="110000"/>
              </a:lnSpc>
              <a:buNone/>
            </a:pPr>
            <a:r>
              <a:rPr lang="en-US" sz="800" spc="-17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Evaluate every rule using </a:t>
            </a:r>
            <a:pPr algn="l" indent="0" marL="0">
              <a:lnSpc>
                <a:spcPct val="110000"/>
              </a:lnSpc>
              <a:buNone/>
            </a:pPr>
            <a:r>
              <a:rPr lang="en-US" sz="800" b="1" spc="-17" kern="0" dirty="0">
                <a:solidFill>
                  <a:srgbClr val="2563E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Support AND Confidence AND Lift</a:t>
            </a:r>
            <a:pPr algn="l" indent="0" marL="0">
              <a:lnSpc>
                <a:spcPct val="110000"/>
              </a:lnSpc>
              <a:buNone/>
            </a:pPr>
            <a:r>
              <a:rPr lang="en-US" sz="800" spc="-17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together. A rule with 90% confidence and Lift = 1.0 is worthless for decision-making.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1383705"/>
            <a:ext cx="1037405" cy="163413"/>
          </a:xfrm>
          <a:prstGeom prst="roundRect">
            <a:avLst>
              <a:gd name="adj" fmla="val 22104"/>
            </a:avLst>
          </a:prstGeom>
          <a:solidFill>
            <a:srgbClr val="E0D7F4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5965" y="1422400"/>
            <a:ext cx="85921" cy="8592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54847" y="1415951"/>
            <a:ext cx="1389127" cy="98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650" spc="-17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APRIORI PROPERTY</a:t>
            </a:r>
            <a:endParaRPr lang="en-US" sz="650" dirty="0"/>
          </a:p>
        </p:txBody>
      </p:sp>
      <p:sp>
        <p:nvSpPr>
          <p:cNvPr id="5" name="Text 2"/>
          <p:cNvSpPr/>
          <p:nvPr/>
        </p:nvSpPr>
        <p:spPr>
          <a:xfrm>
            <a:off x="661475" y="1574998"/>
            <a:ext cx="10868745" cy="369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00" b="1" spc="-47" kern="0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Apriori — Search Smarter, Not Everywhere</a:t>
            </a:r>
            <a:endParaRPr lang="en-US" sz="2300" dirty="0"/>
          </a:p>
        </p:txBody>
      </p:sp>
      <p:sp>
        <p:nvSpPr>
          <p:cNvPr id="6" name="Text 3"/>
          <p:cNvSpPr/>
          <p:nvPr/>
        </p:nvSpPr>
        <p:spPr>
          <a:xfrm>
            <a:off x="661475" y="2119213"/>
            <a:ext cx="4746705" cy="1847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spc="-23" kern="0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The Computational Challenge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1492113" y="2436217"/>
            <a:ext cx="3085328" cy="3548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750" b="1" spc="-56" kern="0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1,023</a:t>
            </a:r>
            <a:endParaRPr lang="en-US" sz="2750" dirty="0"/>
          </a:p>
        </p:txBody>
      </p:sp>
      <p:sp>
        <p:nvSpPr>
          <p:cNvPr id="8" name="Text 5"/>
          <p:cNvSpPr/>
          <p:nvPr/>
        </p:nvSpPr>
        <p:spPr>
          <a:xfrm>
            <a:off x="661475" y="2897088"/>
            <a:ext cx="4746705" cy="1847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50" b="1" spc="-23" kern="0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Possible Itemsets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661475" y="3151684"/>
            <a:ext cx="4746705" cy="141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00" spc="-17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With just 10 items: 2¹⁰ − 1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492113" y="3486944"/>
            <a:ext cx="3085328" cy="3548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750" b="1" spc="-56" kern="0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2¹⁰⁰</a:t>
            </a:r>
            <a:endParaRPr lang="en-US" sz="2750" dirty="0"/>
          </a:p>
        </p:txBody>
      </p:sp>
      <p:sp>
        <p:nvSpPr>
          <p:cNvPr id="11" name="Text 8"/>
          <p:cNvSpPr/>
          <p:nvPr/>
        </p:nvSpPr>
        <p:spPr>
          <a:xfrm>
            <a:off x="661475" y="3947815"/>
            <a:ext cx="4746705" cy="1847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50" b="1" spc="-23" kern="0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Astronomical Scale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661475" y="4202410"/>
            <a:ext cx="4746705" cy="141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00" spc="-17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With 100 items — brute force is infeasible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661475" y="4422874"/>
            <a:ext cx="4746705" cy="2837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00" spc="-17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Evaluating every possible itemset is computationally impossible at real-world scale. We need a principled way to </a:t>
            </a:r>
            <a:pPr algn="l" indent="0" marL="0">
              <a:lnSpc>
                <a:spcPct val="110000"/>
              </a:lnSpc>
              <a:buNone/>
            </a:pPr>
            <a:r>
              <a:rPr lang="en-US" sz="800" b="1" spc="-17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prune the search space</a:t>
            </a:r>
            <a:pPr algn="l" indent="0" marL="0">
              <a:lnSpc>
                <a:spcPct val="110000"/>
              </a:lnSpc>
              <a:buNone/>
            </a:pPr>
            <a:r>
              <a:rPr lang="en-US" sz="800" spc="-17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before evaluating support.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661475" y="4785221"/>
            <a:ext cx="4746705" cy="462955"/>
          </a:xfrm>
          <a:prstGeom prst="roundRect">
            <a:avLst>
              <a:gd name="adj" fmla="val 9753"/>
            </a:avLst>
          </a:prstGeom>
          <a:solidFill>
            <a:srgbClr val="E0D7F4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926" y="4895751"/>
            <a:ext cx="134339" cy="10745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010716" y="4874816"/>
            <a:ext cx="4290012" cy="2837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00" b="1" spc="-17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The general formula:</a:t>
            </a:r>
            <a:pPr algn="l" indent="0" marL="0">
              <a:lnSpc>
                <a:spcPct val="110000"/>
              </a:lnSpc>
              <a:buNone/>
            </a:pPr>
            <a:r>
              <a:rPr lang="en-US" sz="800" spc="-17" kern="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For </a:t>
            </a:r>
            <a:pPr algn="l" indent="0" marL="0">
              <a:lnSpc>
                <a:spcPct val="110000"/>
              </a:lnSpc>
              <a:buNone/>
            </a:pPr>
            <a:r>
              <a:rPr lang="en-US" sz="800" i="1" spc="-17" kern="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</a:t>
            </a:r>
            <a:pPr algn="l" indent="0" marL="0">
              <a:lnSpc>
                <a:spcPct val="110000"/>
              </a:lnSpc>
              <a:buNone/>
            </a:pPr>
            <a:r>
              <a:rPr lang="en-US" sz="800" spc="-17" kern="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items, the number of non-empty subsets = </a:t>
            </a:r>
            <a:pPr algn="l" indent="0" marL="0">
              <a:lnSpc>
                <a:spcPct val="110000"/>
              </a:lnSpc>
              <a:buNone/>
            </a:pPr>
            <a:r>
              <a:rPr lang="en-US" sz="800" b="1" spc="-17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2ⁿ − 1</a:t>
            </a:r>
            <a:pPr algn="l" indent="0" marL="0">
              <a:lnSpc>
                <a:spcPct val="110000"/>
              </a:lnSpc>
              <a:buNone/>
            </a:pPr>
            <a:r>
              <a:rPr lang="en-US" sz="800" spc="-17" kern="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This grows exponentially — even 30 items yields over 1 billion candidate itemsets.</a:t>
            </a:r>
            <a:endParaRPr lang="en-US" sz="800" dirty="0"/>
          </a:p>
        </p:txBody>
      </p:sp>
      <p:sp>
        <p:nvSpPr>
          <p:cNvPr id="17" name="Text 13"/>
          <p:cNvSpPr/>
          <p:nvPr/>
        </p:nvSpPr>
        <p:spPr>
          <a:xfrm>
            <a:off x="5676659" y="2119213"/>
            <a:ext cx="5859812" cy="1847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spc="-23" kern="0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The Apriori Property — The Key Insight</a:t>
            </a:r>
            <a:endParaRPr lang="en-US" sz="1150" dirty="0"/>
          </a:p>
        </p:txBody>
      </p:sp>
      <p:sp>
        <p:nvSpPr>
          <p:cNvPr id="18" name="Text 14"/>
          <p:cNvSpPr/>
          <p:nvPr/>
        </p:nvSpPr>
        <p:spPr>
          <a:xfrm>
            <a:off x="5837885" y="2445345"/>
            <a:ext cx="6308170" cy="141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00" b="1" spc="-17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"If an itemset is frequent, all of its subsets must also be frequent."</a:t>
            </a:r>
            <a:endParaRPr lang="en-US" sz="800" dirty="0"/>
          </a:p>
        </p:txBody>
      </p:sp>
      <p:sp>
        <p:nvSpPr>
          <p:cNvPr id="19" name="Shape 15"/>
          <p:cNvSpPr/>
          <p:nvPr/>
        </p:nvSpPr>
        <p:spPr>
          <a:xfrm>
            <a:off x="5676659" y="2382540"/>
            <a:ext cx="12700" cy="267494"/>
          </a:xfrm>
          <a:prstGeom prst="roundRect">
            <a:avLst>
              <a:gd name="adj" fmla="val 49999"/>
            </a:avLst>
          </a:prstGeom>
          <a:solidFill>
            <a:srgbClr val="6237C8"/>
          </a:solidFill>
          <a:ln/>
        </p:spPr>
      </p:sp>
      <p:sp>
        <p:nvSpPr>
          <p:cNvPr id="20" name="Text 16"/>
          <p:cNvSpPr/>
          <p:nvPr/>
        </p:nvSpPr>
        <p:spPr>
          <a:xfrm>
            <a:off x="5676659" y="2728615"/>
            <a:ext cx="5859812" cy="2837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00" b="1" spc="-17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Equivalently (the pruning rule):</a:t>
            </a:r>
            <a:pPr algn="l" indent="0" marL="0">
              <a:lnSpc>
                <a:spcPct val="110000"/>
              </a:lnSpc>
              <a:buNone/>
            </a:pPr>
            <a:r>
              <a:rPr lang="en-US" sz="800" spc="-17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If an itemset is </a:t>
            </a:r>
            <a:pPr algn="l" indent="0" marL="0">
              <a:lnSpc>
                <a:spcPct val="110000"/>
              </a:lnSpc>
              <a:buNone/>
            </a:pPr>
            <a:r>
              <a:rPr lang="en-US" sz="800" b="1" spc="-17" kern="0" dirty="0">
                <a:solidFill>
                  <a:srgbClr val="EF4444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infrequent</a:t>
            </a:r>
            <a:pPr algn="l" indent="0" marL="0">
              <a:lnSpc>
                <a:spcPct val="110000"/>
              </a:lnSpc>
              <a:buNone/>
            </a:pPr>
            <a:r>
              <a:rPr lang="en-US" sz="800" spc="-17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then every larger itemset containing it </a:t>
            </a:r>
            <a:pPr algn="l" indent="0" marL="0">
              <a:lnSpc>
                <a:spcPct val="110000"/>
              </a:lnSpc>
              <a:buNone/>
            </a:pPr>
            <a:r>
              <a:rPr lang="en-US" sz="800" b="1" spc="-17" kern="0" dirty="0">
                <a:solidFill>
                  <a:srgbClr val="EF4444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must also be infrequent</a:t>
            </a:r>
            <a:pPr algn="l" indent="0" marL="0">
              <a:lnSpc>
                <a:spcPct val="110000"/>
              </a:lnSpc>
              <a:buNone/>
            </a:pPr>
            <a:r>
              <a:rPr lang="en-US" sz="800" spc="-17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and need not be evaluated.</a:t>
            </a:r>
            <a:endParaRPr lang="en-US" sz="800" dirty="0"/>
          </a:p>
        </p:txBody>
      </p:sp>
      <p:sp>
        <p:nvSpPr>
          <p:cNvPr id="21" name="Text 17"/>
          <p:cNvSpPr/>
          <p:nvPr/>
        </p:nvSpPr>
        <p:spPr>
          <a:xfrm>
            <a:off x="5676659" y="3082230"/>
            <a:ext cx="5859812" cy="1847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spc="-23" kern="0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Pruning Example</a:t>
            </a:r>
            <a:endParaRPr lang="en-US" sz="1150" dirty="0"/>
          </a:p>
        </p:txBody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76659" y="3345557"/>
            <a:ext cx="5859812" cy="636786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5847608" y="3465711"/>
            <a:ext cx="5568711" cy="1847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spc="-23" kern="0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{Bread, Milk} → Infrequent ✗</a:t>
            </a:r>
            <a:endParaRPr lang="en-US" sz="1150" dirty="0"/>
          </a:p>
        </p:txBody>
      </p:sp>
      <p:sp>
        <p:nvSpPr>
          <p:cNvPr id="24" name="Text 19"/>
          <p:cNvSpPr/>
          <p:nvPr/>
        </p:nvSpPr>
        <p:spPr>
          <a:xfrm>
            <a:off x="5847608" y="3720306"/>
            <a:ext cx="5568711" cy="141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00" spc="-17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Support falls below threshold. Mark as infrequent.</a:t>
            </a:r>
            <a:endParaRPr lang="en-US" sz="800" dirty="0"/>
          </a:p>
        </p:txBody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676659" y="4052193"/>
            <a:ext cx="5859812" cy="636786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5847608" y="4172347"/>
            <a:ext cx="5568711" cy="1847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spc="-23" kern="0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{Bread, Milk, Butter} → Pruned ✗</a:t>
            </a:r>
            <a:endParaRPr lang="en-US" sz="1150" dirty="0"/>
          </a:p>
        </p:txBody>
      </p:sp>
      <p:sp>
        <p:nvSpPr>
          <p:cNvPr id="27" name="Text 21"/>
          <p:cNvSpPr/>
          <p:nvPr/>
        </p:nvSpPr>
        <p:spPr>
          <a:xfrm>
            <a:off x="5847608" y="4426942"/>
            <a:ext cx="5568711" cy="141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00" spc="-17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Cannot be frequent if its subset {Bread, Milk} is not. </a:t>
            </a:r>
            <a:pPr algn="l" indent="0" marL="0">
              <a:lnSpc>
                <a:spcPct val="110000"/>
              </a:lnSpc>
              <a:buNone/>
            </a:pPr>
            <a:r>
              <a:rPr lang="en-US" sz="800" b="1" spc="-17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Skip entirely — never evaluate.</a:t>
            </a:r>
            <a:endParaRPr lang="en-US" sz="800" dirty="0"/>
          </a:p>
        </p:txBody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676659" y="4758829"/>
            <a:ext cx="5859812" cy="636786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5847608" y="4878983"/>
            <a:ext cx="5568711" cy="1847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spc="-23" kern="0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Result: Exponential Reduction ✓</a:t>
            </a:r>
            <a:endParaRPr lang="en-US" sz="1150" dirty="0"/>
          </a:p>
        </p:txBody>
      </p:sp>
      <p:sp>
        <p:nvSpPr>
          <p:cNvPr id="30" name="Text 23"/>
          <p:cNvSpPr/>
          <p:nvPr/>
        </p:nvSpPr>
        <p:spPr>
          <a:xfrm>
            <a:off x="5847608" y="5133578"/>
            <a:ext cx="5568711" cy="141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00" spc="-17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Pruning entire branches collapses the search space from astronomical to manageable.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69020"/>
            <a:ext cx="749083" cy="163413"/>
          </a:xfrm>
          <a:prstGeom prst="roundRect">
            <a:avLst>
              <a:gd name="adj" fmla="val 22104"/>
            </a:avLst>
          </a:prstGeom>
          <a:solidFill>
            <a:srgbClr val="E0D7F4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5965" y="607715"/>
            <a:ext cx="85921" cy="8592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54847" y="601266"/>
            <a:ext cx="1100804" cy="98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650" spc="-17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ALGORITHM</a:t>
            </a:r>
            <a:endParaRPr lang="en-US" sz="650" dirty="0"/>
          </a:p>
        </p:txBody>
      </p:sp>
      <p:sp>
        <p:nvSpPr>
          <p:cNvPr id="5" name="Text 2"/>
          <p:cNvSpPr/>
          <p:nvPr/>
        </p:nvSpPr>
        <p:spPr>
          <a:xfrm>
            <a:off x="661475" y="760313"/>
            <a:ext cx="10868745" cy="369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00" b="1" spc="-47" kern="0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How the Apriori Algorithm Works</a:t>
            </a:r>
            <a:endParaRPr lang="en-US" sz="2300" dirty="0"/>
          </a:p>
        </p:txBody>
      </p:sp>
      <p:sp>
        <p:nvSpPr>
          <p:cNvPr id="6" name="Shape 3"/>
          <p:cNvSpPr/>
          <p:nvPr/>
        </p:nvSpPr>
        <p:spPr>
          <a:xfrm>
            <a:off x="661475" y="1313259"/>
            <a:ext cx="241790" cy="241796"/>
          </a:xfrm>
          <a:prstGeom prst="roundRect">
            <a:avLst>
              <a:gd name="adj" fmla="val 18674"/>
            </a:avLst>
          </a:prstGeom>
          <a:solidFill>
            <a:srgbClr val="E0D7F4"/>
          </a:solidFill>
          <a:ln w="6350">
            <a:solidFill>
              <a:srgbClr val="C6BDD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93671" y="1323280"/>
            <a:ext cx="177299" cy="22165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b="1" spc="-28" kern="0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1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973113" y="1350169"/>
            <a:ext cx="5548174" cy="1847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spc="-23" kern="0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Generate Candidate 1-Itemsets (C₁)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973113" y="1604764"/>
            <a:ext cx="5548174" cy="141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00" spc="-17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Start with every unique item as a candidate: C₁ = {{Bread}, {Milk}, {Butter}, {Beer}, …}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661475" y="1886347"/>
            <a:ext cx="241790" cy="241796"/>
          </a:xfrm>
          <a:prstGeom prst="roundRect">
            <a:avLst>
              <a:gd name="adj" fmla="val 18674"/>
            </a:avLst>
          </a:prstGeom>
          <a:solidFill>
            <a:srgbClr val="E0D7F4"/>
          </a:solidFill>
          <a:ln w="6350">
            <a:solidFill>
              <a:srgbClr val="C6BDD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93671" y="1896368"/>
            <a:ext cx="177299" cy="22165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b="1" spc="-28" kern="0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2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973113" y="1923256"/>
            <a:ext cx="5548174" cy="1847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spc="-23" kern="0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Calculate Support &amp; Prune → L₁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973113" y="2177852"/>
            <a:ext cx="5548174" cy="141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00" spc="-17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Scan all transactions. Remove items below </a:t>
            </a:r>
            <a:pPr algn="l" indent="0" marL="0">
              <a:lnSpc>
                <a:spcPct val="110000"/>
              </a:lnSpc>
              <a:buNone/>
            </a:pPr>
            <a:r>
              <a:rPr lang="en-US" sz="800" b="1" spc="-17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min_support</a:t>
            </a:r>
            <a:pPr algn="l" indent="0" marL="0">
              <a:lnSpc>
                <a:spcPct val="110000"/>
              </a:lnSpc>
              <a:buNone/>
            </a:pPr>
            <a:r>
              <a:rPr lang="en-US" sz="800" spc="-17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Example: {Beer} = 20% with threshold 40% → </a:t>
            </a:r>
            <a:pPr algn="l" indent="0" marL="0">
              <a:lnSpc>
                <a:spcPct val="110000"/>
              </a:lnSpc>
              <a:buNone/>
            </a:pPr>
            <a:r>
              <a:rPr lang="en-US" sz="800" spc="-17" kern="0" dirty="0">
                <a:solidFill>
                  <a:srgbClr val="EF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removed</a:t>
            </a:r>
            <a:pPr algn="l" indent="0" marL="0">
              <a:lnSpc>
                <a:spcPct val="110000"/>
              </a:lnSpc>
              <a:buNone/>
            </a:pPr>
            <a:r>
              <a:rPr lang="en-US" sz="800" spc="-17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661475" y="2459434"/>
            <a:ext cx="241790" cy="241796"/>
          </a:xfrm>
          <a:prstGeom prst="roundRect">
            <a:avLst>
              <a:gd name="adj" fmla="val 18674"/>
            </a:avLst>
          </a:prstGeom>
          <a:solidFill>
            <a:srgbClr val="E0D7F4"/>
          </a:solidFill>
          <a:ln w="6350">
            <a:solidFill>
              <a:srgbClr val="C6BDD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93671" y="2469455"/>
            <a:ext cx="177299" cy="22165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b="1" spc="-28" kern="0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3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973113" y="2496344"/>
            <a:ext cx="5548174" cy="1847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spc="-23" kern="0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Generate Candidate 2-Itemsets (C₂)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973113" y="2750939"/>
            <a:ext cx="5548174" cy="141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00" spc="-17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Pair all surviving frequent 1-itemsets: {{Bread, Milk}, {Bread, Butter}, {Milk, Butter}, …}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661475" y="3032522"/>
            <a:ext cx="241790" cy="241796"/>
          </a:xfrm>
          <a:prstGeom prst="roundRect">
            <a:avLst>
              <a:gd name="adj" fmla="val 18674"/>
            </a:avLst>
          </a:prstGeom>
          <a:solidFill>
            <a:srgbClr val="E0D7F4"/>
          </a:solidFill>
          <a:ln w="6350">
            <a:solidFill>
              <a:srgbClr val="C6BDD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93671" y="3042543"/>
            <a:ext cx="177299" cy="22165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b="1" spc="-28" kern="0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4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973113" y="3069431"/>
            <a:ext cx="5548174" cy="1847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spc="-23" kern="0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Calculate Support &amp; Prune → L₂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973113" y="3324027"/>
            <a:ext cx="5548174" cy="141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00" spc="-17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Apply Apriori property: any 2-itemset containing an infrequent 1-itemset is pruned without scanning.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661475" y="3605609"/>
            <a:ext cx="241790" cy="241796"/>
          </a:xfrm>
          <a:prstGeom prst="roundRect">
            <a:avLst>
              <a:gd name="adj" fmla="val 18674"/>
            </a:avLst>
          </a:prstGeom>
          <a:solidFill>
            <a:srgbClr val="E0D7F4"/>
          </a:solidFill>
          <a:ln w="6350">
            <a:solidFill>
              <a:srgbClr val="C6BDD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93671" y="3615630"/>
            <a:ext cx="177299" cy="22165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b="1" spc="-28" kern="0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5</a:t>
            </a:r>
            <a:endParaRPr lang="en-US" sz="1350" dirty="0"/>
          </a:p>
        </p:txBody>
      </p:sp>
      <p:sp>
        <p:nvSpPr>
          <p:cNvPr id="24" name="Text 21"/>
          <p:cNvSpPr/>
          <p:nvPr/>
        </p:nvSpPr>
        <p:spPr>
          <a:xfrm>
            <a:off x="973113" y="3642519"/>
            <a:ext cx="5548174" cy="1847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spc="-23" kern="0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Repeat for k-Itemsets until Empty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973113" y="3897114"/>
            <a:ext cx="5548174" cy="141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00" spc="-17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Generate C₃ from L₂, prune to L₃, and so on — until no frequent itemsets remain at level k.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6789766" y="1304528"/>
            <a:ext cx="4746705" cy="1847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spc="-23" kern="0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Pseudocode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6789766" y="1567855"/>
            <a:ext cx="4746705" cy="2623542"/>
          </a:xfrm>
          <a:prstGeom prst="roundRect">
            <a:avLst>
              <a:gd name="adj" fmla="val 1721"/>
            </a:avLst>
          </a:prstGeom>
          <a:solidFill>
            <a:srgbClr val="F0EDEA"/>
          </a:solidFill>
          <a:ln/>
        </p:spPr>
      </p:sp>
      <p:sp>
        <p:nvSpPr>
          <p:cNvPr id="28" name="Text 25"/>
          <p:cNvSpPr/>
          <p:nvPr/>
        </p:nvSpPr>
        <p:spPr>
          <a:xfrm>
            <a:off x="6918747" y="1675309"/>
            <a:ext cx="4488742" cy="24086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800" spc="-17" kern="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L₁ = frequent 1-itemsets</a:t>
            </a:r>
            <a:endParaRPr lang="en-US" sz="800" dirty="0"/>
          </a:p>
          <a:p>
            <a:pPr algn="l" indent="0" marL="0">
              <a:lnSpc>
                <a:spcPct val="133000"/>
              </a:lnSpc>
              <a:buNone/>
            </a:pPr>
            <a:endParaRPr lang="en-US" sz="8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800" spc="-17" kern="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k = 2 while L(k-1) ≠ ∅:</a:t>
            </a:r>
            <a:endParaRPr lang="en-US" sz="8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800" spc="-17" kern="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Cₖ = join(L(k-1), L(k-1))</a:t>
            </a:r>
            <a:endParaRPr lang="en-US" sz="8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800" spc="-17" kern="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// generate candidates</a:t>
            </a:r>
            <a:endParaRPr lang="en-US" sz="800" dirty="0"/>
          </a:p>
          <a:p>
            <a:pPr algn="l" indent="0" marL="0">
              <a:lnSpc>
                <a:spcPct val="133000"/>
              </a:lnSpc>
              <a:buNone/>
            </a:pPr>
            <a:endParaRPr lang="en-US" sz="8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800" spc="-17" kern="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 each transaction t:</a:t>
            </a:r>
            <a:endParaRPr lang="en-US" sz="8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800" spc="-17" kern="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increment count for</a:t>
            </a:r>
            <a:endParaRPr lang="en-US" sz="8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800" spc="-17" kern="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candidates ⊆ t</a:t>
            </a:r>
            <a:endParaRPr lang="en-US" sz="800" dirty="0"/>
          </a:p>
          <a:p>
            <a:pPr algn="l" indent="0" marL="0">
              <a:lnSpc>
                <a:spcPct val="133000"/>
              </a:lnSpc>
              <a:buNone/>
            </a:pPr>
            <a:endParaRPr lang="en-US" sz="8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800" spc="-17" kern="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Lₖ = {c ∈ Cₖ |</a:t>
            </a:r>
            <a:endParaRPr lang="en-US" sz="8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800" spc="-17" kern="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support(c) ≥ min_support}</a:t>
            </a:r>
            <a:endParaRPr lang="en-US" sz="800" dirty="0"/>
          </a:p>
          <a:p>
            <a:pPr algn="l" indent="0" marL="0">
              <a:lnSpc>
                <a:spcPct val="133000"/>
              </a:lnSpc>
              <a:buNone/>
            </a:pPr>
            <a:endParaRPr lang="en-US" sz="8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800" spc="-17" kern="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∪ Lₖ for all k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6789766" y="4269978"/>
            <a:ext cx="4746705" cy="1847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spc="-23" kern="0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Stage Flow</a:t>
            </a:r>
            <a:endParaRPr lang="en-US" sz="1150" dirty="0"/>
          </a:p>
        </p:txBody>
      </p:sp>
      <p:pic>
        <p:nvPicPr>
          <p:cNvPr id="3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405" y="4533305"/>
            <a:ext cx="3085328" cy="1330424"/>
          </a:xfrm>
          <a:prstGeom prst="rect">
            <a:avLst/>
          </a:prstGeom>
        </p:spPr>
      </p:pic>
      <p:sp>
        <p:nvSpPr>
          <p:cNvPr id="31" name="Text 27"/>
          <p:cNvSpPr/>
          <p:nvPr/>
        </p:nvSpPr>
        <p:spPr>
          <a:xfrm>
            <a:off x="7828089" y="5607056"/>
            <a:ext cx="769910" cy="96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00" b="1" spc="-12" kern="0" dirty="0">
                <a:solidFill>
                  <a:srgbClr val="FFFFF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L₂ Prune</a:t>
            </a:r>
            <a:endParaRPr lang="en-US" sz="600" dirty="0"/>
          </a:p>
        </p:txBody>
      </p:sp>
      <p:sp>
        <p:nvSpPr>
          <p:cNvPr id="32" name="Text 28"/>
          <p:cNvSpPr/>
          <p:nvPr/>
        </p:nvSpPr>
        <p:spPr>
          <a:xfrm>
            <a:off x="7828089" y="5299084"/>
            <a:ext cx="769910" cy="96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00" b="1" spc="-12" kern="0" dirty="0">
                <a:solidFill>
                  <a:srgbClr val="FFFFF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C₂ Join</a:t>
            </a:r>
            <a:endParaRPr lang="en-US" sz="600" dirty="0"/>
          </a:p>
        </p:txBody>
      </p:sp>
      <p:sp>
        <p:nvSpPr>
          <p:cNvPr id="33" name="Text 29"/>
          <p:cNvSpPr/>
          <p:nvPr/>
        </p:nvSpPr>
        <p:spPr>
          <a:xfrm>
            <a:off x="7828089" y="4994223"/>
            <a:ext cx="769910" cy="96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00" b="1" spc="-12" kern="0" dirty="0">
                <a:solidFill>
                  <a:srgbClr val="FFFFF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L₁ Prune</a:t>
            </a:r>
            <a:endParaRPr lang="en-US" sz="600" dirty="0"/>
          </a:p>
        </p:txBody>
      </p:sp>
      <p:sp>
        <p:nvSpPr>
          <p:cNvPr id="34" name="Text 30"/>
          <p:cNvSpPr/>
          <p:nvPr/>
        </p:nvSpPr>
        <p:spPr>
          <a:xfrm>
            <a:off x="7828089" y="4686252"/>
            <a:ext cx="769910" cy="96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00" b="1" spc="-12" kern="0" dirty="0">
                <a:solidFill>
                  <a:srgbClr val="FFFFF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C₁ Candidates</a:t>
            </a:r>
            <a:endParaRPr lang="en-US" sz="600" dirty="0"/>
          </a:p>
        </p:txBody>
      </p:sp>
      <p:sp>
        <p:nvSpPr>
          <p:cNvPr id="35" name="Text 31"/>
          <p:cNvSpPr/>
          <p:nvPr/>
        </p:nvSpPr>
        <p:spPr>
          <a:xfrm>
            <a:off x="6789766" y="5942310"/>
            <a:ext cx="4746705" cy="2837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00" i="1" spc="-17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 = Candidate set · L = Frequent (Live) set · Each arrow represents one database scan plus pruning.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1948359"/>
            <a:ext cx="1031254" cy="163413"/>
          </a:xfrm>
          <a:prstGeom prst="roundRect">
            <a:avLst>
              <a:gd name="adj" fmla="val 22104"/>
            </a:avLst>
          </a:prstGeom>
          <a:solidFill>
            <a:srgbClr val="E0D7F4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5965" y="1987054"/>
            <a:ext cx="85921" cy="8592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54847" y="1980605"/>
            <a:ext cx="1382976" cy="98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650" spc="-17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WORKED EXAMPLE</a:t>
            </a:r>
            <a:endParaRPr lang="en-US" sz="650" dirty="0"/>
          </a:p>
        </p:txBody>
      </p:sp>
      <p:sp>
        <p:nvSpPr>
          <p:cNvPr id="5" name="Text 2"/>
          <p:cNvSpPr/>
          <p:nvPr/>
        </p:nvSpPr>
        <p:spPr>
          <a:xfrm>
            <a:off x="661475" y="2139652"/>
            <a:ext cx="10868745" cy="369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00" b="1" spc="-47" kern="0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Apriori Worked Example</a:t>
            </a:r>
            <a:endParaRPr lang="en-US" sz="2300" dirty="0"/>
          </a:p>
        </p:txBody>
      </p:sp>
      <p:sp>
        <p:nvSpPr>
          <p:cNvPr id="6" name="Shape 3"/>
          <p:cNvSpPr/>
          <p:nvPr/>
        </p:nvSpPr>
        <p:spPr>
          <a:xfrm>
            <a:off x="584086" y="2614017"/>
            <a:ext cx="3231871" cy="2295525"/>
          </a:xfrm>
          <a:prstGeom prst="roundRect">
            <a:avLst>
              <a:gd name="adj" fmla="val 3372"/>
            </a:avLst>
          </a:prstGeom>
          <a:solidFill>
            <a:srgbClr val="172033"/>
          </a:solidFill>
          <a:ln/>
        </p:spPr>
      </p:sp>
      <p:sp>
        <p:nvSpPr>
          <p:cNvPr id="7" name="Text 4"/>
          <p:cNvSpPr/>
          <p:nvPr/>
        </p:nvSpPr>
        <p:spPr>
          <a:xfrm>
            <a:off x="691537" y="2683867"/>
            <a:ext cx="3016968" cy="1847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spc="-23" kern="0" dirty="0">
                <a:solidFill>
                  <a:srgbClr val="FFFFF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Transaction Dataset</a:t>
            </a:r>
            <a:endParaRPr lang="en-US" sz="11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1537" y="2947194"/>
          <a:ext cx="9143771" cy="914400"/>
        </p:xfrm>
        <a:graphic>
          <a:graphicData uri="http://schemas.openxmlformats.org/drawingml/2006/table">
            <a:tbl>
              <a:tblPr/>
              <a:tblGrid>
                <a:gridCol w="1508484"/>
                <a:gridCol w="1508484"/>
              </a:tblGrid>
              <a:tr h="2414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spc="-17" kern="0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TID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7504" marR="107504" marT="6350" marB="6350" anchor="ctr">
                    <a:lnL w="12700" cap="flat" cmpd="sng" algn="ctr">
                      <a:solidFill>
                        <a:srgbClr val="4F56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20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56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56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spc="-17" kern="0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Items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7504" marR="107504" marT="6350" marB="6350" anchor="ctr">
                    <a:lnL w="12700" cap="flat" cmpd="sng" algn="ctr">
                      <a:solidFill>
                        <a:srgbClr val="1720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56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56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56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33"/>
                    </a:solidFill>
                  </a:tcPr>
                </a:tc>
              </a:tr>
              <a:tr h="24466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spc="-17" kern="0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T1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7504" marR="107504" marT="6350" marB="6350" anchor="ctr">
                    <a:lnL w="12700" cap="flat" cmpd="sng" algn="ctr">
                      <a:solidFill>
                        <a:srgbClr val="4F56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20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56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56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spc="-17" kern="0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Bread, Milk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7504" marR="107504" marT="6350" marB="6350" anchor="ctr">
                    <a:lnL w="12700" cap="flat" cmpd="sng" algn="ctr">
                      <a:solidFill>
                        <a:srgbClr val="1720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56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56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56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33"/>
                    </a:solidFill>
                  </a:tcPr>
                </a:tc>
              </a:tr>
              <a:tr h="24466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spc="-17" kern="0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T2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7504" marR="107504" marT="6350" marB="6350" anchor="ctr">
                    <a:lnL w="12700" cap="flat" cmpd="sng" algn="ctr">
                      <a:solidFill>
                        <a:srgbClr val="4F56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20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56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56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spc="-17" kern="0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Bread, Butter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7504" marR="107504" marT="6350" marB="6350" anchor="ctr">
                    <a:lnL w="12700" cap="flat" cmpd="sng" algn="ctr">
                      <a:solidFill>
                        <a:srgbClr val="1720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56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56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56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33"/>
                    </a:solidFill>
                  </a:tcPr>
                </a:tc>
              </a:tr>
              <a:tr h="24466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spc="-17" kern="0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T3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7504" marR="107504" marT="6350" marB="6350" anchor="ctr">
                    <a:lnL w="12700" cap="flat" cmpd="sng" algn="ctr">
                      <a:solidFill>
                        <a:srgbClr val="4F56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20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56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56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spc="-17" kern="0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Bread, Milk, Butter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7504" marR="107504" marT="6350" marB="6350" anchor="ctr">
                    <a:lnL w="12700" cap="flat" cmpd="sng" algn="ctr">
                      <a:solidFill>
                        <a:srgbClr val="1720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56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56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56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33"/>
                    </a:solidFill>
                  </a:tcPr>
                </a:tc>
              </a:tr>
              <a:tr h="24466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spc="-17" kern="0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T4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7504" marR="107504" marT="6350" marB="6350" anchor="ctr">
                    <a:lnL w="12700" cap="flat" cmpd="sng" algn="ctr">
                      <a:solidFill>
                        <a:srgbClr val="4F56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20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56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56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spc="-17" kern="0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Milk, Butter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7504" marR="107504" marT="6350" marB="6350" anchor="ctr">
                    <a:lnL w="12700" cap="flat" cmpd="sng" algn="ctr">
                      <a:solidFill>
                        <a:srgbClr val="1720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56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56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56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33"/>
                    </a:solidFill>
                  </a:tcPr>
                </a:tc>
              </a:tr>
              <a:tr h="2414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spc="-17" kern="0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T5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7504" marR="107504" marT="6350" marB="6350" anchor="ctr">
                    <a:lnL w="12700" cap="flat" cmpd="sng" algn="ctr">
                      <a:solidFill>
                        <a:srgbClr val="4F56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20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56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56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spc="-17" kern="0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Bread, Milk, Butter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7504" marR="107504" marT="6350" marB="6350" anchor="ctr">
                    <a:lnL w="12700" cap="flat" cmpd="sng" algn="ctr">
                      <a:solidFill>
                        <a:srgbClr val="1720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56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56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56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33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691537" y="4500166"/>
            <a:ext cx="3016968" cy="3465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spcAft>
                <a:spcPts val="450"/>
              </a:spcAft>
              <a:buNone/>
            </a:pPr>
            <a:r>
              <a:rPr lang="en-US" sz="800" b="1" spc="-17" kern="0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min_support = 40%</a:t>
            </a:r>
            <a:endParaRPr lang="en-US" sz="8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800" spc="-17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Min count = 5 × 0.40 = </a:t>
            </a:r>
            <a:pPr algn="l" indent="0" marL="0">
              <a:lnSpc>
                <a:spcPct val="110000"/>
              </a:lnSpc>
              <a:buNone/>
            </a:pPr>
            <a:r>
              <a:rPr lang="en-US" sz="800" b="1" spc="-17" kern="0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 transactions</a:t>
            </a:r>
            <a:endParaRPr lang="en-US" sz="800" dirty="0"/>
          </a:p>
        </p:txBody>
      </p:sp>
      <p:sp>
        <p:nvSpPr>
          <p:cNvPr id="10" name="Text 6"/>
          <p:cNvSpPr/>
          <p:nvPr/>
        </p:nvSpPr>
        <p:spPr>
          <a:xfrm>
            <a:off x="4007047" y="2692598"/>
            <a:ext cx="7529423" cy="10750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00" spc="-17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{Bread} · {Milk} · {Butter}</a:t>
            </a:r>
            <a:endParaRPr lang="en-US" sz="800" dirty="0"/>
          </a:p>
        </p:txBody>
      </p:sp>
      <p:sp>
        <p:nvSpPr>
          <p:cNvPr id="11" name="Text 7"/>
          <p:cNvSpPr/>
          <p:nvPr/>
        </p:nvSpPr>
        <p:spPr>
          <a:xfrm>
            <a:off x="4007047" y="2692598"/>
            <a:ext cx="7529423" cy="10750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00" spc="-17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{Bread,Milk} · {Bread,Butter} · {Milk,Butter}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4007047" y="2692598"/>
            <a:ext cx="7529423" cy="10750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00" spc="-17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{Bread, Milk, Butter}</a:t>
            </a:r>
            <a:endParaRPr lang="en-US" sz="800" dirty="0"/>
          </a:p>
        </p:txBody>
      </p:sp>
      <p:sp>
        <p:nvSpPr>
          <p:cNvPr id="13" name="Text 9"/>
          <p:cNvSpPr/>
          <p:nvPr/>
        </p:nvSpPr>
        <p:spPr>
          <a:xfrm>
            <a:off x="4007047" y="2692598"/>
            <a:ext cx="7529423" cy="10750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00" spc="-17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Step 1: 1-Itemsets</a:t>
            </a:r>
            <a:endParaRPr lang="en-US" sz="800" dirty="0"/>
          </a:p>
        </p:txBody>
      </p:sp>
      <p:sp>
        <p:nvSpPr>
          <p:cNvPr id="14" name="Text 10"/>
          <p:cNvSpPr/>
          <p:nvPr/>
        </p:nvSpPr>
        <p:spPr>
          <a:xfrm>
            <a:off x="4007047" y="2692598"/>
            <a:ext cx="7529423" cy="10750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00" spc="-17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Step 2: 2-Itemsets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4007047" y="2692598"/>
            <a:ext cx="7529423" cy="10750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00" spc="-17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Step 3: 3-Itemsets</a:t>
            </a:r>
            <a:endParaRPr lang="en-US" sz="800" dirty="0"/>
          </a:p>
        </p:txBody>
      </p:sp>
      <p:sp>
        <p:nvSpPr>
          <p:cNvPr id="16" name="Text 12"/>
          <p:cNvSpPr/>
          <p:nvPr/>
        </p:nvSpPr>
        <p:spPr>
          <a:xfrm>
            <a:off x="4007047" y="2692598"/>
            <a:ext cx="7529423" cy="10750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00" spc="-17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 Frequent Itemsets</a:t>
            </a:r>
            <a:endParaRPr lang="en-US" sz="800" dirty="0"/>
          </a:p>
        </p:txBody>
      </p:sp>
      <p:sp>
        <p:nvSpPr>
          <p:cNvPr id="17" name="Text 13"/>
          <p:cNvSpPr/>
          <p:nvPr/>
        </p:nvSpPr>
        <p:spPr>
          <a:xfrm>
            <a:off x="4007047" y="2692598"/>
            <a:ext cx="7529423" cy="10750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00" spc="-17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L₁ (3 itemsets)</a:t>
            </a:r>
            <a:endParaRPr lang="en-US" sz="800" dirty="0"/>
          </a:p>
        </p:txBody>
      </p:sp>
      <p:sp>
        <p:nvSpPr>
          <p:cNvPr id="18" name="Text 14"/>
          <p:cNvSpPr/>
          <p:nvPr/>
        </p:nvSpPr>
        <p:spPr>
          <a:xfrm>
            <a:off x="4007047" y="2692598"/>
            <a:ext cx="7529423" cy="10750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00" spc="-17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L₂ (3 itemsets)</a:t>
            </a:r>
            <a:endParaRPr lang="en-US" sz="800" dirty="0"/>
          </a:p>
        </p:txBody>
      </p:sp>
      <p:sp>
        <p:nvSpPr>
          <p:cNvPr id="19" name="Text 15"/>
          <p:cNvSpPr/>
          <p:nvPr/>
        </p:nvSpPr>
        <p:spPr>
          <a:xfrm>
            <a:off x="4007047" y="2692598"/>
            <a:ext cx="7529423" cy="10750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00" spc="-17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L₃ (1 itemset)</a:t>
            </a:r>
            <a:endParaRPr lang="en-US" sz="800" dirty="0"/>
          </a:p>
        </p:txBody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7047" y="2692598"/>
            <a:ext cx="7529423" cy="107503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1638102"/>
            <a:ext cx="1017661" cy="163413"/>
          </a:xfrm>
          <a:prstGeom prst="roundRect">
            <a:avLst>
              <a:gd name="adj" fmla="val 22104"/>
            </a:avLst>
          </a:prstGeom>
          <a:solidFill>
            <a:srgbClr val="E0D7F4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5965" y="1676797"/>
            <a:ext cx="85921" cy="8592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54847" y="1670348"/>
            <a:ext cx="1369383" cy="98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650" spc="-17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RULE GENERATION</a:t>
            </a:r>
            <a:endParaRPr lang="en-US" sz="650" dirty="0"/>
          </a:p>
        </p:txBody>
      </p:sp>
      <p:sp>
        <p:nvSpPr>
          <p:cNvPr id="5" name="Text 2"/>
          <p:cNvSpPr/>
          <p:nvPr/>
        </p:nvSpPr>
        <p:spPr>
          <a:xfrm>
            <a:off x="661475" y="1829395"/>
            <a:ext cx="10868745" cy="369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00" b="1" spc="-47" kern="0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From Frequent Itemsets to Association Rules</a:t>
            </a:r>
            <a:endParaRPr lang="en-US" sz="2300" dirty="0"/>
          </a:p>
        </p:txBody>
      </p:sp>
      <p:sp>
        <p:nvSpPr>
          <p:cNvPr id="6" name="Text 3"/>
          <p:cNvSpPr/>
          <p:nvPr/>
        </p:nvSpPr>
        <p:spPr>
          <a:xfrm>
            <a:off x="661475" y="2373610"/>
            <a:ext cx="4746705" cy="1847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spc="-23" kern="0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Rules from {Bread, Milk, Butter}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661475" y="2628205"/>
            <a:ext cx="4746705" cy="2837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00" spc="-17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non-empty subset split generates a candidate rule. From one 3-itemset, we get </a:t>
            </a:r>
            <a:pPr algn="l" indent="0" marL="0">
              <a:lnSpc>
                <a:spcPct val="110000"/>
              </a:lnSpc>
              <a:buNone/>
            </a:pPr>
            <a:r>
              <a:rPr lang="en-US" sz="800" b="1" spc="-17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6 possible rules:</a:t>
            </a:r>
            <a:endParaRPr lang="en-US" sz="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1475" y="2990552"/>
          <a:ext cx="9143771" cy="914400"/>
        </p:xfrm>
        <a:graphic>
          <a:graphicData uri="http://schemas.openxmlformats.org/drawingml/2006/table">
            <a:tbl>
              <a:tblPr/>
              <a:tblGrid>
                <a:gridCol w="1582235"/>
                <a:gridCol w="1582235"/>
                <a:gridCol w="1582235"/>
              </a:tblGrid>
              <a:tr h="2414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spc="-17" kern="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Antecedent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7504" marR="107504" marT="6350" marB="6350" anchor="ctr">
                    <a:lnL w="12700" cap="flat" cmpd="sng" algn="ctr">
                      <a:solidFill>
                        <a:srgbClr val="C6B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D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B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B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spc="-17" kern="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→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7504" marR="107504" marT="6350" marB="6350" anchor="ctr">
                    <a:lnL w="12700" cap="flat" cmpd="sng" algn="ctr">
                      <a:solidFill>
                        <a:srgbClr val="FD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D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B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B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spc="-17" kern="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Consequent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7504" marR="107504" marT="6350" marB="6350" anchor="ctr">
                    <a:lnL w="12700" cap="flat" cmpd="sng" algn="ctr">
                      <a:solidFill>
                        <a:srgbClr val="FD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B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B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B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AF7"/>
                    </a:solidFill>
                  </a:tcPr>
                </a:tc>
              </a:tr>
              <a:tr h="24466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spc="-17" kern="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{Bread, Milk}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7504" marR="107504" marT="6350" marB="6350" anchor="ctr">
                    <a:lnL w="12700" cap="flat" cmpd="sng" algn="ctr">
                      <a:solidFill>
                        <a:srgbClr val="C6B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D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B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B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spc="-17" kern="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→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7504" marR="107504" marT="6350" marB="6350" anchor="ctr">
                    <a:lnL w="12700" cap="flat" cmpd="sng" algn="ctr">
                      <a:solidFill>
                        <a:srgbClr val="FD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D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B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B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spc="-17" kern="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{Butter}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7504" marR="107504" marT="6350" marB="6350" anchor="ctr">
                    <a:lnL w="12700" cap="flat" cmpd="sng" algn="ctr">
                      <a:solidFill>
                        <a:srgbClr val="FD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B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B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B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AF7"/>
                    </a:solidFill>
                  </a:tcPr>
                </a:tc>
              </a:tr>
              <a:tr h="24466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spc="-17" kern="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{Bread, Butter}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7504" marR="107504" marT="6350" marB="6350" anchor="ctr">
                    <a:lnL w="12700" cap="flat" cmpd="sng" algn="ctr">
                      <a:solidFill>
                        <a:srgbClr val="C6B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D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B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B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spc="-17" kern="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→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7504" marR="107504" marT="6350" marB="6350" anchor="ctr">
                    <a:lnL w="12700" cap="flat" cmpd="sng" algn="ctr">
                      <a:solidFill>
                        <a:srgbClr val="FD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D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B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B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spc="-17" kern="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{Milk}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7504" marR="107504" marT="6350" marB="6350" anchor="ctr">
                    <a:lnL w="12700" cap="flat" cmpd="sng" algn="ctr">
                      <a:solidFill>
                        <a:srgbClr val="FD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B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B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B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AF7"/>
                    </a:solidFill>
                  </a:tcPr>
                </a:tc>
              </a:tr>
              <a:tr h="24466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spc="-17" kern="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{Milk, Butter}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7504" marR="107504" marT="6350" marB="6350" anchor="ctr">
                    <a:lnL w="12700" cap="flat" cmpd="sng" algn="ctr">
                      <a:solidFill>
                        <a:srgbClr val="C6B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D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B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B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spc="-17" kern="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→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7504" marR="107504" marT="6350" marB="6350" anchor="ctr">
                    <a:lnL w="12700" cap="flat" cmpd="sng" algn="ctr">
                      <a:solidFill>
                        <a:srgbClr val="FD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D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B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B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spc="-17" kern="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{Bread}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7504" marR="107504" marT="6350" marB="6350" anchor="ctr">
                    <a:lnL w="12700" cap="flat" cmpd="sng" algn="ctr">
                      <a:solidFill>
                        <a:srgbClr val="FD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B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B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B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AF7"/>
                    </a:solidFill>
                  </a:tcPr>
                </a:tc>
              </a:tr>
              <a:tr h="24466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spc="-17" kern="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{Bread}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7504" marR="107504" marT="6350" marB="6350" anchor="ctr">
                    <a:lnL w="12700" cap="flat" cmpd="sng" algn="ctr">
                      <a:solidFill>
                        <a:srgbClr val="C6B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D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B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B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spc="-17" kern="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→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7504" marR="107504" marT="6350" marB="6350" anchor="ctr">
                    <a:lnL w="12700" cap="flat" cmpd="sng" algn="ctr">
                      <a:solidFill>
                        <a:srgbClr val="FD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D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B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B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spc="-17" kern="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{Milk, Butter}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7504" marR="107504" marT="6350" marB="6350" anchor="ctr">
                    <a:lnL w="12700" cap="flat" cmpd="sng" algn="ctr">
                      <a:solidFill>
                        <a:srgbClr val="FD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B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B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B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AF7"/>
                    </a:solidFill>
                  </a:tcPr>
                </a:tc>
              </a:tr>
              <a:tr h="24466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spc="-17" kern="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{Milk}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7504" marR="107504" marT="6350" marB="6350" anchor="ctr">
                    <a:lnL w="12700" cap="flat" cmpd="sng" algn="ctr">
                      <a:solidFill>
                        <a:srgbClr val="C6B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D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B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B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spc="-17" kern="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→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7504" marR="107504" marT="6350" marB="6350" anchor="ctr">
                    <a:lnL w="12700" cap="flat" cmpd="sng" algn="ctr">
                      <a:solidFill>
                        <a:srgbClr val="FD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D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B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B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spc="-17" kern="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{Bread, Butter}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7504" marR="107504" marT="6350" marB="6350" anchor="ctr">
                    <a:lnL w="12700" cap="flat" cmpd="sng" algn="ctr">
                      <a:solidFill>
                        <a:srgbClr val="FD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B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B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B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AF7"/>
                    </a:solidFill>
                  </a:tcPr>
                </a:tc>
              </a:tr>
              <a:tr h="2414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spc="-17" kern="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{Butter}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7504" marR="107504" marT="6350" marB="6350" anchor="ctr">
                    <a:lnL w="12700" cap="flat" cmpd="sng" algn="ctr">
                      <a:solidFill>
                        <a:srgbClr val="C6B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D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B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B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spc="-17" kern="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→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7504" marR="107504" marT="6350" marB="6350" anchor="ctr">
                    <a:lnL w="12700" cap="flat" cmpd="sng" algn="ctr">
                      <a:solidFill>
                        <a:srgbClr val="FD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D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B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B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spc="-17" kern="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{Bread, Milk}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7504" marR="107504" marT="6350" marB="6350" anchor="ctr">
                    <a:lnL w="12700" cap="flat" cmpd="sng" algn="ctr">
                      <a:solidFill>
                        <a:srgbClr val="FD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B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B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B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AF7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661475" y="4788198"/>
            <a:ext cx="4746705" cy="2837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00" spc="-17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Each rule is then evaluated on </a:t>
            </a:r>
            <a:pPr algn="l" indent="0" marL="0">
              <a:lnSpc>
                <a:spcPct val="110000"/>
              </a:lnSpc>
              <a:buNone/>
            </a:pPr>
            <a:r>
              <a:rPr lang="en-US" sz="800" b="1" spc="-17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Confidence</a:t>
            </a:r>
            <a:pPr algn="l" indent="0" marL="0">
              <a:lnSpc>
                <a:spcPct val="110000"/>
              </a:lnSpc>
              <a:buNone/>
            </a:pPr>
            <a:r>
              <a:rPr lang="en-US" sz="800" spc="-17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and </a:t>
            </a:r>
            <a:pPr algn="l" indent="0" marL="0">
              <a:lnSpc>
                <a:spcPct val="110000"/>
              </a:lnSpc>
              <a:buNone/>
            </a:pPr>
            <a:r>
              <a:rPr lang="en-US" sz="800" b="1" spc="-17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Lift</a:t>
            </a:r>
            <a:pPr algn="l" indent="0" marL="0">
              <a:lnSpc>
                <a:spcPct val="110000"/>
              </a:lnSpc>
              <a:buNone/>
            </a:pPr>
            <a:r>
              <a:rPr lang="en-US" sz="800" spc="-17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Only rules meeting min_confidence are retained.</a:t>
            </a:r>
            <a:endParaRPr lang="en-US" sz="800" dirty="0"/>
          </a:p>
        </p:txBody>
      </p:sp>
      <p:sp>
        <p:nvSpPr>
          <p:cNvPr id="10" name="Text 6"/>
          <p:cNvSpPr/>
          <p:nvPr/>
        </p:nvSpPr>
        <p:spPr>
          <a:xfrm>
            <a:off x="5676659" y="2373610"/>
            <a:ext cx="5859812" cy="1847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spc="-23" kern="0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Detailed Calculation: {Bread, Milk} → {Butter}</a:t>
            </a:r>
            <a:endParaRPr lang="en-US" sz="1150" dirty="0"/>
          </a:p>
        </p:txBody>
      </p:sp>
      <p:graphicFrame>
        <p:nvGraphicFramePr>
          <p:cNvPr id="1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76659" y="2636937"/>
          <a:ext cx="9143771" cy="914400"/>
        </p:xfrm>
        <a:graphic>
          <a:graphicData uri="http://schemas.openxmlformats.org/drawingml/2006/table">
            <a:tbl>
              <a:tblPr/>
              <a:tblGrid>
                <a:gridCol w="1953271"/>
                <a:gridCol w="1953271"/>
                <a:gridCol w="1953271"/>
              </a:tblGrid>
              <a:tr h="2414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spc="-17" kern="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Metric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7504" marR="107504" marT="6350" marB="6350" anchor="ctr">
                    <a:lnL w="12700" cap="flat" cmpd="sng" algn="ctr">
                      <a:solidFill>
                        <a:srgbClr val="C6B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B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B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B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spc="-17" kern="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Formula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7504" marR="107504" marT="6350" marB="6350" anchor="ctr">
                    <a:lnL w="12700" cap="flat" cmpd="sng" algn="ctr">
                      <a:solidFill>
                        <a:srgbClr val="C6B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B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B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B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spc="-17" kern="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Value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7504" marR="107504" marT="6350" marB="6350" anchor="ctr">
                    <a:lnL w="12700" cap="flat" cmpd="sng" algn="ctr">
                      <a:solidFill>
                        <a:srgbClr val="C6B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B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B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B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AF7"/>
                    </a:solidFill>
                  </a:tcPr>
                </a:tc>
              </a:tr>
              <a:tr h="24466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spc="-17" kern="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Support({B,M,Bu})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7504" marR="107504" marT="6350" marB="6350" anchor="ctr">
                    <a:lnL w="12700" cap="flat" cmpd="sng" algn="ctr">
                      <a:solidFill>
                        <a:srgbClr val="C6B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B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B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B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spc="-17" kern="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 / 5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7504" marR="107504" marT="6350" marB="6350" anchor="ctr">
                    <a:lnL w="12700" cap="flat" cmpd="sng" algn="ctr">
                      <a:solidFill>
                        <a:srgbClr val="C6B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B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B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B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spc="-17" kern="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40%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7504" marR="107504" marT="6350" marB="6350" anchor="ctr">
                    <a:lnL w="12700" cap="flat" cmpd="sng" algn="ctr">
                      <a:solidFill>
                        <a:srgbClr val="C6B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B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B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B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AF7"/>
                    </a:solidFill>
                  </a:tcPr>
                </a:tc>
              </a:tr>
              <a:tr h="24466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spc="-17" kern="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Support({Bread,Milk})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7504" marR="107504" marT="6350" marB="6350" anchor="ctr">
                    <a:lnL w="12700" cap="flat" cmpd="sng" algn="ctr">
                      <a:solidFill>
                        <a:srgbClr val="C6B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B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B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B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spc="-17" kern="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 / 5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7504" marR="107504" marT="6350" marB="6350" anchor="ctr">
                    <a:lnL w="12700" cap="flat" cmpd="sng" algn="ctr">
                      <a:solidFill>
                        <a:srgbClr val="C6B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B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B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B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spc="-17" kern="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60%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7504" marR="107504" marT="6350" marB="6350" anchor="ctr">
                    <a:lnL w="12700" cap="flat" cmpd="sng" algn="ctr">
                      <a:solidFill>
                        <a:srgbClr val="C6B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B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B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B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AF7"/>
                    </a:solidFill>
                  </a:tcPr>
                </a:tc>
              </a:tr>
              <a:tr h="24466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spc="-17" kern="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Support({Butter})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7504" marR="107504" marT="6350" marB="6350" anchor="ctr">
                    <a:lnL w="12700" cap="flat" cmpd="sng" algn="ctr">
                      <a:solidFill>
                        <a:srgbClr val="C6B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B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B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B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spc="-17" kern="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4 / 5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7504" marR="107504" marT="6350" marB="6350" anchor="ctr">
                    <a:lnL w="12700" cap="flat" cmpd="sng" algn="ctr">
                      <a:solidFill>
                        <a:srgbClr val="C6B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B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B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B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spc="-17" kern="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80%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7504" marR="107504" marT="6350" marB="6350" anchor="ctr">
                    <a:lnL w="12700" cap="flat" cmpd="sng" algn="ctr">
                      <a:solidFill>
                        <a:srgbClr val="C6B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B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B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B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AF7"/>
                    </a:solidFill>
                  </a:tcPr>
                </a:tc>
              </a:tr>
              <a:tr h="24466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spc="-17" kern="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Confidence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7504" marR="107504" marT="6350" marB="6350" anchor="ctr">
                    <a:lnL w="12700" cap="flat" cmpd="sng" algn="ctr">
                      <a:solidFill>
                        <a:srgbClr val="C6B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B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B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B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spc="-17" kern="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0.40 / 0.60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7504" marR="107504" marT="6350" marB="6350" anchor="ctr">
                    <a:lnL w="12700" cap="flat" cmpd="sng" algn="ctr">
                      <a:solidFill>
                        <a:srgbClr val="C6B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B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B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B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spc="-17" kern="0" dirty="0">
                          <a:solidFill>
                            <a:srgbClr val="F59E0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66.67%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7504" marR="107504" marT="6350" marB="6350" anchor="ctr">
                    <a:lnL w="12700" cap="flat" cmpd="sng" algn="ctr">
                      <a:solidFill>
                        <a:srgbClr val="C6B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B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B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B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AF7"/>
                    </a:solidFill>
                  </a:tcPr>
                </a:tc>
              </a:tr>
              <a:tr h="2414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spc="-17" kern="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Lift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7504" marR="107504" marT="6350" marB="6350" anchor="ctr">
                    <a:lnL w="12700" cap="flat" cmpd="sng" algn="ctr">
                      <a:solidFill>
                        <a:srgbClr val="C6B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B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B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B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spc="-17" kern="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0.6667 / 0.80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7504" marR="107504" marT="6350" marB="6350" anchor="ctr">
                    <a:lnL w="12700" cap="flat" cmpd="sng" algn="ctr">
                      <a:solidFill>
                        <a:srgbClr val="C6B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B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B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B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spc="-17" kern="0" dirty="0">
                          <a:solidFill>
                            <a:srgbClr val="EF444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0.833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7504" marR="107504" marT="6350" marB="6350" anchor="ctr">
                    <a:lnL w="12700" cap="flat" cmpd="sng" algn="ctr">
                      <a:solidFill>
                        <a:srgbClr val="C6B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B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B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B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AF7"/>
                    </a:solidFill>
                  </a:tcPr>
                </a:tc>
              </a:tr>
            </a:tbl>
          </a:graphicData>
        </a:graphic>
      </p:graphicFrame>
      <p:sp>
        <p:nvSpPr>
          <p:cNvPr id="12" name="Shape 7"/>
          <p:cNvSpPr/>
          <p:nvPr/>
        </p:nvSpPr>
        <p:spPr>
          <a:xfrm>
            <a:off x="5676659" y="4189909"/>
            <a:ext cx="5859812" cy="604838"/>
          </a:xfrm>
          <a:prstGeom prst="roundRect">
            <a:avLst>
              <a:gd name="adj" fmla="val 7465"/>
            </a:avLst>
          </a:prstGeom>
          <a:solidFill>
            <a:srgbClr val="FFB3B4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4110" y="4300438"/>
            <a:ext cx="134339" cy="107454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025900" y="4279503"/>
            <a:ext cx="5403120" cy="425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00" b="1" spc="-17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Interpretation:</a:t>
            </a:r>
            <a:pPr algn="l" indent="0" marL="0">
              <a:lnSpc>
                <a:spcPct val="110000"/>
              </a:lnSpc>
              <a:buNone/>
            </a:pPr>
            <a:r>
              <a:rPr lang="en-US" sz="800" spc="-17" kern="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Confidence is 66.67%, but </a:t>
            </a:r>
            <a:pPr algn="l" indent="0" marL="0">
              <a:lnSpc>
                <a:spcPct val="110000"/>
              </a:lnSpc>
              <a:buNone/>
            </a:pPr>
            <a:r>
              <a:rPr lang="en-US" sz="800" b="1" spc="-17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Lift = 0.833 &lt; 1</a:t>
            </a:r>
            <a:pPr algn="l" indent="0" marL="0">
              <a:lnSpc>
                <a:spcPct val="110000"/>
              </a:lnSpc>
              <a:buNone/>
            </a:pPr>
            <a:r>
              <a:rPr lang="en-US" sz="800" spc="-17" kern="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indicates a </a:t>
            </a:r>
            <a:pPr algn="l" indent="0" marL="0">
              <a:lnSpc>
                <a:spcPct val="110000"/>
              </a:lnSpc>
              <a:buNone/>
            </a:pPr>
            <a:r>
              <a:rPr lang="en-US" sz="800" b="1" spc="-17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negative association</a:t>
            </a:r>
            <a:pPr algn="l" indent="0" marL="0">
              <a:lnSpc>
                <a:spcPct val="110000"/>
              </a:lnSpc>
              <a:buNone/>
            </a:pPr>
            <a:r>
              <a:rPr lang="en-US" sz="800" spc="-17" kern="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Customers who buy Bread and Milk are actually </a:t>
            </a:r>
            <a:pPr algn="l" indent="0" marL="0">
              <a:lnSpc>
                <a:spcPct val="110000"/>
              </a:lnSpc>
              <a:buNone/>
            </a:pPr>
            <a:r>
              <a:rPr lang="en-US" sz="800" i="1" spc="-17" kern="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less likely</a:t>
            </a:r>
            <a:pPr algn="l" indent="0" marL="0">
              <a:lnSpc>
                <a:spcPct val="110000"/>
              </a:lnSpc>
              <a:buNone/>
            </a:pPr>
            <a:r>
              <a:rPr lang="en-US" sz="800" spc="-17" kern="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to buy Butter than the general population. This rule is misleading without Lift.</a:t>
            </a:r>
            <a:endParaRPr lang="en-US" sz="800" dirty="0"/>
          </a:p>
        </p:txBody>
      </p:sp>
      <p:sp>
        <p:nvSpPr>
          <p:cNvPr id="15" name="Text 9"/>
          <p:cNvSpPr/>
          <p:nvPr/>
        </p:nvSpPr>
        <p:spPr>
          <a:xfrm>
            <a:off x="5676659" y="4873327"/>
            <a:ext cx="5859812" cy="2837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00" b="1" spc="-17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Critical Point:</a:t>
            </a:r>
            <a:pPr algn="l" indent="0" marL="0">
              <a:lnSpc>
                <a:spcPct val="110000"/>
              </a:lnSpc>
              <a:buNone/>
            </a:pPr>
            <a:r>
              <a:rPr lang="en-US" sz="800" spc="-17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pPr algn="l" indent="0" marL="0">
              <a:lnSpc>
                <a:spcPct val="110000"/>
              </a:lnSpc>
              <a:buNone/>
            </a:pPr>
            <a:r>
              <a:rPr lang="en-US" sz="800" spc="-17" kern="0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 not judge a rule on confidence alone.</a:t>
            </a:r>
            <a:pPr algn="l" indent="0" marL="0">
              <a:lnSpc>
                <a:spcPct val="110000"/>
              </a:lnSpc>
              <a:buNone/>
            </a:pPr>
            <a:r>
              <a:rPr lang="en-US" sz="800" spc="-17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Always consider Support, Confidence, and Lift in combination — and interpret in business context.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496689"/>
            <a:ext cx="878659" cy="145355"/>
          </a:xfrm>
          <a:prstGeom prst="roundRect">
            <a:avLst>
              <a:gd name="adj" fmla="val 22132"/>
            </a:avLst>
          </a:prstGeom>
          <a:solidFill>
            <a:srgbClr val="E0D7F4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8921" y="531019"/>
            <a:ext cx="76595" cy="7659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33814" y="525363"/>
            <a:ext cx="1258459" cy="8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600" spc="-1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IMPLEMENTATION</a:t>
            </a:r>
            <a:endParaRPr lang="en-US" sz="600" dirty="0"/>
          </a:p>
        </p:txBody>
      </p:sp>
      <p:sp>
        <p:nvSpPr>
          <p:cNvPr id="5" name="Text 2"/>
          <p:cNvSpPr/>
          <p:nvPr/>
        </p:nvSpPr>
        <p:spPr>
          <a:xfrm>
            <a:off x="661475" y="664170"/>
            <a:ext cx="10868745" cy="3291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50" b="1" spc="-41" kern="0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Implementing Apriori in Python</a:t>
            </a:r>
            <a:endParaRPr lang="en-US" sz="2050" dirty="0"/>
          </a:p>
        </p:txBody>
      </p:sp>
      <p:sp>
        <p:nvSpPr>
          <p:cNvPr id="6" name="Text 3"/>
          <p:cNvSpPr/>
          <p:nvPr/>
        </p:nvSpPr>
        <p:spPr>
          <a:xfrm>
            <a:off x="661475" y="1131689"/>
            <a:ext cx="5872710" cy="1645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b="1" spc="-21" kern="0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Code — mlxtend Library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661475" y="1358503"/>
            <a:ext cx="5872710" cy="4940498"/>
          </a:xfrm>
          <a:prstGeom prst="roundRect">
            <a:avLst>
              <a:gd name="adj" fmla="val 814"/>
            </a:avLst>
          </a:prstGeom>
          <a:solidFill>
            <a:srgbClr val="F0EDEA"/>
          </a:solidFill>
          <a:ln/>
        </p:spPr>
      </p:sp>
      <p:sp>
        <p:nvSpPr>
          <p:cNvPr id="8" name="Text 5"/>
          <p:cNvSpPr/>
          <p:nvPr/>
        </p:nvSpPr>
        <p:spPr>
          <a:xfrm>
            <a:off x="776367" y="1454249"/>
            <a:ext cx="5642925" cy="47490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750" spc="-15" kern="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pandas as pd</a:t>
            </a:r>
            <a:endParaRPr lang="en-US" sz="7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750" spc="-15" kern="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mlxtend.preprocessing import TransactionEncoder</a:t>
            </a:r>
            <a:endParaRPr lang="en-US" sz="7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750" spc="-15" kern="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mlxtend.frequent_patterns import apriori, association_rules</a:t>
            </a:r>
            <a:endParaRPr lang="en-US" sz="750" dirty="0"/>
          </a:p>
          <a:p>
            <a:pPr algn="l" indent="0" marL="0">
              <a:lnSpc>
                <a:spcPct val="133000"/>
              </a:lnSpc>
              <a:buNone/>
            </a:pPr>
            <a:endParaRPr lang="en-US" sz="7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750" spc="-15" kern="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transactions = [</a:t>
            </a:r>
            <a:endParaRPr lang="en-US" sz="7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750" spc="-15" kern="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['Bread', 'Milk'],</a:t>
            </a:r>
            <a:endParaRPr lang="en-US" sz="7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750" spc="-15" kern="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['Bread', 'Butter'],</a:t>
            </a:r>
            <a:endParaRPr lang="en-US" sz="7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750" spc="-15" kern="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['Bread', 'Milk', 'Butter'],</a:t>
            </a:r>
            <a:endParaRPr lang="en-US" sz="7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750" spc="-15" kern="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['Milk', 'Butter'],</a:t>
            </a:r>
            <a:endParaRPr lang="en-US" sz="7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750" spc="-15" kern="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['Bread', 'Milk', 'Butter']</a:t>
            </a:r>
            <a:endParaRPr lang="en-US" sz="7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750" spc="-15" kern="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750" dirty="0"/>
          </a:p>
          <a:p>
            <a:pPr algn="l" indent="0" marL="0">
              <a:lnSpc>
                <a:spcPct val="133000"/>
              </a:lnSpc>
              <a:buNone/>
            </a:pPr>
            <a:endParaRPr lang="en-US" sz="7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750" spc="-15" kern="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Step 1: One-hot encode</a:t>
            </a:r>
            <a:endParaRPr lang="en-US" sz="7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750" spc="-15" kern="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encoder = TransactionEncoder()</a:t>
            </a:r>
            <a:endParaRPr lang="en-US" sz="7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750" spc="-15" kern="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encoded = encoder.fit(transactions).transform(transactions)</a:t>
            </a:r>
            <a:endParaRPr lang="en-US" sz="7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750" spc="-15" kern="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 = pd.DataFrame(encoded, columns=encoder.columns_)</a:t>
            </a:r>
            <a:endParaRPr lang="en-US" sz="750" dirty="0"/>
          </a:p>
          <a:p>
            <a:pPr algn="l" indent="0" marL="0">
              <a:lnSpc>
                <a:spcPct val="133000"/>
              </a:lnSpc>
              <a:buNone/>
            </a:pPr>
            <a:endParaRPr lang="en-US" sz="7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750" spc="-15" kern="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Step 2: Find frequent itemsets</a:t>
            </a:r>
            <a:endParaRPr lang="en-US" sz="7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750" spc="-15" kern="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frequent_itemsets = apriori(</a:t>
            </a:r>
            <a:endParaRPr lang="en-US" sz="7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750" spc="-15" kern="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df, min_support=0.4, use_colnames=True</a:t>
            </a:r>
            <a:endParaRPr lang="en-US" sz="7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750" spc="-15" kern="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750" dirty="0"/>
          </a:p>
          <a:p>
            <a:pPr algn="l" indent="0" marL="0">
              <a:lnSpc>
                <a:spcPct val="133000"/>
              </a:lnSpc>
              <a:buNone/>
            </a:pPr>
            <a:endParaRPr lang="en-US" sz="7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750" spc="-15" kern="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Step 3: Generate rules</a:t>
            </a:r>
            <a:endParaRPr lang="en-US" sz="7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750" spc="-15" kern="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rules = association_rules(</a:t>
            </a:r>
            <a:endParaRPr lang="en-US" sz="7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750" spc="-15" kern="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frequent_itemsets,</a:t>
            </a:r>
            <a:endParaRPr lang="en-US" sz="7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750" spc="-15" kern="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metric="confidence",</a:t>
            </a:r>
            <a:endParaRPr lang="en-US" sz="7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750" spc="-15" kern="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min_threshold=0.6</a:t>
            </a:r>
            <a:endParaRPr lang="en-US" sz="7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750" spc="-15" kern="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750" dirty="0"/>
          </a:p>
          <a:p>
            <a:pPr algn="l" indent="0" marL="0">
              <a:lnSpc>
                <a:spcPct val="133000"/>
              </a:lnSpc>
              <a:buNone/>
            </a:pPr>
            <a:endParaRPr lang="en-US" sz="7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750" spc="-15" kern="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print(rules[['antecedents','consequents',</a:t>
            </a:r>
            <a:endParaRPr lang="en-US" sz="7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750" spc="-15" kern="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'support','confidence','lift']])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6774090" y="1131689"/>
            <a:ext cx="4762480" cy="1645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b="1" spc="-21" kern="0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Key Parameters</a:t>
            </a:r>
            <a:endParaRPr lang="en-US" sz="10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74090" y="1358503"/>
            <a:ext cx="4762480" cy="557609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933332" y="1466949"/>
            <a:ext cx="4494795" cy="1645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b="1" spc="-21" kern="0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min_support = 0.4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6933332" y="1686818"/>
            <a:ext cx="4494795" cy="1208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750" spc="-1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Minimum frequency required. Items below 40% are pruned before rule generation.</a:t>
            </a:r>
            <a:endParaRPr lang="en-US" sz="75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774090" y="1971477"/>
            <a:ext cx="4762480" cy="557609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933332" y="2079923"/>
            <a:ext cx="4494795" cy="1645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b="1" spc="-21" kern="0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metric = "confidence"</a:t>
            </a:r>
            <a:endParaRPr lang="en-US" sz="1000" dirty="0"/>
          </a:p>
        </p:txBody>
      </p:sp>
      <p:sp>
        <p:nvSpPr>
          <p:cNvPr id="15" name="Text 10"/>
          <p:cNvSpPr/>
          <p:nvPr/>
        </p:nvSpPr>
        <p:spPr>
          <a:xfrm>
            <a:off x="6933332" y="2299791"/>
            <a:ext cx="4494795" cy="1208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750" spc="-1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Rule evaluation metric. Options: </a:t>
            </a:r>
            <a:pPr algn="l" indent="0" marL="0">
              <a:lnSpc>
                <a:spcPct val="105000"/>
              </a:lnSpc>
              <a:buNone/>
            </a:pPr>
            <a:r>
              <a:rPr lang="en-US" sz="750" spc="-15" kern="0" dirty="0">
                <a:solidFill>
                  <a:srgbClr val="272525"/>
                </a:solidFill>
                <a:highlight>
                  <a:srgbClr val="F0EDE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"confidence"</a:t>
            </a:r>
            <a:pPr algn="l" indent="0" marL="0">
              <a:lnSpc>
                <a:spcPct val="105000"/>
              </a:lnSpc>
              <a:buNone/>
            </a:pPr>
            <a:r>
              <a:rPr lang="en-US" sz="750" spc="-1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pPr algn="l" indent="0" marL="0">
              <a:lnSpc>
                <a:spcPct val="105000"/>
              </a:lnSpc>
              <a:buNone/>
            </a:pPr>
            <a:r>
              <a:rPr lang="en-US" sz="750" spc="-15" kern="0" dirty="0">
                <a:solidFill>
                  <a:srgbClr val="272525"/>
                </a:solidFill>
                <a:highlight>
                  <a:srgbClr val="F0EDE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"lift"</a:t>
            </a:r>
            <a:pPr algn="l" indent="0" marL="0">
              <a:lnSpc>
                <a:spcPct val="105000"/>
              </a:lnSpc>
              <a:buNone/>
            </a:pPr>
            <a:r>
              <a:rPr lang="en-US" sz="750" spc="-1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pPr algn="l" indent="0" marL="0">
              <a:lnSpc>
                <a:spcPct val="105000"/>
              </a:lnSpc>
              <a:buNone/>
            </a:pPr>
            <a:r>
              <a:rPr lang="en-US" sz="750" spc="-15" kern="0" dirty="0">
                <a:solidFill>
                  <a:srgbClr val="272525"/>
                </a:solidFill>
                <a:highlight>
                  <a:srgbClr val="F0EDE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"support"</a:t>
            </a:r>
            <a:pPr algn="l" indent="0" marL="0">
              <a:lnSpc>
                <a:spcPct val="105000"/>
              </a:lnSpc>
              <a:buNone/>
            </a:pPr>
            <a:r>
              <a:rPr lang="en-US" sz="750" spc="-1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75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774090" y="2584450"/>
            <a:ext cx="4762480" cy="557609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933332" y="2692896"/>
            <a:ext cx="4494795" cy="1645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b="1" spc="-21" kern="0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min_threshold = 0.6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6933332" y="2912765"/>
            <a:ext cx="4494795" cy="1208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750" spc="-1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Minimum metric value to retain a rule. Rules below 60% confidence are dropped.</a:t>
            </a:r>
            <a:endParaRPr lang="en-US" sz="750" dirty="0"/>
          </a:p>
        </p:txBody>
      </p:sp>
      <p:sp>
        <p:nvSpPr>
          <p:cNvPr id="19" name="Text 13"/>
          <p:cNvSpPr/>
          <p:nvPr/>
        </p:nvSpPr>
        <p:spPr>
          <a:xfrm>
            <a:off x="6774090" y="3204369"/>
            <a:ext cx="4762480" cy="1645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b="1" spc="-21" kern="0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Example Output</a:t>
            </a:r>
            <a:endParaRPr lang="en-US" sz="1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774090" y="3431183"/>
          <a:ext cx="9143771" cy="914400"/>
        </p:xfrm>
        <a:graphic>
          <a:graphicData uri="http://schemas.openxmlformats.org/drawingml/2006/table">
            <a:tbl>
              <a:tblPr/>
              <a:tblGrid>
                <a:gridCol w="952496"/>
                <a:gridCol w="952496"/>
                <a:gridCol w="952496"/>
                <a:gridCol w="952496"/>
                <a:gridCol w="952496"/>
              </a:tblGrid>
              <a:tr h="2000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spc="-15" kern="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Antecedents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5746" marR="95746" marT="6350" marB="6350" anchor="ctr">
                    <a:lnL w="12700" cap="flat" cmpd="sng" algn="ctr">
                      <a:solidFill>
                        <a:srgbClr val="C6B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D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B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D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spc="-15" kern="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Consequents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5746" marR="95746" marT="6350" marB="6350" anchor="ctr">
                    <a:lnL w="12700" cap="flat" cmpd="sng" algn="ctr">
                      <a:solidFill>
                        <a:srgbClr val="FD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D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B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D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spc="-15" kern="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Supp.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5746" marR="95746" marT="6350" marB="6350" anchor="ctr">
                    <a:lnL w="12700" cap="flat" cmpd="sng" algn="ctr">
                      <a:solidFill>
                        <a:srgbClr val="FD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D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B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D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spc="-15" kern="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Conf.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5746" marR="95746" marT="6350" marB="6350" anchor="ctr">
                    <a:lnL w="12700" cap="flat" cmpd="sng" algn="ctr">
                      <a:solidFill>
                        <a:srgbClr val="FD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D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B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D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spc="-15" kern="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Lift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5746" marR="95746" marT="6350" marB="6350" anchor="ctr">
                    <a:lnL w="12700" cap="flat" cmpd="sng" algn="ctr">
                      <a:solidFill>
                        <a:srgbClr val="FD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B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B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D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</a:tr>
              <a:tr h="2000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spc="-15" kern="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Bread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5746" marR="95746" marT="6350" marB="6350" anchor="ctr">
                    <a:lnL w="12700" cap="flat" cmpd="sng" algn="ctr">
                      <a:solidFill>
                        <a:srgbClr val="C6B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F0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3F0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3F0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spc="-15" kern="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Milk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5746" marR="95746" marT="6350" marB="6350" anchor="ctr">
                    <a:lnL w="12700" cap="flat" cmpd="sng" algn="ctr">
                      <a:solidFill>
                        <a:srgbClr val="F3F0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F0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3F0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3F0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spc="-15" kern="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0.60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5746" marR="95746" marT="6350" marB="6350" anchor="ctr">
                    <a:lnL w="12700" cap="flat" cmpd="sng" algn="ctr">
                      <a:solidFill>
                        <a:srgbClr val="F3F0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F0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3F0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3F0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spc="-15" kern="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0.75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5746" marR="95746" marT="6350" marB="6350" anchor="ctr">
                    <a:lnL w="12700" cap="flat" cmpd="sng" algn="ctr">
                      <a:solidFill>
                        <a:srgbClr val="F3F0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F0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3F0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3F0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spc="-15" kern="0" dirty="0">
                          <a:solidFill>
                            <a:srgbClr val="F59E0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0.94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5746" marR="95746" marT="6350" marB="6350" anchor="ctr">
                    <a:lnL w="12700" cap="flat" cmpd="sng" algn="ctr">
                      <a:solidFill>
                        <a:srgbClr val="F3F0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B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3F0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3F0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</a:tr>
              <a:tr h="2000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spc="-15" kern="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Milk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5746" marR="95746" marT="6350" marB="6350" anchor="ctr">
                    <a:lnL w="12700" cap="flat" cmpd="sng" algn="ctr">
                      <a:solidFill>
                        <a:srgbClr val="C6B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D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D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D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spc="-15" kern="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Bread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5746" marR="95746" marT="6350" marB="6350" anchor="ctr">
                    <a:lnL w="12700" cap="flat" cmpd="sng" algn="ctr">
                      <a:solidFill>
                        <a:srgbClr val="FD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D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D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D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spc="-15" kern="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0.60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5746" marR="95746" marT="6350" marB="6350" anchor="ctr">
                    <a:lnL w="12700" cap="flat" cmpd="sng" algn="ctr">
                      <a:solidFill>
                        <a:srgbClr val="FD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D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D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D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spc="-15" kern="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0.75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5746" marR="95746" marT="6350" marB="6350" anchor="ctr">
                    <a:lnL w="12700" cap="flat" cmpd="sng" algn="ctr">
                      <a:solidFill>
                        <a:srgbClr val="FD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D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D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D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spc="-15" kern="0" dirty="0">
                          <a:solidFill>
                            <a:srgbClr val="F59E0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0.94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5746" marR="95746" marT="6350" marB="6350" anchor="ctr">
                    <a:lnL w="12700" cap="flat" cmpd="sng" algn="ctr">
                      <a:solidFill>
                        <a:srgbClr val="FD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B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D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D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</a:tr>
              <a:tr h="2000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spc="-15" kern="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Bread, Milk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5746" marR="95746" marT="6350" marB="6350" anchor="ctr">
                    <a:lnL w="12700" cap="flat" cmpd="sng" algn="ctr">
                      <a:solidFill>
                        <a:srgbClr val="C6B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F0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3F0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B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spc="-15" kern="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Butter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5746" marR="95746" marT="6350" marB="6350" anchor="ctr">
                    <a:lnL w="12700" cap="flat" cmpd="sng" algn="ctr">
                      <a:solidFill>
                        <a:srgbClr val="F3F0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F0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3F0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B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spc="-15" kern="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0.40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5746" marR="95746" marT="6350" marB="6350" anchor="ctr">
                    <a:lnL w="12700" cap="flat" cmpd="sng" algn="ctr">
                      <a:solidFill>
                        <a:srgbClr val="F3F0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F0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3F0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B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spc="-15" kern="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0.67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5746" marR="95746" marT="6350" marB="6350" anchor="ctr">
                    <a:lnL w="12700" cap="flat" cmpd="sng" algn="ctr">
                      <a:solidFill>
                        <a:srgbClr val="F3F0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F0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3F0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B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spc="-15" kern="0" dirty="0">
                          <a:solidFill>
                            <a:srgbClr val="EF444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0.83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5746" marR="95746" marT="6350" marB="6350" anchor="ctr">
                    <a:lnL w="12700" cap="flat" cmpd="sng" algn="ctr">
                      <a:solidFill>
                        <a:srgbClr val="F3F0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B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3F0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B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Shape 14"/>
          <p:cNvSpPr/>
          <p:nvPr/>
        </p:nvSpPr>
        <p:spPr>
          <a:xfrm>
            <a:off x="6774090" y="4306292"/>
            <a:ext cx="4762480" cy="389136"/>
          </a:xfrm>
          <a:prstGeom prst="roundRect">
            <a:avLst>
              <a:gd name="adj" fmla="val 10334"/>
            </a:avLst>
          </a:prstGeom>
          <a:solidFill>
            <a:srgbClr val="E0D7F4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69834" y="4396978"/>
            <a:ext cx="119655" cy="95746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7085232" y="4380012"/>
            <a:ext cx="4355594" cy="2416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750" b="1" spc="-15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Important:</a:t>
            </a:r>
            <a:pPr algn="l" indent="0" marL="0">
              <a:lnSpc>
                <a:spcPct val="105000"/>
              </a:lnSpc>
              <a:buNone/>
            </a:pPr>
            <a:r>
              <a:rPr lang="en-US" sz="750" spc="-15" kern="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Not every rule above the threshold is actionable. Always evaluate business context alongside Support, Confidence, and Lift together.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2026-09-16T05:10:56Z</dcterms:created>
  <dcterms:modified xsi:type="dcterms:W3CDTF">2026-09-16T05:10:56Z</dcterms:modified>
</cp:coreProperties>
</file>