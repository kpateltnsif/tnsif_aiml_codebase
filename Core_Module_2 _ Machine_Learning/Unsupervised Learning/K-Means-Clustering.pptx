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image" Target="../media/image-4-2.png"/><Relationship Id="rId11" Type="http://schemas.openxmlformats.org/officeDocument/2006/relationships/image" Target="../media/image-4-3.svg"/><Relationship Id="rId12" Type="http://schemas.openxmlformats.org/officeDocument/2006/relationships/image" Target="../media/image-4-2.png"/><Relationship Id="rId13" Type="http://schemas.openxmlformats.org/officeDocument/2006/relationships/image" Target="../media/image-4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7992" y="485279"/>
            <a:ext cx="4415422" cy="5887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5682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K-Means Clustering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661475" y="1219200"/>
            <a:ext cx="6296860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unsupervised learning algorithm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groups similar data points together — no predefined labels required. K-Means discovers hidden structure in unlabeled data by partitioning it into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 distinct clusters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1475" y="2051645"/>
            <a:ext cx="6296860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4289" y="2214463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4289" y="2536726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customers by behavior and preferences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1475" y="3058021"/>
            <a:ext cx="6296860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4289" y="3220839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Image Compression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4289" y="3543102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colors by clustering similar pixel values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1475" y="4064397"/>
            <a:ext cx="6296860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4289" y="4227215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Clustering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4289" y="4549477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Organize text by topic similarity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1475" y="5070773"/>
            <a:ext cx="6296860" cy="876796"/>
          </a:xfrm>
          <a:prstGeom prst="roundRect">
            <a:avLst>
              <a:gd name="adj" fmla="val 749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4289" y="5233591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Market Segmentation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4289" y="5555853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distinct market groups automatically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56682" y="6093321"/>
            <a:ext cx="690644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Unlabeled Data → K-Means → Clusters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Understanding Clustering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39006"/>
            <a:ext cx="3654135" cy="36542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52538" y="2104231"/>
            <a:ext cx="698393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 Cluster?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52538" y="2299097"/>
            <a:ext cx="6983932" cy="2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cluster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group of data points that are more similar to each other than to points in other clusters.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 a dataset of customers described by: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52538" y="2610842"/>
            <a:ext cx="6983932" cy="24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Annual Spending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552538" y="2896592"/>
            <a:ext cx="6983932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Initially, all customers appear as unlabeled points on a scatter plot. K-Means discovers that visually similar customers naturally form groups —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without ever being told their labels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552538" y="3176488"/>
            <a:ext cx="6983932" cy="245566"/>
          </a:xfrm>
          <a:prstGeom prst="roundRect">
            <a:avLst>
              <a:gd name="adj" fmla="val 16164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92" y="3247330"/>
            <a:ext cx="118067" cy="94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59514" y="3242568"/>
            <a:ext cx="719208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algorithm finds these groups on its own. No human labeling is needed — that's what makes it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unsupervised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200" y="4699397"/>
            <a:ext cx="6039294" cy="33516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65126" y="6000778"/>
            <a:ext cx="1901981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 Customers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3665126" y="6393411"/>
            <a:ext cx="1901981" cy="36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 vs annual spending plot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501795" y="5847936"/>
            <a:ext cx="1901981" cy="61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Emerging Clusters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501795" y="6546252"/>
            <a:ext cx="1901981" cy="366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color-coded customer groups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61475" y="810408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with similar age and spending patterns naturally cluster together — K-Means surfaces these hidden groupings automatically.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662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Does "K" Mean?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97062"/>
            <a:ext cx="11478330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 = the number of clusters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you instruct the algorithm to find. Choosing K is one of the most important decisions in the entire process.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43124"/>
            <a:ext cx="3622882" cy="4842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2519" y="1904901"/>
            <a:ext cx="3380794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 = 2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82519" y="2140645"/>
            <a:ext cx="3380794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split into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 clusters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broad, coarse groupings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343124"/>
            <a:ext cx="3622882" cy="4842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05401" y="1904901"/>
            <a:ext cx="3380794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 = 3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405401" y="2140645"/>
            <a:ext cx="3380794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split into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 clusters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often the natural sweet spot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343124"/>
            <a:ext cx="3622882" cy="4842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28283" y="1904901"/>
            <a:ext cx="3380794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 = 4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8028283" y="2140645"/>
            <a:ext cx="3380794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split into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 clusters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finer granularity, more segments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594967"/>
            <a:ext cx="3612067" cy="36121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75160" y="3698180"/>
            <a:ext cx="696131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Same Data, Different K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575160" y="3964880"/>
            <a:ext cx="6961311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scatter plots to the left illustrate how the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same dataset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produces very different groupings depending on the value of K chosen.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575160" y="4352330"/>
            <a:ext cx="6961311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 few clusters → groups are too broad and lose detail</a:t>
            </a:r>
            <a:endParaRPr lang="en-US" sz="950" dirty="0"/>
          </a:p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 many clusters → groups become artificially fragmented</a:t>
            </a:r>
            <a:endParaRPr lang="en-US" sz="950" dirty="0"/>
          </a:p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right K → captures the true natural structure of the data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575160" y="4952802"/>
            <a:ext cx="7570896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Selecting the optimal K requires methods like the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Elbow Method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Silhouette Score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covered later in this presentation.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K-Means Algorithm Step-by-Step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90953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389906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Repeat Loop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389906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Recalculate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389906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Assign Points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389906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 Centroids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3899060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Choose K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4910534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K-Means is an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iterative algorithm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It alternates between assigning points to the nearest centroid and recalculating centroid positions until the clusters stabilize.</a:t>
            </a:r>
            <a:endParaRPr lang="en-US" sz="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77023"/>
            <a:ext cx="10868745" cy="5670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9166" y="5271889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99415" y="5184180"/>
            <a:ext cx="103236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Choose K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99415" y="5360095"/>
            <a:ext cx="103236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Decide how many clusters to find before the algorithm starts.</a:t>
            </a:r>
            <a:endParaRPr lang="en-US" sz="7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691287"/>
            <a:ext cx="10868745" cy="5670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9166" y="5886152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099415" y="5798443"/>
            <a:ext cx="103236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Initialize Centroids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099415" y="5974358"/>
            <a:ext cx="103236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Randomly place K centroids in the feature space.</a:t>
            </a:r>
            <a:endParaRPr lang="en-US" sz="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6305550"/>
            <a:ext cx="10868745" cy="56703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9166" y="6500416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099415" y="6412706"/>
            <a:ext cx="103236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Assign Points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099415" y="6588621"/>
            <a:ext cx="103236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data point is assigned to its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nearest centroid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Euclidean distance.</a:t>
            </a:r>
            <a:endParaRPr lang="en-US" sz="7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6919813"/>
            <a:ext cx="10868745" cy="56703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89166" y="7114679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099415" y="7026970"/>
            <a:ext cx="103236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Recalculate Centroids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99415" y="7202884"/>
            <a:ext cx="103236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each centroid to the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mean position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all points assigned to it.</a:t>
            </a:r>
            <a:endParaRPr lang="en-US" sz="7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7534077"/>
            <a:ext cx="10868745" cy="56703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9166" y="7728942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099415" y="7641233"/>
            <a:ext cx="103236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Repeat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099415" y="7817148"/>
            <a:ext cx="103236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assignment and recalculation until centroids stop moving significantly.</a:t>
            </a:r>
            <a:endParaRPr lang="en-US" sz="7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1475" y="8148340"/>
            <a:ext cx="10868745" cy="56703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89166" y="8343205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1099415" y="8255496"/>
            <a:ext cx="103236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Convergence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099415" y="8431411"/>
            <a:ext cx="103236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 when assignments and centroids no longer change — the algorithm has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converged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692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Distance Calculation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03524"/>
            <a:ext cx="3551049" cy="35511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8000" y="1356420"/>
            <a:ext cx="692847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Euclidean Distance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4608000" y="1740098"/>
            <a:ext cx="692847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K-Means decides which cluster a point belongs to by measuring its distance to each centroid. The point is assigned to the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nearest centroid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00" y="2380655"/>
            <a:ext cx="6928470" cy="2899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08000" y="2840831"/>
            <a:ext cx="6928470" cy="799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Distance between two points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x₁, y₁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Coordinates of the first point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x₂, y₂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Coordinates of the second point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608000" y="3831431"/>
            <a:ext cx="6928470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4608000" y="4041577"/>
            <a:ext cx="692847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Worked Example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608000" y="4425255"/>
            <a:ext cx="7538055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Point A = (2, 3)    Centroid = (5, 7)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000" y="4830663"/>
            <a:ext cx="6928470" cy="289917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000" y="5290840"/>
            <a:ext cx="6928470" cy="2838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08000" y="5744964"/>
            <a:ext cx="692847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K-Means repeats this calculation for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every centroid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assigns the point to whichever centroid yields the smallest distance.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837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 K-Means Numerical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296293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 = 2  |  Initial Centroids: C₁ = (1, 1)   C₂ = (8, 8)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99530"/>
          <a:ext cx="9143771" cy="914400"/>
        </p:xfrm>
        <a:graphic>
          <a:graphicData uri="http://schemas.openxmlformats.org/drawingml/2006/table">
            <a:tbl>
              <a:tblPr/>
              <a:tblGrid>
                <a:gridCol w="1733383"/>
                <a:gridCol w="1733383"/>
                <a:gridCol w="1733383"/>
                <a:gridCol w="1733383"/>
              </a:tblGrid>
              <a:tr h="388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Point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X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Assigned Cluster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1B1B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</a:tr>
              <a:tr h="391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C₁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91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C₁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91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C₁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91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8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8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C₂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91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8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C₂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88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8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C₂</a:t>
                      </a:r>
                      <a:endParaRPr lang="en-US" sz="12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685407"/>
            <a:ext cx="693353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Worked Distance: Point B = (2, 1)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083175"/>
            <a:ext cx="6933530" cy="27870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5519738"/>
            <a:ext cx="6933530" cy="2787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5956300"/>
            <a:ext cx="754311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Point B is assigned to </a:t>
            </a:r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C₁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(distance 1 &lt; 9.2)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996" y="2194917"/>
            <a:ext cx="3560475" cy="35605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2" y="485279"/>
            <a:ext cx="4415422" cy="5887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09104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Updating the Centroids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5233360" y="1150045"/>
            <a:ext cx="629686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Centroid Formula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233360" y="1588988"/>
            <a:ext cx="6296860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assigning all points to clusters, K-Means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recalculates each centroid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the mean of all points in that cluster.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33360" y="2322116"/>
            <a:ext cx="2957538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Formula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2730698"/>
            <a:ext cx="2957538" cy="41463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3309342"/>
            <a:ext cx="2957538" cy="4146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3360" y="3887986"/>
            <a:ext cx="2957538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number of points in the cluster.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579032" y="2322116"/>
            <a:ext cx="2957538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Worked Example — Cluster 1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579032" y="2696270"/>
            <a:ext cx="356712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Points: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(1,1), (2,1), (1,2)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032" y="3089176"/>
            <a:ext cx="2957538" cy="427732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9032" y="3680916"/>
            <a:ext cx="2957538" cy="4277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579032" y="4272657"/>
            <a:ext cx="2957538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centroid was at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(1, 1)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centroid moves to </a:t>
            </a:r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(1.33, 1.33)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8579032" y="4876205"/>
            <a:ext cx="2957538" cy="1226939"/>
          </a:xfrm>
          <a:prstGeom prst="roundRect">
            <a:avLst>
              <a:gd name="adj" fmla="val 5358"/>
            </a:avLst>
          </a:prstGeom>
          <a:solidFill>
            <a:srgbClr val="E1E1EA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5496" y="5073055"/>
            <a:ext cx="195654" cy="1564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087615" y="5031879"/>
            <a:ext cx="2292491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centroid shifts toward the true center of mass of its assigned points. This movement is what drives convergence.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530"/>
            <a:ext cx="10868745" cy="350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Iterations and Convergence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1013520"/>
            <a:ext cx="1147833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K-Means repeats the cycle — </a:t>
            </a:r>
            <a:pPr algn="l" indent="0" marL="0"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Assign → Recalculate → Assign → Recalculate</a:t>
            </a:r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until the clusters stabilize and centroids stop moving.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231503"/>
            <a:ext cx="8452035" cy="3868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41606" y="418123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Clusters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41783" y="418123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Recalculate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352827" y="418123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Assign Points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320397" y="418123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 Centroids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241330"/>
            <a:ext cx="5297454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Convergence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1475" y="5483225"/>
            <a:ext cx="5297454" cy="286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algorithm has </a:t>
            </a:r>
            <a:pPr algn="l" indent="0" marL="0"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converged</a:t>
            </a:r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when centroid positions and cluster assignments no longer change between iterations. At this point, the algorithm stops.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61475" y="5829300"/>
            <a:ext cx="5297454" cy="47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Convergence is guaranteed for standard K-Means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Typically reached in a small number of iterations</a:t>
            </a:r>
            <a:endParaRPr lang="en-US" sz="850" dirty="0"/>
          </a:p>
          <a:p>
            <a:pPr algn="l" marL="172720" indent="-172720">
              <a:lnSpc>
                <a:spcPct val="106000"/>
              </a:lnSpc>
              <a:buSzPct val="100000"/>
              <a:buChar char="•"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can vary depending on initial centroid placement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239116" y="5241330"/>
            <a:ext cx="5297454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WCSS / Inertia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39116" y="5483225"/>
            <a:ext cx="5907039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K-Means minimizes the </a:t>
            </a:r>
            <a:pPr algn="l" indent="0" marL="0">
              <a:lnSpc>
                <a:spcPct val="106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Within-Cluster Sum of Squares (WCSS)</a:t>
            </a:r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also called inertia. Intuitively: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7387" y="5761137"/>
            <a:ext cx="5738768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Minimize the total distance between each data point and the centroid of its assigned cluster.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239116" y="5701209"/>
            <a:ext cx="12700" cy="262930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16" name="Text 13"/>
          <p:cNvSpPr/>
          <p:nvPr/>
        </p:nvSpPr>
        <p:spPr>
          <a:xfrm>
            <a:off x="6239116" y="6039048"/>
            <a:ext cx="5907039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WCSS = tighter, more compact clusters. This is the objective K-Means optimizes at every iteration.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894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Choosing K: Elbow Method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33599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 must be chosen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before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running K-Means. The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Elbow Method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helps identify the optimal K by plotting WCSS against the number of clusters.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89125"/>
            <a:ext cx="5236238" cy="37691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0332" y="1871663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Reading the Elbow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300332" y="2264966"/>
            <a:ext cx="5236238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K increases, WCSS always decreases — but the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rate of improvement slows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"elbow" is the point where adding more clusters yields diminishing returns.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00332" y="3115370"/>
            <a:ext cx="5236238" cy="822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WCSS drops sharply from K=1 to K=3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K=3, the curve flattens significantly</a:t>
            </a:r>
            <a:endParaRPr lang="en-US" sz="1250" dirty="0"/>
          </a:p>
          <a:p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 = 3 is the optimal choice</a:t>
            </a:r>
            <a:pPr algn="l" marL="254000" indent="-254000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this dataset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0332" y="4094758"/>
            <a:ext cx="5236238" cy="815578"/>
          </a:xfrm>
          <a:prstGeom prst="roundRect">
            <a:avLst>
              <a:gd name="adj" fmla="val 8365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749" y="4310459"/>
            <a:ext cx="202996" cy="1624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28163" y="4260949"/>
            <a:ext cx="454599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Elbow Method is a </a:t>
            </a:r>
            <a:pPr algn="l" indent="0" marL="0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heuristic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Always combine it with domain knowledge and other validation methods.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300332" y="5067300"/>
            <a:ext cx="523623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Silhouette Score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300332" y="5460603"/>
            <a:ext cx="5236238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Another evaluation method that measures how well-separated clusters are. A higher silhouette score indicates cleaner, more distinct cluster boundaries.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Summary &amp; Real-World Applications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593412" y="885924"/>
            <a:ext cx="5455208" cy="3657005"/>
          </a:xfrm>
          <a:prstGeom prst="roundRect">
            <a:avLst>
              <a:gd name="adj" fmla="val 186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7866" y="933152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K-Means Workflow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866" y="1145679"/>
            <a:ext cx="94454" cy="944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7866" y="1281708"/>
            <a:ext cx="526630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687866" y="1354336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Unlabeled Data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866" y="1631851"/>
            <a:ext cx="94454" cy="944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87866" y="1767880"/>
            <a:ext cx="526630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6"/>
          <p:cNvSpPr/>
          <p:nvPr/>
        </p:nvSpPr>
        <p:spPr>
          <a:xfrm>
            <a:off x="687866" y="1840508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Choose K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7866" y="2118023"/>
            <a:ext cx="94454" cy="9445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87866" y="2254052"/>
            <a:ext cx="526630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8"/>
          <p:cNvSpPr/>
          <p:nvPr/>
        </p:nvSpPr>
        <p:spPr>
          <a:xfrm>
            <a:off x="687866" y="2326680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Initialize Centroids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7866" y="2604195"/>
            <a:ext cx="94454" cy="9445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87866" y="2740223"/>
            <a:ext cx="526630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0"/>
          <p:cNvSpPr/>
          <p:nvPr/>
        </p:nvSpPr>
        <p:spPr>
          <a:xfrm>
            <a:off x="687866" y="2812852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 Distances</a:t>
            </a:r>
            <a:endParaRPr lang="en-US" sz="9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7866" y="3090366"/>
            <a:ext cx="94454" cy="94456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87866" y="3226395"/>
            <a:ext cx="526630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2"/>
          <p:cNvSpPr/>
          <p:nvPr/>
        </p:nvSpPr>
        <p:spPr>
          <a:xfrm>
            <a:off x="687866" y="3299023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Assign Points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7866" y="3576538"/>
            <a:ext cx="94454" cy="94456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87866" y="3712567"/>
            <a:ext cx="526630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14"/>
          <p:cNvSpPr/>
          <p:nvPr/>
        </p:nvSpPr>
        <p:spPr>
          <a:xfrm>
            <a:off x="687866" y="3785195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Update Centroids → Repeat</a:t>
            </a:r>
            <a:endParaRPr lang="en-US" sz="9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7866" y="4062710"/>
            <a:ext cx="94454" cy="94456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87866" y="4198739"/>
            <a:ext cx="5266300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5" name="Text 16"/>
          <p:cNvSpPr/>
          <p:nvPr/>
        </p:nvSpPr>
        <p:spPr>
          <a:xfrm>
            <a:off x="687866" y="4271367"/>
            <a:ext cx="526630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Clusters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6217487" y="933152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Concepts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6217487" y="109964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Applications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5912694" y="1294507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Unlabeled Data → K-Means → Similar Groups → Business &amp; Analytical Insights</a:t>
            </a:r>
            <a:endParaRPr lang="en-US" sz="7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475" y="4596011"/>
            <a:ext cx="5434373" cy="37802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55929" y="5021263"/>
            <a:ext cx="524546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Unsupervised Learning</a:t>
            </a:r>
            <a:endParaRPr lang="en-US" sz="9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5848" y="4596011"/>
            <a:ext cx="5434373" cy="378023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190301" y="5021263"/>
            <a:ext cx="524546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Centroid &amp; Euclidean Distance</a:t>
            </a:r>
            <a:endParaRPr lang="en-US" sz="9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1475" y="5357813"/>
            <a:ext cx="5434373" cy="378023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55929" y="5783064"/>
            <a:ext cx="524546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WCSS / Inertia</a:t>
            </a:r>
            <a:endParaRPr lang="en-US" sz="9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5848" y="5357813"/>
            <a:ext cx="5434373" cy="378023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190301" y="5783064"/>
            <a:ext cx="524546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Elbow Method &amp; Silhouette Score</a:t>
            </a:r>
            <a:endParaRPr lang="en-US" sz="900" dirty="0"/>
          </a:p>
        </p:txBody>
      </p:sp>
      <p:sp>
        <p:nvSpPr>
          <p:cNvPr id="37" name="Shape 24"/>
          <p:cNvSpPr/>
          <p:nvPr/>
        </p:nvSpPr>
        <p:spPr>
          <a:xfrm>
            <a:off x="661475" y="6172696"/>
            <a:ext cx="2681717" cy="349250"/>
          </a:xfrm>
          <a:prstGeom prst="roundRect">
            <a:avLst>
              <a:gd name="adj" fmla="val 11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8" name="Text 25"/>
          <p:cNvSpPr/>
          <p:nvPr/>
        </p:nvSpPr>
        <p:spPr>
          <a:xfrm>
            <a:off x="762279" y="6273502"/>
            <a:ext cx="24801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Segmentation</a:t>
            </a:r>
            <a:endParaRPr lang="en-US" sz="900" dirty="0"/>
          </a:p>
        </p:txBody>
      </p:sp>
      <p:sp>
        <p:nvSpPr>
          <p:cNvPr id="39" name="Shape 26"/>
          <p:cNvSpPr/>
          <p:nvPr/>
        </p:nvSpPr>
        <p:spPr>
          <a:xfrm>
            <a:off x="3390418" y="6172696"/>
            <a:ext cx="2681816" cy="349250"/>
          </a:xfrm>
          <a:prstGeom prst="roundRect">
            <a:avLst>
              <a:gd name="adj" fmla="val 11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0" name="Text 27"/>
          <p:cNvSpPr/>
          <p:nvPr/>
        </p:nvSpPr>
        <p:spPr>
          <a:xfrm>
            <a:off x="3491222" y="6273502"/>
            <a:ext cx="248020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Image Compression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6119461" y="6172696"/>
            <a:ext cx="2681717" cy="349250"/>
          </a:xfrm>
          <a:prstGeom prst="roundRect">
            <a:avLst>
              <a:gd name="adj" fmla="val 11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2" name="Text 29"/>
          <p:cNvSpPr/>
          <p:nvPr/>
        </p:nvSpPr>
        <p:spPr>
          <a:xfrm>
            <a:off x="6220265" y="6273502"/>
            <a:ext cx="248010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Recommendation Systems</a:t>
            </a:r>
            <a:endParaRPr lang="en-US" sz="900" dirty="0"/>
          </a:p>
        </p:txBody>
      </p:sp>
      <p:sp>
        <p:nvSpPr>
          <p:cNvPr id="43" name="Shape 30"/>
          <p:cNvSpPr/>
          <p:nvPr/>
        </p:nvSpPr>
        <p:spPr>
          <a:xfrm>
            <a:off x="8848404" y="6172696"/>
            <a:ext cx="2681816" cy="349250"/>
          </a:xfrm>
          <a:prstGeom prst="roundRect">
            <a:avLst>
              <a:gd name="adj" fmla="val 11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8949208" y="6273502"/>
            <a:ext cx="248020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 Clustering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661475" y="6569174"/>
            <a:ext cx="5410759" cy="349250"/>
          </a:xfrm>
          <a:prstGeom prst="roundRect">
            <a:avLst>
              <a:gd name="adj" fmla="val 11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762279" y="6669980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Anomaly Exploration</a:t>
            </a:r>
            <a:endParaRPr lang="en-US" sz="900" dirty="0"/>
          </a:p>
        </p:txBody>
      </p:sp>
      <p:sp>
        <p:nvSpPr>
          <p:cNvPr id="47" name="Shape 34"/>
          <p:cNvSpPr/>
          <p:nvPr/>
        </p:nvSpPr>
        <p:spPr>
          <a:xfrm>
            <a:off x="6119461" y="6569174"/>
            <a:ext cx="5410759" cy="349250"/>
          </a:xfrm>
          <a:prstGeom prst="roundRect">
            <a:avLst>
              <a:gd name="adj" fmla="val 113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6220265" y="6669980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 Media Audiences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2026-09-16T05:33:06Z</dcterms:created>
  <dcterms:modified xsi:type="dcterms:W3CDTF">2026-09-16T05:33:06Z</dcterms:modified>
</cp:coreProperties>
</file>