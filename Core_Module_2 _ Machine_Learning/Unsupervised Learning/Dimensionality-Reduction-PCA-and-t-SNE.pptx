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Outfi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0.png"/><Relationship Id="rId13" Type="http://schemas.openxmlformats.org/officeDocument/2006/relationships/image" Target="../media/image-2-11.svg"/><Relationship Id="rId14" Type="http://schemas.openxmlformats.org/officeDocument/2006/relationships/image" Target="../media/image-2-10.png"/><Relationship Id="rId15" Type="http://schemas.openxmlformats.org/officeDocument/2006/relationships/image" Target="../media/image-2-11.svg"/><Relationship Id="rId16" Type="http://schemas.openxmlformats.org/officeDocument/2006/relationships/image" Target="../media/image-2-10.png"/><Relationship Id="rId17" Type="http://schemas.openxmlformats.org/officeDocument/2006/relationships/image" Target="../media/image-2-11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7-5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456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Dimensionality Reduction: PCA &amp; t-SNE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56682" y="2197596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High-Dimensional Data to Meaningful Representations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2574528"/>
            <a:ext cx="10868745" cy="1075630"/>
          </a:xfrm>
          <a:prstGeom prst="roundRect">
            <a:avLst>
              <a:gd name="adj" fmla="val 1245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9050" dir="2700000">
              <a:srgbClr val="b5c1e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825" y="2580878"/>
            <a:ext cx="3618616" cy="1062930"/>
          </a:xfrm>
          <a:custGeom>
            <a:avLst/>
            <a:gdLst/>
            <a:ahLst/>
            <a:cxnLst/>
            <a:rect l="l" t="t" r="r" b="b"/>
            <a:pathLst>
              <a:path w="3618616" h="1062930">
                <a:moveTo>
                  <a:pt x="111639" y="0"/>
                </a:moveTo>
                <a:lnTo>
                  <a:pt x="3618616" y="0"/>
                </a:lnTo>
                <a:lnTo>
                  <a:pt x="3618616" y="1062930"/>
                </a:lnTo>
                <a:lnTo>
                  <a:pt x="111639" y="1062930"/>
                </a:lnTo>
                <a:arcTo hR="111642" wR="111639" stAng="5400000" swAng="5400000"/>
                <a:lnTo>
                  <a:pt x="0" y="111642"/>
                </a:lnTo>
                <a:arcTo hR="111642" wR="111639" stAng="10800000" swAng="5400000"/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6" name="Text 4"/>
          <p:cNvSpPr/>
          <p:nvPr/>
        </p:nvSpPr>
        <p:spPr>
          <a:xfrm>
            <a:off x="816649" y="2729706"/>
            <a:ext cx="332096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6649" y="3042543"/>
            <a:ext cx="332096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Real-world data lives in hundreds or thousands of dimensions — far beyond human intuition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6440" y="2580878"/>
            <a:ext cx="3618715" cy="1062930"/>
          </a:xfrm>
          <a:prstGeom prst="rect">
            <a:avLst/>
          </a:prstGeom>
          <a:solidFill>
            <a:srgbClr val="CFDBFC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580878"/>
            <a:ext cx="19050" cy="1062930"/>
          </a:xfrm>
          <a:prstGeom prst="roundRect">
            <a:avLst>
              <a:gd name="adj" fmla="val 49999"/>
            </a:avLst>
          </a:prstGeom>
          <a:solidFill>
            <a:srgbClr val="B5C1E2"/>
          </a:solidFill>
          <a:ln/>
        </p:spPr>
      </p:sp>
      <p:sp>
        <p:nvSpPr>
          <p:cNvPr id="10" name="Text 8"/>
          <p:cNvSpPr/>
          <p:nvPr/>
        </p:nvSpPr>
        <p:spPr>
          <a:xfrm>
            <a:off x="4435265" y="2729706"/>
            <a:ext cx="332106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Methods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35265" y="3042543"/>
            <a:ext cx="332106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PCA for linear compression · t-SNE for nonlinear visualization · both reveal hidden structure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5155" y="2580878"/>
            <a:ext cx="3618715" cy="1062930"/>
          </a:xfrm>
          <a:custGeom>
            <a:avLst/>
            <a:gdLst/>
            <a:ahLst/>
            <a:cxnLst/>
            <a:rect l="l" t="t" r="r" b="b"/>
            <a:pathLst>
              <a:path w="3618715" h="1062930">
                <a:moveTo>
                  <a:pt x="0" y="0"/>
                </a:moveTo>
                <a:lnTo>
                  <a:pt x="3507076" y="0"/>
                </a:lnTo>
                <a:arcTo hR="111642" wR="111639" stAng="16200000" swAng="5400000"/>
                <a:lnTo>
                  <a:pt x="3618715" y="951289"/>
                </a:lnTo>
                <a:arcTo hR="111642" wR="111639" stAng="0" swAng="5400000"/>
                <a:lnTo>
                  <a:pt x="0" y="1062930"/>
                </a:lnTo>
                <a:lnTo>
                  <a:pt x="0" y="0"/>
                </a:lnTo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580878"/>
            <a:ext cx="19050" cy="1062930"/>
          </a:xfrm>
          <a:prstGeom prst="roundRect">
            <a:avLst>
              <a:gd name="adj" fmla="val 49999"/>
            </a:avLst>
          </a:prstGeom>
          <a:solidFill>
            <a:srgbClr val="B5C1E2"/>
          </a:solidFill>
          <a:ln/>
        </p:spPr>
      </p:sp>
      <p:sp>
        <p:nvSpPr>
          <p:cNvPr id="14" name="Text 12"/>
          <p:cNvSpPr/>
          <p:nvPr/>
        </p:nvSpPr>
        <p:spPr>
          <a:xfrm>
            <a:off x="8053980" y="2729706"/>
            <a:ext cx="332106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Outcome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53980" y="3042543"/>
            <a:ext cx="332106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Interpretable, compact representations that power downstream ML tasks and deep insight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4321" y="3800872"/>
            <a:ext cx="5467114" cy="1592560"/>
          </a:xfrm>
          <a:prstGeom prst="roundRect">
            <a:avLst>
              <a:gd name="adj" fmla="val 13459"/>
            </a:avLst>
          </a:prstGeom>
          <a:solidFill>
            <a:srgbClr val="2563EB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3146" y="3934817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Prerequisites Assumed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3146" y="4301232"/>
            <a:ext cx="5169465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Basic linear algebra: matrices, vectors, dot products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Eigenvalues and eigenvectors (conceptual)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/ scikit-learn familiarity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3763" y="393481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You Will Learn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83763" y="4301232"/>
            <a:ext cx="5252807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high dimensionality is a practical engineering problem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PCA: geometry, mathematics, and a worked numerical example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t-SNE: neighborhood preservation, KL divergence, perplexity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choose between them and implement both in Python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930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Why Do We Need Dimensionality Reduction?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916509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Core Challenge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2154238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a human — or even a machine — meaningfully reason about data with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100, 1,000, or 10,000 features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 Direct inspection fails. Distance metrics degrade. Models overfit. Visualization becomes impossible.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2516584"/>
            <a:ext cx="5303308" cy="462955"/>
          </a:xfrm>
          <a:prstGeom prst="roundRect">
            <a:avLst>
              <a:gd name="adj" fmla="val 20899"/>
            </a:avLst>
          </a:prstGeom>
          <a:solidFill>
            <a:srgbClr val="CFD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26" y="2627114"/>
            <a:ext cx="134339" cy="1074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0716" y="2606179"/>
            <a:ext cx="484661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Dimensionality Reduction ≠ deleting columns.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 means discovering the intrinsic geometric structure embedded in high-dimensional space and representing it compactly.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1475" y="305812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High-Dimensional Real Data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1475" y="3304580"/>
            <a:ext cx="2616730" cy="999530"/>
          </a:xfrm>
          <a:prstGeom prst="roundRect">
            <a:avLst>
              <a:gd name="adj" fmla="val 968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3970" dir="2700000">
              <a:srgbClr val="b5c1e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5276" y="3418384"/>
            <a:ext cx="322453" cy="32246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75" y="3507085"/>
            <a:ext cx="145054" cy="1450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5276" y="3810695"/>
            <a:ext cx="23891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Images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5276" y="4048423"/>
            <a:ext cx="23891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Thousands of pixels per image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348053" y="3304580"/>
            <a:ext cx="2616730" cy="999530"/>
          </a:xfrm>
          <a:prstGeom prst="roundRect">
            <a:avLst>
              <a:gd name="adj" fmla="val 968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3970" dir="2700000">
              <a:srgbClr val="b5c1e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61854" y="3418384"/>
            <a:ext cx="322453" cy="32246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0553" y="3507085"/>
            <a:ext cx="145054" cy="1450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61854" y="3810695"/>
            <a:ext cx="23891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Data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461854" y="4048423"/>
            <a:ext cx="23891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Hundreds of behavioral features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61475" y="4373959"/>
            <a:ext cx="2616730" cy="999530"/>
          </a:xfrm>
          <a:prstGeom prst="roundRect">
            <a:avLst>
              <a:gd name="adj" fmla="val 968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3970" dir="2700000">
              <a:srgbClr val="b5c1e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5276" y="4487763"/>
            <a:ext cx="322453" cy="32246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975" y="4576465"/>
            <a:ext cx="145054" cy="1450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5276" y="4880074"/>
            <a:ext cx="23891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Text (TF-IDF)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75276" y="5117802"/>
            <a:ext cx="23891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Thousands of vocabulary terms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348053" y="4373959"/>
            <a:ext cx="2616730" cy="999530"/>
          </a:xfrm>
          <a:prstGeom prst="roundRect">
            <a:avLst>
              <a:gd name="adj" fmla="val 968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3970" dir="2700000">
              <a:srgbClr val="b5c1e2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61854" y="4487763"/>
            <a:ext cx="322453" cy="32246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0553" y="4576465"/>
            <a:ext cx="145054" cy="1450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61854" y="4880074"/>
            <a:ext cx="23891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Genomics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461854" y="5117802"/>
            <a:ext cx="23891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Thousands of gene expression values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233262" y="1916509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Problems Caused by High Dimensionality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3262" y="2162969"/>
            <a:ext cx="2616730" cy="7618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04212" y="2283123"/>
            <a:ext cx="232562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404212" y="2520851"/>
            <a:ext cx="23256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perception tops out at 3D. Patterns above that are invisible without reduction.</a:t>
            </a:r>
            <a:endParaRPr lang="en-US" sz="8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9840" y="2162969"/>
            <a:ext cx="2616730" cy="76180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90790" y="2283123"/>
            <a:ext cx="232562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Curse of Dimensionality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9090790" y="2520851"/>
            <a:ext cx="23256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metrics break down — all points become nearly equidistant in high dimensions.</a:t>
            </a:r>
            <a:endParaRPr lang="en-US" sz="8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3262" y="2994620"/>
            <a:ext cx="2616730" cy="76180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404212" y="3114774"/>
            <a:ext cx="232562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Redundant Features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6404212" y="3352502"/>
            <a:ext cx="23256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Correlated features add noise, not signal, increasing computational cost.</a:t>
            </a:r>
            <a:endParaRPr lang="en-US" sz="8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19840" y="2994620"/>
            <a:ext cx="2616730" cy="76180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090790" y="3114774"/>
            <a:ext cx="232562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Overfitting Risk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9090790" y="3352502"/>
            <a:ext cx="23256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learn noise rather than structure when features outnumber informative signals.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6233262" y="383500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Goal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6233262" y="4072731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X ∈ ℝn×d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(high-dimensional) →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 ∈ ℝn×k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(low-dimensional, k ≪ d) while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preserving the information that matters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your task.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09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From Many Features to Fewer Dimensions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10867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Mathematical Representation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346398"/>
            <a:ext cx="5303308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Original dataset: 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X ∈ ℝn×d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 samples, d features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reduction: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 ∈ ℝn×k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 samples, k dimensions, k ≪ 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771551"/>
            <a:ext cx="5303308" cy="462955"/>
          </a:xfrm>
          <a:prstGeom prst="roundRect">
            <a:avLst>
              <a:gd name="adj" fmla="val 20899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26" y="1882080"/>
            <a:ext cx="134339" cy="1074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0716" y="1861145"/>
            <a:ext cx="484661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Concrete example: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1,000 samples × 50 features → 1,000 samples × 2 dimensions. The 48 discarded dimensions carried redundant or low-variance information.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1475" y="2313087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Two Broad Strategies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1475" y="2559546"/>
            <a:ext cx="5303308" cy="1485503"/>
          </a:xfrm>
          <a:prstGeom prst="roundRect">
            <a:avLst>
              <a:gd name="adj" fmla="val 6513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3970" dir="2700000">
              <a:srgbClr val="b5c1e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825" y="2565896"/>
            <a:ext cx="5290608" cy="736402"/>
          </a:xfrm>
          <a:custGeom>
            <a:avLst/>
            <a:gdLst/>
            <a:ahLst/>
            <a:cxnLst/>
            <a:rect l="l" t="t" r="r" b="b"/>
            <a:pathLst>
              <a:path w="5290608" h="736402">
                <a:moveTo>
                  <a:pt x="80628" y="0"/>
                </a:moveTo>
                <a:lnTo>
                  <a:pt x="5209980" y="0"/>
                </a:lnTo>
                <a:arcTo hR="80630" wR="80628" stAng="16200000" swAng="5400000"/>
                <a:lnTo>
                  <a:pt x="5290608" y="736402"/>
                </a:lnTo>
                <a:lnTo>
                  <a:pt x="0" y="736402"/>
                </a:lnTo>
                <a:lnTo>
                  <a:pt x="0" y="80630"/>
                </a:lnTo>
                <a:arcTo hR="80630" wR="80628" stAng="10800000" swAng="5400000"/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11" name="Text 8"/>
          <p:cNvSpPr/>
          <p:nvPr/>
        </p:nvSpPr>
        <p:spPr>
          <a:xfrm>
            <a:off x="775276" y="2673350"/>
            <a:ext cx="50757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Selection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5276" y="2911078"/>
            <a:ext cx="507570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subset of original features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Columns remain interpretable. Example: keep Age and Income, drop the rest.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67825" y="3302298"/>
            <a:ext cx="5290608" cy="736402"/>
          </a:xfrm>
          <a:custGeom>
            <a:avLst/>
            <a:gdLst/>
            <a:ahLst/>
            <a:cxnLst/>
            <a:rect l="l" t="t" r="r" b="b"/>
            <a:pathLst>
              <a:path w="5290608" h="736402">
                <a:moveTo>
                  <a:pt x="0" y="0"/>
                </a:moveTo>
                <a:lnTo>
                  <a:pt x="5290608" y="0"/>
                </a:lnTo>
                <a:lnTo>
                  <a:pt x="5290608" y="655771"/>
                </a:lnTo>
                <a:arcTo hR="80630" wR="80628" stAng="0" swAng="5400000"/>
                <a:lnTo>
                  <a:pt x="80628" y="736402"/>
                </a:lnTo>
                <a:arcTo hR="80630" wR="80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3302298"/>
            <a:ext cx="5290608" cy="12700"/>
          </a:xfrm>
          <a:prstGeom prst="roundRect">
            <a:avLst>
              <a:gd name="adj" fmla="val 49999"/>
            </a:avLst>
          </a:prstGeom>
          <a:solidFill>
            <a:srgbClr val="B5C1E2"/>
          </a:solidFill>
          <a:ln/>
        </p:spPr>
      </p:sp>
      <p:sp>
        <p:nvSpPr>
          <p:cNvPr id="15" name="Text 12"/>
          <p:cNvSpPr/>
          <p:nvPr/>
        </p:nvSpPr>
        <p:spPr>
          <a:xfrm>
            <a:off x="775276" y="3409752"/>
            <a:ext cx="50757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5276" y="3647480"/>
            <a:ext cx="507570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new dimensions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linear (or nonlinear) combinations. Example: Feature₁ + Feature₂ + Feature₃ → Principal Component 1.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33262" y="110867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Today's Two Methods — Side by Side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262" y="1353741"/>
            <a:ext cx="2616730" cy="171340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60964" y="1425079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353413" y="1760141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— Principal Component Analysis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353413" y="1997869"/>
            <a:ext cx="2376428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Type: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Linear transformation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Preserves: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Directions of maximum variance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Strengths: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Fast, interpretable, invertible, works on new data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Best for: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Preprocessing, compression, noise reduction</a:t>
            </a:r>
            <a:endParaRPr lang="en-US" sz="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9840" y="1353741"/>
            <a:ext cx="2616730" cy="171340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47542" y="1425079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039991" y="1760141"/>
            <a:ext cx="237642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6B6D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— t-Distributed Stochastic Neighbor Embedding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9039991" y="2165747"/>
            <a:ext cx="2376428" cy="78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Type: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Nonlinear embedding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Preserves: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Local neighborhood structure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Strengths: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Reveals clusters and curved manifolds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Best for: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2D/3D visualization and exploration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720" y="3147120"/>
            <a:ext cx="3216294" cy="303410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85498" y="5106031"/>
            <a:ext cx="1021052" cy="16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585498" y="5311777"/>
            <a:ext cx="1021052" cy="317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informative features to reduce dimensionality.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354358" y="3652101"/>
            <a:ext cx="1021053" cy="16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354358" y="3857848"/>
            <a:ext cx="1021053" cy="42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 features into orthogonal principal components.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9168691" y="5106031"/>
            <a:ext cx="1021053" cy="16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168691" y="5311777"/>
            <a:ext cx="1021053" cy="317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 high-dimensional data into a 2D representation.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714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PCA: Find the Direction That Captures Maximum Variance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955105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Geometric Intuition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67545"/>
            <a:ext cx="58325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2D data: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Study Hours (X₁)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Exam Score (X₂)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Points form a diagonal elongated cloud — they are correlated. PCA asks: 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single direction, if we projected all points onto it, would spread them the most?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083" y="2962176"/>
            <a:ext cx="198433" cy="198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1379" y="2958108"/>
            <a:ext cx="540262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1 — Observe the cloud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1379" y="3270548"/>
            <a:ext cx="54026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points are not scattered randomly — they cluster along a diagonal axis reflecting the correlation between study time and exam performance.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3867249"/>
            <a:ext cx="198433" cy="1984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1379" y="3863181"/>
            <a:ext cx="540262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2 — Find the best direction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1379" y="4175621"/>
            <a:ext cx="54026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PC1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the direction of maximum spread. A bad direction captures little variance; the optimal direction maximizes it.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083" y="4772323"/>
            <a:ext cx="198433" cy="1984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1379" y="4768255"/>
            <a:ext cx="540262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3 — Project and reduce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91379" y="5080695"/>
            <a:ext cx="54026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the perpendicular component (PC2, which captures residual variance). The 2D problem becomes 1D with minimal information loss.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727756" y="1849338"/>
            <a:ext cx="4903962" cy="3731419"/>
          </a:xfrm>
          <a:prstGeom prst="roundRect">
            <a:avLst>
              <a:gd name="adj" fmla="val 5106"/>
            </a:avLst>
          </a:prstGeom>
          <a:solidFill>
            <a:srgbClr val="2563EB">
              <a:alpha val="9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860011" y="1955105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Mathematical Form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60011" y="2267545"/>
            <a:ext cx="52490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principal component is 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linear combination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original features: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011" y="2591991"/>
            <a:ext cx="4639452" cy="2287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0011" y="2954734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weight vector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defines the projection direction. It is chosen to maximize the variance of the projected values: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011" y="3469680"/>
            <a:ext cx="4639452" cy="2911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60011" y="3894733"/>
            <a:ext cx="4639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PC2 is orthogonal to PC1, capturing the next-largest variance, and so on. Each subsequent component is uncorrelated with all previous ones.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860011" y="4394795"/>
            <a:ext cx="4639452" cy="637580"/>
          </a:xfrm>
          <a:prstGeom prst="roundRect">
            <a:avLst>
              <a:gd name="adj" fmla="val 18677"/>
            </a:avLst>
          </a:prstGeom>
          <a:solidFill>
            <a:srgbClr val="08257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2266" y="4557514"/>
            <a:ext cx="165294" cy="13225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89816" y="4523085"/>
            <a:ext cx="4077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PC1 is guaranteed to capture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more variance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than any other single linear projection of the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2359"/>
            <a:ext cx="10868745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 Mathematics — Step by Step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3149" y="863203"/>
            <a:ext cx="7545397" cy="3253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0927" y="3499945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Eigenvectors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830927" y="2746747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Covariance Matrix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830927" y="2001158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Mean Centering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0927" y="1247960"/>
            <a:ext cx="1711770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Raw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4230588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1 — Center the Data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459288"/>
            <a:ext cx="5319679" cy="375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4887913"/>
            <a:ext cx="592926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Subtract the column mean from every feature. Required so the covariance matrix captures spread, not location.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61475" y="5059363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2 — Covariance Matrix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288062"/>
            <a:ext cx="5319679" cy="2676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5609332"/>
            <a:ext cx="592926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pPr algn="l"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× d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symmetric matrix. Entry Σᵢⱼ measures how features i and j vary together.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661475" y="5780782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3 — Eigenvalue Problem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6009481"/>
            <a:ext cx="5319679" cy="1663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6229449"/>
            <a:ext cx="592926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eigenvector (the principal direction) · </a:t>
            </a:r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λ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eigenvalue (variance explained in that direction)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216891" y="4230588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4 — Sort by Eigenvalue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891" y="4459288"/>
            <a:ext cx="5319679" cy="16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6891" y="4672905"/>
            <a:ext cx="592926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 all eigenvectors by their eigenvalue. PC1 corresponds to λ₁ (largest), PC2 to λ₂, etc.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6216891" y="4844355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5 — Project Data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891" y="5073055"/>
            <a:ext cx="5319679" cy="16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16891" y="5286673"/>
            <a:ext cx="592926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</a:t>
            </a:r>
            <a:pPr algn="l"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× k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matrix whose columns are the top k eigenvectors. </a:t>
            </a:r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final low-dimensional representation.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6216891" y="5464770"/>
            <a:ext cx="5319679" cy="379214"/>
          </a:xfrm>
          <a:prstGeom prst="roundRect">
            <a:avLst>
              <a:gd name="adj" fmla="val 22325"/>
            </a:avLst>
          </a:prstGeom>
          <a:solidFill>
            <a:srgbClr val="B6D6F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948" y="5562402"/>
            <a:ext cx="117571" cy="9405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22577" y="5536406"/>
            <a:ext cx="4919936" cy="23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Implementation note: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Real-world PCA uses </a:t>
            </a:r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Singular Value Decomposition (SVD)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rather than explicit eigendecomposition — it is numerically more stable and often faster for large matrices.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695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 Worked Example — Calculate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77070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— 5 Students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75420"/>
          <a:ext cx="9143771" cy="914400"/>
        </p:xfrm>
        <a:graphic>
          <a:graphicData uri="http://schemas.openxmlformats.org/drawingml/2006/table">
            <a:tbl>
              <a:tblPr/>
              <a:tblGrid>
                <a:gridCol w="1574827"/>
                <a:gridCol w="1574827"/>
                <a:gridCol w="1574827"/>
              </a:tblGrid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Student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Study Hours (X₁)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Exam Score (X₂)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65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70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80</a:t>
                      </a:r>
                      <a:endParaRPr lang="en-US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4044" marR="1240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068690"/>
            <a:ext cx="4724480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2372887"/>
            <a:ext cx="4724480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2677084"/>
            <a:ext cx="4724480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2981281"/>
            <a:ext cx="4724480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3285478"/>
            <a:ext cx="4724480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3711575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1 — Compute Means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023023"/>
            <a:ext cx="4724480" cy="2153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1475" y="4356001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2 — Centered Data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61475" y="4642743"/>
            <a:ext cx="533406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[−2, −14] · [−1, −9] · [0, +1] · [+1, +6] · [+2, +16]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61475" y="4909344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3 — Covariance Matrix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220791"/>
            <a:ext cx="4724480" cy="4052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1475" y="5743674"/>
            <a:ext cx="533406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Var(X₁) = 2.5 · Var(X₂) = 147.5 · Cov(X₁, X₂) = 35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605620" y="1384102"/>
            <a:ext cx="6020145" cy="4616847"/>
          </a:xfrm>
          <a:prstGeom prst="roundRect">
            <a:avLst>
              <a:gd name="adj" fmla="val 3869"/>
            </a:avLst>
          </a:prstGeom>
          <a:solidFill>
            <a:srgbClr val="2563EB">
              <a:alpha val="95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5729640" y="1477070"/>
            <a:ext cx="57721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4 — Eigendecomposition Result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729640" y="1763812"/>
            <a:ext cx="5772105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eigenvalue 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λ₁ ≈ 148.1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accounts for approximately 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F59E0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95% of total variance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PC1 direction: mostly aligned with Exam Score, with a smaller Study Hours contribution — exactly as the strong correlation suggests.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729640" y="2461320"/>
            <a:ext cx="57721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5 — Reduction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40" y="2772767"/>
            <a:ext cx="5772105" cy="2360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29640" y="3126482"/>
            <a:ext cx="577210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Projecting onto PC1 alone retains 95% of the information, reducing storage and computation with minimal loss.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729640" y="3578324"/>
            <a:ext cx="5772105" cy="576461"/>
          </a:xfrm>
          <a:prstGeom prst="roundRect">
            <a:avLst>
              <a:gd name="adj" fmla="val 19366"/>
            </a:avLst>
          </a:prstGeom>
          <a:solidFill>
            <a:srgbClr val="08257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661" y="3727053"/>
            <a:ext cx="154976" cy="12402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32657" y="3692922"/>
            <a:ext cx="524506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Key observation: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high covariance (35) between X₁ and X₂ is exactly what PCA exploits — correlated features are redundant, and PCA collapses them into one compact dimension.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5729640" y="4259362"/>
            <a:ext cx="57721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Practical Note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729640" y="4546104"/>
            <a:ext cx="577210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implementations use 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270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sklearn.decomposition.PCA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SVD internally. Manual eigendecomposition is for understanding, not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5333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How Many Principal Components Should We Keep?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58591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Explained Variance Ratio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2195"/>
            <a:ext cx="5303308" cy="3648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295426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 of total variance explained by the i-th component alone.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2507159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Cumulative Explained Variance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763441"/>
            <a:ext cx="5303308" cy="4097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261618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Cumulative fraction explained by the top k components. Choose k where CVₖ crosses your threshold.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61475" y="347335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Example Breakdown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719810"/>
          <a:ext cx="9143771" cy="914400"/>
        </p:xfrm>
        <a:graphic>
          <a:graphicData uri="http://schemas.openxmlformats.org/drawingml/2006/table">
            <a:tbl>
              <a:tblPr/>
              <a:tblGrid>
                <a:gridCol w="1767769"/>
                <a:gridCol w="1767769"/>
                <a:gridCol w="1767769"/>
              </a:tblGrid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Variance 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Cumulative 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PC1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PC2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80%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PC3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B6D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90%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PC4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383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PC5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61475" y="5241032"/>
            <a:ext cx="5303308" cy="462955"/>
          </a:xfrm>
          <a:prstGeom prst="roundRect">
            <a:avLst>
              <a:gd name="adj" fmla="val 20899"/>
            </a:avLst>
          </a:prstGeom>
          <a:solidFill>
            <a:srgbClr val="CFDB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6" y="5351562"/>
            <a:ext cx="134339" cy="1074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0716" y="5330627"/>
            <a:ext cx="484661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Decision: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If 90% variance is acceptable for your task, choose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 = 3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components and discard PC4 and PC5.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6233262" y="158591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Scree Plot — Explained Variance per Component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262" y="1832372"/>
            <a:ext cx="3447071" cy="24818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33262" y="4392811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Bars show individual variance (left axis) · Line shows cumulative variance (right axis) · Dashed line marks the 90% threshold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6233262" y="4755158"/>
            <a:ext cx="5303308" cy="462955"/>
          </a:xfrm>
          <a:prstGeom prst="roundRect">
            <a:avLst>
              <a:gd name="adj" fmla="val 20899"/>
            </a:avLst>
          </a:prstGeom>
          <a:solidFill>
            <a:srgbClr val="FCF2B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713" y="4865688"/>
            <a:ext cx="134339" cy="1074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82503" y="4844752"/>
            <a:ext cx="484661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 universal threshold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95%, 99%, or 90% — the right cutoff depends on your downstream task and tolerance for information loss.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5725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t-SNE: Preserve Local Neighborhoods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919982"/>
            <a:ext cx="507015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Limitation of PCA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2181820"/>
            <a:ext cx="5070150" cy="7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PCA searches for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linear directions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maximum variance. It fails to capture curved, spiral, or otherwise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nonlinear structure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data.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Imagine a Swiss-roll dataset: a 2D sheet rolled up in 3D space. PCA projects it flat but </a:t>
            </a:r>
            <a:pPr algn="l" indent="0" marL="0">
              <a:lnSpc>
                <a:spcPct val="113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tears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structure. t-SNE </a:t>
            </a:r>
            <a:pPr algn="l" indent="0" marL="0">
              <a:lnSpc>
                <a:spcPct val="113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unrolls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2965549"/>
            <a:ext cx="507015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 Core Idea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3237508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5240" dir="2700000">
              <a:srgbClr val="b5c1e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832" y="3259187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2878" y="3277295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High-D Neighborhoods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2878" y="3539133"/>
            <a:ext cx="47287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each point, compute a probability distribution over its neighbors using a Gaussian kernel. Nearby points get high probability; distant points near zero.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4016077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524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832" y="4037757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2878" y="4055864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Create a 2D Layout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2878" y="4317702"/>
            <a:ext cx="47287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Initialize a random 2D embedding. Compute analogous probabilities in 2D using a heavier-tailed Student-t distribution.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1475" y="4794647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5240" dir="2700000">
              <a:srgbClr val="b5c1e2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832" y="4816326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2878" y="4834434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Minimize the Difference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2878" y="5096272"/>
            <a:ext cx="47287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 the 2D positions until the 2D probability distributions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match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high-dimensional ones as closely as possible.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37002" y="1839020"/>
            <a:ext cx="5682810" cy="3663255"/>
          </a:xfrm>
          <a:prstGeom prst="roundRect">
            <a:avLst>
              <a:gd name="adj" fmla="val 4551"/>
            </a:avLst>
          </a:prstGeom>
          <a:solidFill>
            <a:srgbClr val="2563EB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52688" y="1919982"/>
            <a:ext cx="54514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High-Dimensional Similarity (Gaussian Kernel)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688" y="2203351"/>
            <a:ext cx="5451438" cy="42733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052688" y="2733179"/>
            <a:ext cx="545143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pⱼ|ᵢ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probability that point i would "pick" point j as a neighbor. Nearby points → high probability · Distant points → near zero.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52688" y="3129062"/>
            <a:ext cx="54514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Neighborhood Preservation — Concrete Example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52688" y="3401020"/>
            <a:ext cx="5451438" cy="663377"/>
          </a:xfrm>
          <a:prstGeom prst="roundRect">
            <a:avLst>
              <a:gd name="adj" fmla="val 1570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5240" dir="2700000">
              <a:srgbClr val="b5c1e2">
                <a:alpha val="10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59038" y="3407370"/>
            <a:ext cx="2719319" cy="650677"/>
          </a:xfrm>
          <a:custGeom>
            <a:avLst/>
            <a:gdLst/>
            <a:ahLst/>
            <a:cxnLst/>
            <a:rect l="l" t="t" r="r" b="b"/>
            <a:pathLst>
              <a:path w="2719319" h="650677">
                <a:moveTo>
                  <a:pt x="86830" y="0"/>
                </a:moveTo>
                <a:lnTo>
                  <a:pt x="2719319" y="0"/>
                </a:lnTo>
                <a:lnTo>
                  <a:pt x="2719319" y="650677"/>
                </a:lnTo>
                <a:lnTo>
                  <a:pt x="86830" y="650677"/>
                </a:lnTo>
                <a:arcTo hR="86832" wR="86830" stAng="5400000" swAng="5400000"/>
                <a:lnTo>
                  <a:pt x="0" y="86832"/>
                </a:lnTo>
                <a:arcTo hR="86832" wR="86830" stAng="10800000" swAng="5400000"/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25" name="Text 22"/>
          <p:cNvSpPr/>
          <p:nvPr/>
        </p:nvSpPr>
        <p:spPr>
          <a:xfrm>
            <a:off x="6174724" y="3523059"/>
            <a:ext cx="24879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High-D Space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74724" y="3784898"/>
            <a:ext cx="24879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A is close to B, C, D · Far from X, Y, Z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78358" y="3407370"/>
            <a:ext cx="2719419" cy="650677"/>
          </a:xfrm>
          <a:custGeom>
            <a:avLst/>
            <a:gdLst/>
            <a:ahLst/>
            <a:cxnLst/>
            <a:rect l="l" t="t" r="r" b="b"/>
            <a:pathLst>
              <a:path w="2719419" h="650677">
                <a:moveTo>
                  <a:pt x="0" y="0"/>
                </a:moveTo>
                <a:lnTo>
                  <a:pt x="2632588" y="0"/>
                </a:lnTo>
                <a:arcTo hR="86832" wR="86830" stAng="16200000" swAng="5400000"/>
                <a:lnTo>
                  <a:pt x="2719419" y="563844"/>
                </a:lnTo>
                <a:arcTo hR="86832" wR="86830" stAng="0" swAng="5400000"/>
                <a:lnTo>
                  <a:pt x="0" y="650677"/>
                </a:lnTo>
                <a:lnTo>
                  <a:pt x="0" y="0"/>
                </a:lnTo>
                <a:close/>
              </a:path>
            </a:pathLst>
          </a:custGeom>
          <a:solidFill>
            <a:srgbClr val="CFDBFC"/>
          </a:solidFill>
          <a:ln/>
        </p:spPr>
      </p:sp>
      <p:sp>
        <p:nvSpPr>
          <p:cNvPr id="28" name="Shape 25"/>
          <p:cNvSpPr/>
          <p:nvPr/>
        </p:nvSpPr>
        <p:spPr>
          <a:xfrm>
            <a:off x="8778358" y="3407370"/>
            <a:ext cx="12700" cy="650677"/>
          </a:xfrm>
          <a:prstGeom prst="roundRect">
            <a:avLst>
              <a:gd name="adj" fmla="val 49999"/>
            </a:avLst>
          </a:prstGeom>
          <a:solidFill>
            <a:srgbClr val="B5C1E2"/>
          </a:solidFill>
          <a:ln/>
        </p:spPr>
      </p:sp>
      <p:sp>
        <p:nvSpPr>
          <p:cNvPr id="29" name="Text 26"/>
          <p:cNvSpPr/>
          <p:nvPr/>
        </p:nvSpPr>
        <p:spPr>
          <a:xfrm>
            <a:off x="8894044" y="3523059"/>
            <a:ext cx="248804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2D Embedding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894044" y="3784898"/>
            <a:ext cx="24880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stays near B, C, D · A remains far from X, Y, Z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52688" y="4155480"/>
            <a:ext cx="5451438" cy="518517"/>
          </a:xfrm>
          <a:prstGeom prst="roundRect">
            <a:avLst>
              <a:gd name="adj" fmla="val 20095"/>
            </a:avLst>
          </a:prstGeom>
          <a:solidFill>
            <a:srgbClr val="4B3F02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75" y="4284663"/>
            <a:ext cx="144657" cy="11568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428718" y="4257278"/>
            <a:ext cx="495972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t-SNE does NOT preserve global distances.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Clusters that appear far apart in 2D do not necessarily mean they are far apart in the original space.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965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 Mathematics &amp; Perplexity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900238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2 — Low-Dimensional Probabilities (Student-t)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56520"/>
            <a:ext cx="5303308" cy="449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94682"/>
            <a:ext cx="530330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Student-t distribution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has heavier tails than a Gaussian. This means that to match a high-D "close" probability, two points in 2D must be brought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close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to match a "far" probability they are pushed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far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result: clusters become tight and well-separated in 2D.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319018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Step 3 — KL Divergence Objective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446462"/>
            <a:ext cx="5303308" cy="3724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907334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Minimize via gradient descent. The cost is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asymmetric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representing a nearby high-D pair as far apart in 2D is penalized much more heavily than the reverse.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61475" y="4260949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Perplexity — Effective Neighborhood Size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517231"/>
            <a:ext cx="5303308" cy="1921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797822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H(Pᵢ) is the Shannon entropy of the conditional distribution.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Typical range: 5–50.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Perplexity must be smaller than the number of samples.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233262" y="1900238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Effect of Perplexity on t-SNE Embeddings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262" y="2146697"/>
            <a:ext cx="2616730" cy="12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7136" y="2227263"/>
            <a:ext cx="12898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353413" y="2576612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Perplexity = 5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353413" y="2814340"/>
            <a:ext cx="237642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local neighborhoods. Points cluster in many small, fragmented groups. Noisy, hard to interpret globally.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9840" y="2146697"/>
            <a:ext cx="2616730" cy="12134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163714" y="2227263"/>
            <a:ext cx="12898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9039991" y="2576612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Perplexity = 30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9039991" y="2814340"/>
            <a:ext cx="237642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Balanced neighborhood size. Moderate, well-separated clusters emerge.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Default — usually best starting point.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3262" y="3429992"/>
            <a:ext cx="5303308" cy="9296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820425" y="3510558"/>
            <a:ext cx="12898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6353413" y="3859907"/>
            <a:ext cx="50630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Perplexity = 50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353413" y="4097635"/>
            <a:ext cx="506300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effective neighborhoods. Tighter macro-clusters, but finer local structure may be smoothed out.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233262" y="4438253"/>
            <a:ext cx="5303308" cy="746720"/>
          </a:xfrm>
          <a:prstGeom prst="roundRect">
            <a:avLst>
              <a:gd name="adj" fmla="val 12957"/>
            </a:avLst>
          </a:prstGeom>
          <a:solidFill>
            <a:srgbClr val="FCF2B5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0713" y="4548783"/>
            <a:ext cx="134339" cy="10745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82503" y="4527848"/>
            <a:ext cx="4846615" cy="56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Critical limitations: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(1) Different perplexity values can produce visually different embeddings of the same data. (2) Clusters in 2D do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automatically correspond to true class labels. (3) Distances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between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distant clusters are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not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meaningful in t-SNE. Always validate cluster interpretations against ground truth.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233262" y="5263555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t-SNE multiple times with different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values and compare — if structure is real, it reproduces.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566"/>
            <a:ext cx="10868745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 vs t-SNE: When to Use Which?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740966"/>
            <a:ext cx="10868745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Head-to-Head Comparison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936030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168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Property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PCA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t-SNE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Linear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Nonlinear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Main Goal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Preserve variance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Preserve local neighborhoods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Interpretability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— components have meaning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Lower — axes are abstract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Global Structure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Well preserved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be distorted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 New Data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 — standard transform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standard — must re-run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71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Speed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 — O(nd²)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Slow — O(n² ) or O(n log n)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68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Primary Use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Preprocessing · Compression · Noise reduction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Visualization · Exploration · Cluster discovery</a:t>
                      </a:r>
                      <a:endParaRPr lang="en-US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3987" marR="839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1097851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1269198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1440544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1611891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1783237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1954584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2125930"/>
            <a:ext cx="10868745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1052" y="2361109"/>
            <a:ext cx="5452827" cy="4035326"/>
          </a:xfrm>
          <a:prstGeom prst="roundRect">
            <a:avLst>
              <a:gd name="adj" fmla="val 2997"/>
            </a:avLst>
          </a:prstGeom>
          <a:solidFill>
            <a:srgbClr val="2563EB">
              <a:alpha val="9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84989" y="2403673"/>
            <a:ext cx="5284953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Python Workflow — scikit-learn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84989" y="2582763"/>
            <a:ext cx="5284953" cy="2453382"/>
          </a:xfrm>
          <a:prstGeom prst="roundRect">
            <a:avLst>
              <a:gd name="adj" fmla="val 3081"/>
            </a:avLst>
          </a:prstGeom>
          <a:solidFill>
            <a:srgbClr val="3270F8"/>
          </a:solidFill>
          <a:ln/>
        </p:spPr>
      </p:sp>
      <p:sp>
        <p:nvSpPr>
          <p:cNvPr id="15" name="Text 12"/>
          <p:cNvSpPr/>
          <p:nvPr/>
        </p:nvSpPr>
        <p:spPr>
          <a:xfrm>
            <a:off x="785694" y="2666702"/>
            <a:ext cx="5083544" cy="228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sklearn.manifold import TSNE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Always scale first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StandardScaler().fit_transform(X)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PCA (compression / preprocessing)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PCA(n_components=2)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print(pca.explained_variance_ratio_)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t-SNE (visualization)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high-D data, apply PCA first to reduce noise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X_50 = PCA(n_components=50).fit_transform(X_scaled)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tsne = TSNE(n_components=2, perplexity=30, random_state=42)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X_tsne = tsne.fit_transform(X_50)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204589" y="2403673"/>
            <a:ext cx="5331981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Best Practice Pipeline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9012" y="2582763"/>
            <a:ext cx="3363035" cy="19959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29723" y="4115767"/>
            <a:ext cx="835958" cy="161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t-SNE 2D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476187" y="4115767"/>
            <a:ext cx="835958" cy="161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PCA 50D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405474" y="4115767"/>
            <a:ext cx="835958" cy="161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Standardize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204589" y="4626670"/>
            <a:ext cx="5331981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Real-World Applications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204589" y="4805759"/>
            <a:ext cx="2644709" cy="750094"/>
          </a:xfrm>
          <a:prstGeom prst="roundRect">
            <a:avLst>
              <a:gd name="adj" fmla="val 1007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0160" dir="2700000">
              <a:srgbClr val="b5c1e2">
                <a:alpha val="10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94875" y="4896048"/>
            <a:ext cx="251910" cy="251916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4128" y="4973935"/>
            <a:ext cx="113305" cy="1133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94875" y="5190530"/>
            <a:ext cx="2464135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294875" y="5364262"/>
            <a:ext cx="246413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PCA compresses pixel spaces before feeding into classifiers</a:t>
            </a:r>
            <a:endParaRPr lang="en-US" sz="650" dirty="0"/>
          </a:p>
        </p:txBody>
      </p:sp>
      <p:sp>
        <p:nvSpPr>
          <p:cNvPr id="27" name="Shape 22"/>
          <p:cNvSpPr/>
          <p:nvPr/>
        </p:nvSpPr>
        <p:spPr>
          <a:xfrm>
            <a:off x="8891861" y="4805759"/>
            <a:ext cx="2644709" cy="750094"/>
          </a:xfrm>
          <a:prstGeom prst="roundRect">
            <a:avLst>
              <a:gd name="adj" fmla="val 1007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0160" dir="2700000">
              <a:srgbClr val="b5c1e2">
                <a:alpha val="10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982148" y="4896048"/>
            <a:ext cx="251910" cy="251916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1401" y="4973935"/>
            <a:ext cx="113305" cy="1133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982148" y="5190530"/>
            <a:ext cx="2464135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NLP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982148" y="5364262"/>
            <a:ext cx="246413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TF-IDF or embedding dimensions for fast retrieval</a:t>
            </a:r>
            <a:endParaRPr lang="en-US" sz="650" dirty="0"/>
          </a:p>
        </p:txBody>
      </p:sp>
      <p:sp>
        <p:nvSpPr>
          <p:cNvPr id="32" name="Shape 26"/>
          <p:cNvSpPr/>
          <p:nvPr/>
        </p:nvSpPr>
        <p:spPr>
          <a:xfrm>
            <a:off x="6204589" y="5598418"/>
            <a:ext cx="2644709" cy="750094"/>
          </a:xfrm>
          <a:prstGeom prst="roundRect">
            <a:avLst>
              <a:gd name="adj" fmla="val 1007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0160" dir="2700000">
              <a:srgbClr val="b5c1e2">
                <a:alpha val="10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94875" y="5688707"/>
            <a:ext cx="251910" cy="251916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4128" y="5766594"/>
            <a:ext cx="113305" cy="1133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294875" y="5983188"/>
            <a:ext cx="2464135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Genomics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6294875" y="6156920"/>
            <a:ext cx="246413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t-SNE reveals cell subtypes in single-cell RNA-seq data</a:t>
            </a:r>
            <a:endParaRPr lang="en-US" sz="650" dirty="0"/>
          </a:p>
        </p:txBody>
      </p:sp>
      <p:sp>
        <p:nvSpPr>
          <p:cNvPr id="37" name="Shape 30"/>
          <p:cNvSpPr/>
          <p:nvPr/>
        </p:nvSpPr>
        <p:spPr>
          <a:xfrm>
            <a:off x="8891861" y="5598418"/>
            <a:ext cx="2644709" cy="750094"/>
          </a:xfrm>
          <a:prstGeom prst="roundRect">
            <a:avLst>
              <a:gd name="adj" fmla="val 10077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10160" dir="2700000">
              <a:srgbClr val="b5c1e2">
                <a:alpha val="10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982148" y="5688707"/>
            <a:ext cx="251910" cy="251916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1401" y="5766594"/>
            <a:ext cx="113305" cy="1133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82148" y="5983188"/>
            <a:ext cx="2464135" cy="131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Analytics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8982148" y="6156920"/>
            <a:ext cx="2464135" cy="10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 customers by behavior using t-SNE cluster visualization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2026-09-16T05:21:19Z</dcterms:created>
  <dcterms:modified xsi:type="dcterms:W3CDTF">2026-09-16T05:21:19Z</dcterms:modified>
</cp:coreProperties>
</file>