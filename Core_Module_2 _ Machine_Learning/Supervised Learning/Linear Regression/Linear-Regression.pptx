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embeddedFontLst>
    <p:embeddedFont>
      <p:font typeface="Raleway Bold"/>
      <p:regular r:id="rId201314"/>
    </p:embeddedFont>
    <p:embeddedFont>
      <p:font typeface="Raleway"/>
      <p:regular r:id="rId201315"/>
    </p:embeddedFont>
    <p:embeddedFont>
      <p:font typeface="Roboto"/>
      <p:regular r:id="rId201316"/>
    </p:embeddedFont>
    <p:embeddedFont>
      <p:font typeface="Roboto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3.png"/><Relationship Id="rId6" Type="http://schemas.openxmlformats.org/officeDocument/2006/relationships/image" Target="../media/image-5-4.svg"/><Relationship Id="rId7" Type="http://schemas.openxmlformats.org/officeDocument/2006/relationships/image" Target="../media/image-5-3.png"/><Relationship Id="rId8" Type="http://schemas.openxmlformats.org/officeDocument/2006/relationships/image" Target="../media/image-5-4.svg"/><Relationship Id="rId9" Type="http://schemas.openxmlformats.org/officeDocument/2006/relationships/image" Target="../media/image-5-3.png"/><Relationship Id="rId10" Type="http://schemas.openxmlformats.org/officeDocument/2006/relationships/image" Target="../media/image-5-4.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1.png"/><Relationship Id="rId14" Type="http://schemas.openxmlformats.org/officeDocument/2006/relationships/image" Target="../media/image-5-12.svg"/><Relationship Id="rId15" Type="http://schemas.openxmlformats.org/officeDocument/2006/relationships/image" Target="../media/image-5-11.png"/><Relationship Id="rId16" Type="http://schemas.openxmlformats.org/officeDocument/2006/relationships/image" Target="../media/image-5-12.svg"/><Relationship Id="rId17" Type="http://schemas.openxmlformats.org/officeDocument/2006/relationships/slideLayout" Target="../slideLayouts/slideLayout2.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3.png"/><Relationship Id="rId6" Type="http://schemas.openxmlformats.org/officeDocument/2006/relationships/image" Target="../media/image-7-4.svg"/><Relationship Id="rId7" Type="http://schemas.openxmlformats.org/officeDocument/2006/relationships/image" Target="../media/image-7-3.png"/><Relationship Id="rId8" Type="http://schemas.openxmlformats.org/officeDocument/2006/relationships/image" Target="../media/image-7-4.sv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70842" y="380181"/>
            <a:ext cx="3287241" cy="4383063"/>
          </a:xfrm>
          <a:prstGeom prst="rect">
            <a:avLst/>
          </a:prstGeom>
        </p:spPr>
      </p:pic>
      <p:sp>
        <p:nvSpPr>
          <p:cNvPr id="4" name="Text 1"/>
          <p:cNvSpPr/>
          <p:nvPr/>
        </p:nvSpPr>
        <p:spPr>
          <a:xfrm>
            <a:off x="3925119" y="615032"/>
            <a:ext cx="4722763" cy="442987"/>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Linear Regression</a:t>
            </a:r>
            <a:endParaRPr lang="en-US" sz="2750" dirty="0"/>
          </a:p>
        </p:txBody>
      </p:sp>
      <p:sp>
        <p:nvSpPr>
          <p:cNvPr id="5" name="Text 2"/>
          <p:cNvSpPr/>
          <p:nvPr/>
        </p:nvSpPr>
        <p:spPr>
          <a:xfrm>
            <a:off x="3925119" y="1270620"/>
            <a:ext cx="4722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A foundational Machine Learning algorithm for predicting continuous numerical values — from house prices to exam scores to salaries.</a:t>
            </a:r>
            <a:endParaRPr lang="en-US" sz="1100" dirty="0"/>
          </a:p>
        </p:txBody>
      </p:sp>
      <p:pic>
        <p:nvPicPr>
          <p:cNvPr id="6" name="Image 1" descr="preencoded.png">    </p:cNvPr>
          <p:cNvPicPr>
            <a:picLocks noChangeAspect="1"/>
          </p:cNvPicPr>
          <p:nvPr/>
        </p:nvPicPr>
        <p:blipFill>
          <a:blip r:embed="rId2"/>
          <a:stretch>
            <a:fillRect/>
          </a:stretch>
        </p:blipFill>
        <p:spPr>
          <a:xfrm>
            <a:off x="3925119" y="1883718"/>
            <a:ext cx="4722763" cy="26446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476473"/>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Linear Regression Formula</a:t>
            </a:r>
            <a:endParaRPr lang="en-US" sz="2750" dirty="0"/>
          </a:p>
        </p:txBody>
      </p:sp>
      <p:sp>
        <p:nvSpPr>
          <p:cNvPr id="3" name="Text 1"/>
          <p:cNvSpPr/>
          <p:nvPr/>
        </p:nvSpPr>
        <p:spPr>
          <a:xfrm>
            <a:off x="708720" y="1433289"/>
            <a:ext cx="4964981" cy="354360"/>
          </a:xfrm>
          <a:prstGeom prst="rect">
            <a:avLst/>
          </a:prstGeom>
          <a:noFill/>
          <a:ln/>
        </p:spPr>
        <p:txBody>
          <a:bodyPr wrap="none" lIns="0" tIns="0" rIns="0" bIns="0" rtlCol="0" anchor="t"/>
          <a:lstStyle/>
          <a:p>
            <a:pPr algn="ctr" indent="0" marL="0">
              <a:lnSpc>
                <a:spcPct val="104000"/>
              </a:lnSpc>
              <a:buNone/>
            </a:pPr>
            <a:r>
              <a:rPr lang="en-US" sz="2200" dirty="0">
                <a:solidFill>
                  <a:srgbClr val="1B1B27"/>
                </a:solidFill>
                <a:latin typeface="Raleway" pitchFamily="34" charset="0"/>
                <a:ea typeface="Raleway" pitchFamily="34" charset="-122"/>
                <a:cs typeface="Raleway" pitchFamily="34" charset="-120"/>
              </a:rPr>
              <a:t>y = mx + b</a:t>
            </a:r>
            <a:endParaRPr lang="en-US" sz="2200" dirty="0"/>
          </a:p>
        </p:txBody>
      </p:sp>
      <p:sp>
        <p:nvSpPr>
          <p:cNvPr id="4" name="Shape 2"/>
          <p:cNvSpPr/>
          <p:nvPr/>
        </p:nvSpPr>
        <p:spPr>
          <a:xfrm>
            <a:off x="496119" y="1291530"/>
            <a:ext cx="19050" cy="637877"/>
          </a:xfrm>
          <a:prstGeom prst="roundRect">
            <a:avLst>
              <a:gd name="adj" fmla="val 50000"/>
            </a:avLst>
          </a:prstGeom>
          <a:solidFill>
            <a:srgbClr val="1B1B27"/>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088877"/>
            <a:ext cx="2517874" cy="1138461"/>
          </a:xfrm>
          <a:prstGeom prst="rect">
            <a:avLst/>
          </a:prstGeom>
        </p:spPr>
      </p:pic>
      <p:sp>
        <p:nvSpPr>
          <p:cNvPr id="6" name="Text 3"/>
          <p:cNvSpPr/>
          <p:nvPr/>
        </p:nvSpPr>
        <p:spPr>
          <a:xfrm>
            <a:off x="733127" y="2249686"/>
            <a:ext cx="2120057" cy="221456"/>
          </a:xfrm>
          <a:prstGeom prst="rect">
            <a:avLst/>
          </a:prstGeom>
          <a:noFill/>
          <a:ln/>
        </p:spPr>
        <p:txBody>
          <a:bodyPr wrap="none" lIns="0" tIns="0" rIns="0" bIns="0" rtlCol="0" anchor="t"/>
          <a:lstStyle/>
          <a:p>
            <a:pPr algn="l" indent="0" marL="0">
              <a:lnSpc>
                <a:spcPct val="104000"/>
              </a:lnSpc>
              <a:buNone/>
            </a:pPr>
            <a:r>
              <a:rPr lang="en-US" sz="1350" dirty="0">
                <a:solidFill>
                  <a:srgbClr val="1B1B27"/>
                </a:solidFill>
                <a:latin typeface="Raleway" pitchFamily="34" charset="0"/>
                <a:ea typeface="Raleway" pitchFamily="34" charset="-122"/>
                <a:cs typeface="Raleway" pitchFamily="34" charset="-120"/>
              </a:rPr>
              <a:t>y</a:t>
            </a:r>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 — Predicted Value</a:t>
            </a:r>
            <a:endParaRPr lang="en-US" sz="1350" dirty="0"/>
          </a:p>
        </p:txBody>
      </p:sp>
      <p:sp>
        <p:nvSpPr>
          <p:cNvPr id="7" name="Text 4"/>
          <p:cNvSpPr/>
          <p:nvPr/>
        </p:nvSpPr>
        <p:spPr>
          <a:xfrm>
            <a:off x="733127" y="2612901"/>
            <a:ext cx="212005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The dependent variable / output we want to estimate.</a:t>
            </a:r>
            <a:endParaRPr lang="en-US" sz="11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55752" y="2088877"/>
            <a:ext cx="2517949" cy="1138461"/>
          </a:xfrm>
          <a:prstGeom prst="rect">
            <a:avLst/>
          </a:prstGeom>
        </p:spPr>
      </p:pic>
      <p:sp>
        <p:nvSpPr>
          <p:cNvPr id="9" name="Text 5"/>
          <p:cNvSpPr/>
          <p:nvPr/>
        </p:nvSpPr>
        <p:spPr>
          <a:xfrm>
            <a:off x="3392760" y="2249686"/>
            <a:ext cx="2120131" cy="221456"/>
          </a:xfrm>
          <a:prstGeom prst="rect">
            <a:avLst/>
          </a:prstGeom>
          <a:noFill/>
          <a:ln/>
        </p:spPr>
        <p:txBody>
          <a:bodyPr wrap="none" lIns="0" tIns="0" rIns="0" bIns="0" rtlCol="0" anchor="t"/>
          <a:lstStyle/>
          <a:p>
            <a:pPr algn="l" indent="0" marL="0">
              <a:lnSpc>
                <a:spcPct val="104000"/>
              </a:lnSpc>
              <a:buNone/>
            </a:pPr>
            <a:r>
              <a:rPr lang="en-US" sz="1350" dirty="0">
                <a:solidFill>
                  <a:srgbClr val="1B1B27"/>
                </a:solidFill>
                <a:latin typeface="Raleway" pitchFamily="34" charset="0"/>
                <a:ea typeface="Raleway" pitchFamily="34" charset="-122"/>
                <a:cs typeface="Raleway" pitchFamily="34" charset="-120"/>
              </a:rPr>
              <a:t>x</a:t>
            </a:r>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 — Input Value</a:t>
            </a:r>
            <a:endParaRPr lang="en-US" sz="1350" dirty="0"/>
          </a:p>
        </p:txBody>
      </p:sp>
      <p:sp>
        <p:nvSpPr>
          <p:cNvPr id="10" name="Text 6"/>
          <p:cNvSpPr/>
          <p:nvPr/>
        </p:nvSpPr>
        <p:spPr>
          <a:xfrm>
            <a:off x="3392760" y="2612901"/>
            <a:ext cx="2120131"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The independent variable / feature we provide.</a:t>
            </a:r>
            <a:endParaRPr lang="en-US" sz="11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369097"/>
            <a:ext cx="2517874" cy="1138461"/>
          </a:xfrm>
          <a:prstGeom prst="rect">
            <a:avLst/>
          </a:prstGeom>
        </p:spPr>
      </p:pic>
      <p:sp>
        <p:nvSpPr>
          <p:cNvPr id="12" name="Text 7"/>
          <p:cNvSpPr/>
          <p:nvPr/>
        </p:nvSpPr>
        <p:spPr>
          <a:xfrm>
            <a:off x="733127" y="3529905"/>
            <a:ext cx="2120057" cy="221456"/>
          </a:xfrm>
          <a:prstGeom prst="rect">
            <a:avLst/>
          </a:prstGeom>
          <a:noFill/>
          <a:ln/>
        </p:spPr>
        <p:txBody>
          <a:bodyPr wrap="none" lIns="0" tIns="0" rIns="0" bIns="0" rtlCol="0" anchor="t"/>
          <a:lstStyle/>
          <a:p>
            <a:pPr algn="l" indent="0" marL="0">
              <a:lnSpc>
                <a:spcPct val="104000"/>
              </a:lnSpc>
              <a:buNone/>
            </a:pPr>
            <a:r>
              <a:rPr lang="en-US" sz="1350" dirty="0">
                <a:solidFill>
                  <a:srgbClr val="1B1B27"/>
                </a:solidFill>
                <a:latin typeface="Raleway" pitchFamily="34" charset="0"/>
                <a:ea typeface="Raleway" pitchFamily="34" charset="-122"/>
                <a:cs typeface="Raleway" pitchFamily="34" charset="-120"/>
              </a:rPr>
              <a:t>m</a:t>
            </a:r>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 — Slope</a:t>
            </a:r>
            <a:endParaRPr lang="en-US" sz="1350" dirty="0"/>
          </a:p>
        </p:txBody>
      </p:sp>
      <p:sp>
        <p:nvSpPr>
          <p:cNvPr id="13" name="Text 8"/>
          <p:cNvSpPr/>
          <p:nvPr/>
        </p:nvSpPr>
        <p:spPr>
          <a:xfrm>
            <a:off x="733127" y="3893121"/>
            <a:ext cx="212005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How much </a:t>
            </a:r>
            <a:pPr algn="l" indent="0" marL="0">
              <a:lnSpc>
                <a:spcPct val="133000"/>
              </a:lnSpc>
              <a:buNone/>
            </a:pPr>
            <a:r>
              <a:rPr lang="en-US" sz="1100" b="1" dirty="0">
                <a:solidFill>
                  <a:srgbClr val="3C3939"/>
                </a:solidFill>
                <a:latin typeface="Roboto Bold" pitchFamily="34" charset="0"/>
                <a:ea typeface="Roboto Bold" pitchFamily="34" charset="-122"/>
                <a:cs typeface="Roboto Bold" pitchFamily="34" charset="-120"/>
              </a:rPr>
              <a:t>y</a:t>
            </a:r>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 changes when </a:t>
            </a:r>
            <a:pPr algn="l" indent="0" marL="0">
              <a:lnSpc>
                <a:spcPct val="133000"/>
              </a:lnSpc>
              <a:buNone/>
            </a:pPr>
            <a:r>
              <a:rPr lang="en-US" sz="1100" b="1" dirty="0">
                <a:solidFill>
                  <a:srgbClr val="3C3939"/>
                </a:solidFill>
                <a:latin typeface="Roboto Bold" pitchFamily="34" charset="0"/>
                <a:ea typeface="Roboto Bold" pitchFamily="34" charset="-122"/>
                <a:cs typeface="Roboto Bold" pitchFamily="34" charset="-120"/>
              </a:rPr>
              <a:t>x</a:t>
            </a:r>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 increases by 1 unit.</a:t>
            </a:r>
            <a:endParaRPr lang="en-US" sz="11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55752" y="3369097"/>
            <a:ext cx="2517949" cy="1138461"/>
          </a:xfrm>
          <a:prstGeom prst="rect">
            <a:avLst/>
          </a:prstGeom>
        </p:spPr>
      </p:pic>
      <p:sp>
        <p:nvSpPr>
          <p:cNvPr id="15" name="Text 9"/>
          <p:cNvSpPr/>
          <p:nvPr/>
        </p:nvSpPr>
        <p:spPr>
          <a:xfrm>
            <a:off x="3392760" y="3529905"/>
            <a:ext cx="2120131" cy="221456"/>
          </a:xfrm>
          <a:prstGeom prst="rect">
            <a:avLst/>
          </a:prstGeom>
          <a:noFill/>
          <a:ln/>
        </p:spPr>
        <p:txBody>
          <a:bodyPr wrap="none" lIns="0" tIns="0" rIns="0" bIns="0" rtlCol="0" anchor="t"/>
          <a:lstStyle/>
          <a:p>
            <a:pPr algn="l" indent="0" marL="0">
              <a:lnSpc>
                <a:spcPct val="104000"/>
              </a:lnSpc>
              <a:buNone/>
            </a:pPr>
            <a:r>
              <a:rPr lang="en-US" sz="1350" dirty="0">
                <a:solidFill>
                  <a:srgbClr val="1B1B27"/>
                </a:solidFill>
                <a:latin typeface="Raleway" pitchFamily="34" charset="0"/>
                <a:ea typeface="Raleway" pitchFamily="34" charset="-122"/>
                <a:cs typeface="Raleway" pitchFamily="34" charset="-120"/>
              </a:rPr>
              <a:t>b</a:t>
            </a:r>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 — Y-Intercept / Bias</a:t>
            </a:r>
            <a:endParaRPr lang="en-US" sz="1350" dirty="0"/>
          </a:p>
        </p:txBody>
      </p:sp>
      <p:sp>
        <p:nvSpPr>
          <p:cNvPr id="16" name="Text 10"/>
          <p:cNvSpPr/>
          <p:nvPr/>
        </p:nvSpPr>
        <p:spPr>
          <a:xfrm>
            <a:off x="3392760" y="3893121"/>
            <a:ext cx="2120131"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The predicted value of </a:t>
            </a:r>
            <a:pPr algn="l" indent="0" marL="0">
              <a:lnSpc>
                <a:spcPct val="133000"/>
              </a:lnSpc>
              <a:buNone/>
            </a:pPr>
            <a:r>
              <a:rPr lang="en-US" sz="1100" b="1" dirty="0">
                <a:solidFill>
                  <a:srgbClr val="3C3939"/>
                </a:solidFill>
                <a:latin typeface="Roboto Bold" pitchFamily="34" charset="0"/>
                <a:ea typeface="Roboto Bold" pitchFamily="34" charset="-122"/>
                <a:cs typeface="Roboto Bold" pitchFamily="34" charset="-120"/>
              </a:rPr>
              <a:t>y</a:t>
            </a:r>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 when </a:t>
            </a:r>
            <a:pPr algn="l" indent="0" marL="0">
              <a:lnSpc>
                <a:spcPct val="133000"/>
              </a:lnSpc>
              <a:buNone/>
            </a:pPr>
            <a:r>
              <a:rPr lang="en-US" sz="1100" b="1" dirty="0">
                <a:solidFill>
                  <a:srgbClr val="3C3939"/>
                </a:solidFill>
                <a:latin typeface="Roboto Bold" pitchFamily="34" charset="0"/>
                <a:ea typeface="Roboto Bold" pitchFamily="34" charset="-122"/>
                <a:cs typeface="Roboto Bold" pitchFamily="34" charset="-120"/>
              </a:rPr>
              <a:t>x = 0</a:t>
            </a:r>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a:t>
            </a:r>
            <a:endParaRPr lang="en-US" sz="1100" dirty="0"/>
          </a:p>
        </p:txBody>
      </p:sp>
      <p:pic>
        <p:nvPicPr>
          <p:cNvPr id="17" name="Image 4" descr="preencoded.png">    </p:cNvPr>
          <p:cNvPicPr>
            <a:picLocks noChangeAspect="1"/>
          </p:cNvPicPr>
          <p:nvPr/>
        </p:nvPicPr>
        <p:blipFill>
          <a:blip r:embed="rId9"/>
          <a:stretch>
            <a:fillRect/>
          </a:stretch>
        </p:blipFill>
        <p:spPr>
          <a:xfrm>
            <a:off x="6024339" y="1585392"/>
            <a:ext cx="2628230" cy="26282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14486"/>
            <a:ext cx="8151763" cy="394543"/>
          </a:xfrm>
          <a:prstGeom prst="rect">
            <a:avLst/>
          </a:prstGeom>
          <a:noFill/>
          <a:ln/>
        </p:spPr>
        <p:txBody>
          <a:bodyPr wrap="none" lIns="0" tIns="0" rIns="0" bIns="0" rtlCol="0" anchor="t"/>
          <a:lstStyle/>
          <a:p>
            <a:pPr algn="l" indent="0" marL="0">
              <a:lnSpc>
                <a:spcPct val="104000"/>
              </a:lnSpc>
              <a:buNone/>
            </a:pPr>
            <a:r>
              <a:rPr lang="en-US" sz="2450" dirty="0">
                <a:solidFill>
                  <a:srgbClr val="1B1B27"/>
                </a:solidFill>
                <a:latin typeface="Raleway" pitchFamily="34" charset="0"/>
                <a:ea typeface="Raleway" pitchFamily="34" charset="-122"/>
                <a:cs typeface="Raleway" pitchFamily="34" charset="-120"/>
              </a:rPr>
              <a:t>Understanding Regression</a:t>
            </a:r>
            <a:endParaRPr lang="en-US" sz="2450" dirty="0"/>
          </a:p>
        </p:txBody>
      </p:sp>
      <p:pic>
        <p:nvPicPr>
          <p:cNvPr id="3" name="Image 0" descr="preencoded.png">    </p:cNvPr>
          <p:cNvPicPr>
            <a:picLocks noChangeAspect="1"/>
          </p:cNvPicPr>
          <p:nvPr/>
        </p:nvPicPr>
        <p:blipFill>
          <a:blip r:embed="rId1"/>
          <a:stretch>
            <a:fillRect/>
          </a:stretch>
        </p:blipFill>
        <p:spPr>
          <a:xfrm>
            <a:off x="496119" y="1104826"/>
            <a:ext cx="2652861" cy="2652861"/>
          </a:xfrm>
          <a:prstGeom prst="rect">
            <a:avLst/>
          </a:prstGeom>
        </p:spPr>
      </p:pic>
      <p:sp>
        <p:nvSpPr>
          <p:cNvPr id="4" name="Text 1"/>
          <p:cNvSpPr/>
          <p:nvPr/>
        </p:nvSpPr>
        <p:spPr>
          <a:xfrm>
            <a:off x="3461817" y="1078855"/>
            <a:ext cx="5190753" cy="674043"/>
          </a:xfrm>
          <a:prstGeom prst="rect">
            <a:avLst/>
          </a:prstGeom>
          <a:noFill/>
          <a:ln/>
        </p:spPr>
        <p:txBody>
          <a:bodyPr wrap="square" lIns="0" tIns="0" rIns="0" bIns="0" rtlCol="0" anchor="t">
            <a:normAutofit/>
          </a:bodyPr>
          <a:lstStyle/>
          <a:p>
            <a:pPr algn="l" indent="0" marL="0">
              <a:lnSpc>
                <a:spcPct val="126000"/>
              </a:lnSpc>
              <a:spcAft>
                <a:spcPts val="750"/>
              </a:spcAft>
              <a:buNone/>
            </a:pPr>
            <a:r>
              <a:rPr lang="en-US" sz="950" dirty="0">
                <a:solidFill>
                  <a:srgbClr val="3C3939"/>
                </a:solidFill>
                <a:latin typeface="Roboto" pitchFamily="34" charset="0"/>
                <a:ea typeface="Roboto" pitchFamily="34" charset="-122"/>
                <a:cs typeface="Roboto" pitchFamily="34" charset="-120"/>
              </a:rPr>
              <a:t>Regression is used to </a:t>
            </a:r>
            <a:pPr algn="l" indent="0" marL="0">
              <a:lnSpc>
                <a:spcPct val="126000"/>
              </a:lnSpc>
              <a:spcAft>
                <a:spcPts val="750"/>
              </a:spcAft>
              <a:buNone/>
            </a:pPr>
            <a:r>
              <a:rPr lang="en-US" sz="950" b="1" dirty="0">
                <a:solidFill>
                  <a:srgbClr val="3C3939"/>
                </a:solidFill>
                <a:latin typeface="Roboto Bold" pitchFamily="34" charset="0"/>
                <a:ea typeface="Roboto Bold" pitchFamily="34" charset="-122"/>
                <a:cs typeface="Roboto Bold" pitchFamily="34" charset="-120"/>
              </a:rPr>
              <a:t>predict numerical / continuous values</a:t>
            </a:r>
            <a:pPr algn="l" indent="0" marL="0">
              <a:lnSpc>
                <a:spcPct val="126000"/>
              </a:lnSpc>
              <a:spcAft>
                <a:spcPts val="750"/>
              </a:spcAft>
              <a:buNone/>
            </a:pPr>
            <a:r>
              <a:rPr lang="en-US" sz="950" dirty="0">
                <a:solidFill>
                  <a:srgbClr val="3C3939"/>
                </a:solidFill>
                <a:latin typeface="Roboto" pitchFamily="34" charset="0"/>
                <a:ea typeface="Roboto" pitchFamily="34" charset="-122"/>
                <a:cs typeface="Roboto" pitchFamily="34" charset="-120"/>
              </a:rPr>
              <a:t>. It identifies relationships between variables so that one can be used to predict another.</a:t>
            </a:r>
            <a:endParaRPr lang="en-US" sz="950" dirty="0"/>
          </a:p>
          <a:p>
            <a:pPr algn="l" indent="0" marL="0">
              <a:lnSpc>
                <a:spcPct val="126000"/>
              </a:lnSpc>
              <a:buNone/>
            </a:pPr>
            <a:r>
              <a:rPr lang="en-US" sz="950" b="1" dirty="0">
                <a:solidFill>
                  <a:srgbClr val="3C3939"/>
                </a:solidFill>
                <a:latin typeface="Roboto Bold" pitchFamily="34" charset="0"/>
                <a:ea typeface="Roboto Bold" pitchFamily="34" charset="-122"/>
                <a:cs typeface="Roboto Bold" pitchFamily="34" charset="-120"/>
              </a:rPr>
              <a:t>Example:</a:t>
            </a:r>
            <a:pPr algn="l" indent="0" marL="0">
              <a:lnSpc>
                <a:spcPct val="126000"/>
              </a:lnSpc>
              <a:buNone/>
            </a:pPr>
            <a:r>
              <a:rPr lang="en-US" sz="950" dirty="0">
                <a:solidFill>
                  <a:srgbClr val="3C3939"/>
                </a:solidFill>
                <a:latin typeface="Roboto" pitchFamily="34" charset="0"/>
                <a:ea typeface="Roboto" pitchFamily="34" charset="-122"/>
                <a:cs typeface="Roboto" pitchFamily="34" charset="-120"/>
              </a:rPr>
              <a:t> Hours Studied → Exam Score</a:t>
            </a:r>
            <a:endParaRPr lang="en-US" sz="950" dirty="0"/>
          </a:p>
        </p:txBody>
      </p:sp>
      <p:pic>
        <p:nvPicPr>
          <p:cNvPr id="5" name="Image 1" descr="preencoded.png">    </p:cNvPr>
          <p:cNvPicPr>
            <a:picLocks noChangeAspect="1"/>
          </p:cNvPicPr>
          <p:nvPr/>
        </p:nvPicPr>
        <p:blipFill>
          <a:blip r:embed="rId2"/>
          <a:stretch>
            <a:fillRect/>
          </a:stretch>
        </p:blipFill>
        <p:spPr>
          <a:xfrm>
            <a:off x="3461817" y="1879402"/>
            <a:ext cx="5190753" cy="1879029"/>
          </a:xfrm>
          <a:prstGeom prst="rect">
            <a:avLst/>
          </a:prstGeom>
        </p:spPr>
      </p:pic>
      <p:sp>
        <p:nvSpPr>
          <p:cNvPr id="6" name="Text 2"/>
          <p:cNvSpPr/>
          <p:nvPr/>
        </p:nvSpPr>
        <p:spPr>
          <a:xfrm>
            <a:off x="3842896" y="3299760"/>
            <a:ext cx="1300312" cy="162539"/>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Raleway" pitchFamily="34" charset="0"/>
                <a:ea typeface="Raleway" pitchFamily="34" charset="-122"/>
                <a:cs typeface="Raleway" pitchFamily="34" charset="-120"/>
              </a:rPr>
              <a:t>Predicted Score</a:t>
            </a:r>
            <a:endParaRPr lang="en-US" sz="1000" dirty="0"/>
          </a:p>
        </p:txBody>
      </p:sp>
      <p:sp>
        <p:nvSpPr>
          <p:cNvPr id="7" name="Text 3"/>
          <p:cNvSpPr/>
          <p:nvPr/>
        </p:nvSpPr>
        <p:spPr>
          <a:xfrm>
            <a:off x="3842896" y="2733402"/>
            <a:ext cx="1300312" cy="162539"/>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Raleway" pitchFamily="34" charset="0"/>
                <a:ea typeface="Raleway" pitchFamily="34" charset="-122"/>
                <a:cs typeface="Raleway" pitchFamily="34" charset="-120"/>
              </a:rPr>
              <a:t>Linear Regression</a:t>
            </a:r>
            <a:endParaRPr lang="en-US" sz="1000" dirty="0"/>
          </a:p>
        </p:txBody>
      </p:sp>
      <p:sp>
        <p:nvSpPr>
          <p:cNvPr id="8" name="Text 4"/>
          <p:cNvSpPr/>
          <p:nvPr/>
        </p:nvSpPr>
        <p:spPr>
          <a:xfrm>
            <a:off x="3842896" y="2161265"/>
            <a:ext cx="1300312" cy="162539"/>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Raleway" pitchFamily="34" charset="0"/>
                <a:ea typeface="Raleway" pitchFamily="34" charset="-122"/>
                <a:cs typeface="Raleway" pitchFamily="34" charset="-120"/>
              </a:rPr>
              <a:t>Hours Studied</a:t>
            </a:r>
            <a:endParaRPr lang="en-US" sz="1000" dirty="0"/>
          </a:p>
        </p:txBody>
      </p:sp>
      <p:sp>
        <p:nvSpPr>
          <p:cNvPr id="9" name="Shape 5"/>
          <p:cNvSpPr/>
          <p:nvPr/>
        </p:nvSpPr>
        <p:spPr>
          <a:xfrm>
            <a:off x="496119" y="4011439"/>
            <a:ext cx="4019624" cy="717575"/>
          </a:xfrm>
          <a:prstGeom prst="roundRect">
            <a:avLst>
              <a:gd name="adj" fmla="val 7390"/>
            </a:avLst>
          </a:prstGeom>
          <a:solidFill>
            <a:srgbClr val="E1E1EA"/>
          </a:solidFill>
          <a:ln w="4763">
            <a:solidFill>
              <a:srgbClr val="C7C7D0"/>
            </a:solidFill>
            <a:prstDash val="solid"/>
          </a:ln>
        </p:spPr>
      </p:sp>
      <p:sp>
        <p:nvSpPr>
          <p:cNvPr id="10" name="Text 6"/>
          <p:cNvSpPr/>
          <p:nvPr/>
        </p:nvSpPr>
        <p:spPr>
          <a:xfrm>
            <a:off x="627087" y="4142408"/>
            <a:ext cx="3757687" cy="197272"/>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Independent Variable (X)</a:t>
            </a:r>
            <a:endParaRPr lang="en-US" sz="1200" dirty="0"/>
          </a:p>
        </p:txBody>
      </p:sp>
      <p:sp>
        <p:nvSpPr>
          <p:cNvPr id="11" name="Text 7"/>
          <p:cNvSpPr/>
          <p:nvPr/>
        </p:nvSpPr>
        <p:spPr>
          <a:xfrm>
            <a:off x="627087" y="4407098"/>
            <a:ext cx="3757687" cy="190946"/>
          </a:xfrm>
          <a:prstGeom prst="rect">
            <a:avLst/>
          </a:prstGeom>
          <a:noFill/>
          <a:ln/>
        </p:spPr>
        <p:txBody>
          <a:bodyPr wrap="none" lIns="0" tIns="0" rIns="0" bIns="0" rtlCol="0" anchor="t"/>
          <a:lstStyle/>
          <a:p>
            <a:pPr algn="l" indent="0" marL="0">
              <a:lnSpc>
                <a:spcPct val="126000"/>
              </a:lnSpc>
              <a:buNone/>
            </a:pPr>
            <a:r>
              <a:rPr lang="en-US" sz="950" dirty="0">
                <a:solidFill>
                  <a:srgbClr val="3C3939"/>
                </a:solidFill>
                <a:latin typeface="Roboto" pitchFamily="34" charset="0"/>
                <a:ea typeface="Roboto" pitchFamily="34" charset="-122"/>
                <a:cs typeface="Roboto" pitchFamily="34" charset="-120"/>
              </a:rPr>
              <a:t>Input · Predictor · Feature</a:t>
            </a:r>
            <a:endParaRPr lang="en-US" sz="950" dirty="0"/>
          </a:p>
        </p:txBody>
      </p:sp>
      <p:sp>
        <p:nvSpPr>
          <p:cNvPr id="12" name="Shape 8"/>
          <p:cNvSpPr/>
          <p:nvPr/>
        </p:nvSpPr>
        <p:spPr>
          <a:xfrm>
            <a:off x="4628183" y="4011439"/>
            <a:ext cx="4019699" cy="717575"/>
          </a:xfrm>
          <a:prstGeom prst="roundRect">
            <a:avLst>
              <a:gd name="adj" fmla="val 7390"/>
            </a:avLst>
          </a:prstGeom>
          <a:solidFill>
            <a:srgbClr val="E1E1EA"/>
          </a:solidFill>
          <a:ln w="4763">
            <a:solidFill>
              <a:srgbClr val="C7C7D0"/>
            </a:solidFill>
            <a:prstDash val="solid"/>
          </a:ln>
        </p:spPr>
      </p:sp>
      <p:sp>
        <p:nvSpPr>
          <p:cNvPr id="13" name="Text 9"/>
          <p:cNvSpPr/>
          <p:nvPr/>
        </p:nvSpPr>
        <p:spPr>
          <a:xfrm>
            <a:off x="4759151" y="4142408"/>
            <a:ext cx="3757761" cy="197272"/>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Dependent Variable (Y)</a:t>
            </a:r>
            <a:endParaRPr lang="en-US" sz="1200" dirty="0"/>
          </a:p>
        </p:txBody>
      </p:sp>
      <p:sp>
        <p:nvSpPr>
          <p:cNvPr id="14" name="Text 10"/>
          <p:cNvSpPr/>
          <p:nvPr/>
        </p:nvSpPr>
        <p:spPr>
          <a:xfrm>
            <a:off x="4759151" y="4407098"/>
            <a:ext cx="3757761" cy="190946"/>
          </a:xfrm>
          <a:prstGeom prst="rect">
            <a:avLst/>
          </a:prstGeom>
          <a:noFill/>
          <a:ln/>
        </p:spPr>
        <p:txBody>
          <a:bodyPr wrap="none" lIns="0" tIns="0" rIns="0" bIns="0" rtlCol="0" anchor="t"/>
          <a:lstStyle/>
          <a:p>
            <a:pPr algn="l" indent="0" marL="0">
              <a:lnSpc>
                <a:spcPct val="126000"/>
              </a:lnSpc>
              <a:buNone/>
            </a:pPr>
            <a:r>
              <a:rPr lang="en-US" sz="950" dirty="0">
                <a:solidFill>
                  <a:srgbClr val="3C3939"/>
                </a:solidFill>
                <a:latin typeface="Roboto" pitchFamily="34" charset="0"/>
                <a:ea typeface="Roboto" pitchFamily="34" charset="-122"/>
                <a:cs typeface="Roboto" pitchFamily="34" charset="-120"/>
              </a:rPr>
              <a:t>Output · Target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67494" y="375717"/>
            <a:ext cx="3293938" cy="4391992"/>
          </a:xfrm>
          <a:prstGeom prst="rect">
            <a:avLst/>
          </a:prstGeom>
        </p:spPr>
      </p:pic>
      <p:sp>
        <p:nvSpPr>
          <p:cNvPr id="4" name="Text 1"/>
          <p:cNvSpPr/>
          <p:nvPr/>
        </p:nvSpPr>
        <p:spPr>
          <a:xfrm>
            <a:off x="3925119" y="459284"/>
            <a:ext cx="4722763" cy="844600"/>
          </a:xfrm>
          <a:prstGeom prst="rect">
            <a:avLst/>
          </a:prstGeom>
          <a:noFill/>
          <a:ln/>
        </p:spPr>
        <p:txBody>
          <a:bodyPr wrap="square" lIns="0" tIns="0" rIns="0" bIns="0" rtlCol="0" anchor="t">
            <a:normAutofit/>
          </a:bodyPr>
          <a:lstStyle/>
          <a:p>
            <a:pPr algn="l" indent="0" marL="0">
              <a:lnSpc>
                <a:spcPct val="104000"/>
              </a:lnSpc>
              <a:buNone/>
            </a:pPr>
            <a:r>
              <a:rPr lang="en-US" sz="2650" dirty="0">
                <a:solidFill>
                  <a:srgbClr val="1B1B27"/>
                </a:solidFill>
                <a:latin typeface="Raleway" pitchFamily="34" charset="0"/>
                <a:ea typeface="Raleway" pitchFamily="34" charset="-122"/>
                <a:cs typeface="Raleway" pitchFamily="34" charset="-120"/>
              </a:rPr>
              <a:t>Mathematical Example: y = 5x + 40</a:t>
            </a:r>
            <a:endParaRPr lang="en-US" sz="2650" dirty="0"/>
          </a:p>
        </p:txBody>
      </p:sp>
      <p:sp>
        <p:nvSpPr>
          <p:cNvPr id="5" name="Text 2"/>
          <p:cNvSpPr/>
          <p:nvPr/>
        </p:nvSpPr>
        <p:spPr>
          <a:xfrm>
            <a:off x="3925119" y="1497062"/>
            <a:ext cx="4722763" cy="422225"/>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3C3939"/>
                </a:solidFill>
                <a:latin typeface="Roboto" pitchFamily="34" charset="0"/>
                <a:ea typeface="Roboto" pitchFamily="34" charset="-122"/>
                <a:cs typeface="Roboto" pitchFamily="34" charset="-120"/>
              </a:rPr>
              <a:t>Predicting exam scores based on hours studied. The regression equation is </a:t>
            </a:r>
            <a:pPr algn="l" indent="0" marL="0">
              <a:lnSpc>
                <a:spcPct val="130000"/>
              </a:lnSpc>
              <a:buNone/>
            </a:pPr>
            <a:r>
              <a:rPr lang="en-US" sz="1050" b="1" dirty="0">
                <a:solidFill>
                  <a:srgbClr val="3C3939"/>
                </a:solidFill>
                <a:latin typeface="Roboto Bold" pitchFamily="34" charset="0"/>
                <a:ea typeface="Roboto Bold" pitchFamily="34" charset="-122"/>
                <a:cs typeface="Roboto Bold" pitchFamily="34" charset="-120"/>
              </a:rPr>
              <a:t>y = 5x + 40</a:t>
            </a:r>
            <a:pPr algn="l" indent="0" marL="0">
              <a:lnSpc>
                <a:spcPct val="130000"/>
              </a:lnSpc>
              <a:buNone/>
            </a:pPr>
            <a:r>
              <a:rPr lang="en-US" sz="1050" dirty="0">
                <a:solidFill>
                  <a:srgbClr val="3C3939"/>
                </a:solidFill>
                <a:latin typeface="Roboto" pitchFamily="34" charset="0"/>
                <a:ea typeface="Roboto" pitchFamily="34" charset="-122"/>
                <a:cs typeface="Roboto" pitchFamily="34" charset="-120"/>
              </a:rPr>
              <a:t>, where </a:t>
            </a:r>
            <a:pPr algn="l" indent="0" marL="0">
              <a:lnSpc>
                <a:spcPct val="130000"/>
              </a:lnSpc>
              <a:buNone/>
            </a:pPr>
            <a:r>
              <a:rPr lang="en-US" sz="1050" b="1" dirty="0">
                <a:solidFill>
                  <a:srgbClr val="3C3939"/>
                </a:solidFill>
                <a:latin typeface="Roboto Bold" pitchFamily="34" charset="0"/>
                <a:ea typeface="Roboto Bold" pitchFamily="34" charset="-122"/>
                <a:cs typeface="Roboto Bold" pitchFamily="34" charset="-120"/>
              </a:rPr>
              <a:t>m = 5</a:t>
            </a:r>
            <a:pPr algn="l" indent="0" marL="0">
              <a:lnSpc>
                <a:spcPct val="130000"/>
              </a:lnSpc>
              <a:buNone/>
            </a:pPr>
            <a:r>
              <a:rPr lang="en-US" sz="1050" dirty="0">
                <a:solidFill>
                  <a:srgbClr val="3C3939"/>
                </a:solidFill>
                <a:latin typeface="Roboto" pitchFamily="34" charset="0"/>
                <a:ea typeface="Roboto" pitchFamily="34" charset="-122"/>
                <a:cs typeface="Roboto" pitchFamily="34" charset="-120"/>
              </a:rPr>
              <a:t> and </a:t>
            </a:r>
            <a:pPr algn="l" indent="0" marL="0">
              <a:lnSpc>
                <a:spcPct val="130000"/>
              </a:lnSpc>
              <a:buNone/>
            </a:pPr>
            <a:r>
              <a:rPr lang="en-US" sz="1050" b="1" dirty="0">
                <a:solidFill>
                  <a:srgbClr val="3C3939"/>
                </a:solidFill>
                <a:latin typeface="Roboto Bold" pitchFamily="34" charset="0"/>
                <a:ea typeface="Roboto Bold" pitchFamily="34" charset="-122"/>
                <a:cs typeface="Roboto Bold" pitchFamily="34" charset="-120"/>
              </a:rPr>
              <a:t>b = 40</a:t>
            </a:r>
            <a:pPr algn="l" indent="0" marL="0">
              <a:lnSpc>
                <a:spcPct val="130000"/>
              </a:lnSpc>
              <a:buNone/>
            </a:pPr>
            <a:r>
              <a:rPr lang="en-US" sz="1050" dirty="0">
                <a:solidFill>
                  <a:srgbClr val="3C3939"/>
                </a:solidFill>
                <a:latin typeface="Roboto" pitchFamily="34" charset="0"/>
                <a:ea typeface="Roboto" pitchFamily="34" charset="-122"/>
                <a:cs typeface="Roboto" pitchFamily="34" charset="-120"/>
              </a:rPr>
              <a:t>.</a:t>
            </a:r>
            <a:endParaRPr lang="en-US" sz="1050" dirty="0"/>
          </a:p>
        </p:txBody>
      </p:sp>
      <p:sp>
        <p:nvSpPr>
          <p:cNvPr id="6" name="Shape 3"/>
          <p:cNvSpPr/>
          <p:nvPr/>
        </p:nvSpPr>
        <p:spPr>
          <a:xfrm>
            <a:off x="3925119" y="2209056"/>
            <a:ext cx="303981" cy="303981"/>
          </a:xfrm>
          <a:prstGeom prst="roundRect">
            <a:avLst>
              <a:gd name="adj" fmla="val 18669"/>
            </a:avLst>
          </a:prstGeom>
          <a:solidFill>
            <a:srgbClr val="E1E1EA"/>
          </a:solidFill>
          <a:ln w="4763">
            <a:solidFill>
              <a:srgbClr val="C7C7D0"/>
            </a:solidFill>
            <a:prstDash val="solid"/>
          </a:ln>
        </p:spPr>
      </p:sp>
      <p:sp>
        <p:nvSpPr>
          <p:cNvPr id="7" name="Text 4"/>
          <p:cNvSpPr/>
          <p:nvPr/>
        </p:nvSpPr>
        <p:spPr>
          <a:xfrm>
            <a:off x="3975757" y="2234357"/>
            <a:ext cx="202629" cy="253305"/>
          </a:xfrm>
          <a:prstGeom prst="rect">
            <a:avLst/>
          </a:prstGeom>
          <a:noFill/>
          <a:ln/>
        </p:spPr>
        <p:txBody>
          <a:bodyPr wrap="none" lIns="0" tIns="0" rIns="0" bIns="0" rtlCol="0" anchor="ctr"/>
          <a:lstStyle/>
          <a:p>
            <a:pPr algn="ctr" indent="0" marL="0">
              <a:lnSpc>
                <a:spcPct val="100000"/>
              </a:lnSpc>
              <a:buNone/>
            </a:pPr>
            <a:r>
              <a:rPr lang="en-US" sz="1550" dirty="0">
                <a:solidFill>
                  <a:srgbClr val="3C3939"/>
                </a:solidFill>
                <a:latin typeface="Raleway" pitchFamily="34" charset="0"/>
                <a:ea typeface="Raleway" pitchFamily="34" charset="-122"/>
                <a:cs typeface="Raleway" pitchFamily="34" charset="-120"/>
              </a:rPr>
              <a:t>1</a:t>
            </a:r>
            <a:endParaRPr lang="en-US" sz="1550" dirty="0"/>
          </a:p>
        </p:txBody>
      </p:sp>
      <p:sp>
        <p:nvSpPr>
          <p:cNvPr id="8" name="Text 5"/>
          <p:cNvSpPr/>
          <p:nvPr/>
        </p:nvSpPr>
        <p:spPr>
          <a:xfrm>
            <a:off x="4357836" y="2255490"/>
            <a:ext cx="1763837" cy="211113"/>
          </a:xfrm>
          <a:prstGeom prst="rect">
            <a:avLst/>
          </a:prstGeom>
          <a:noFill/>
          <a:ln/>
        </p:spPr>
        <p:txBody>
          <a:bodyPr wrap="none" lIns="0" tIns="0" rIns="0" bIns="0" rtlCol="0" anchor="t"/>
          <a:lstStyle/>
          <a:p>
            <a:pPr algn="l" indent="0" marL="0">
              <a:lnSpc>
                <a:spcPct val="104000"/>
              </a:lnSpc>
              <a:buNone/>
            </a:pPr>
            <a:r>
              <a:rPr lang="en-US" sz="1300" dirty="0">
                <a:solidFill>
                  <a:srgbClr val="3C3939"/>
                </a:solidFill>
                <a:latin typeface="Raleway" pitchFamily="34" charset="0"/>
                <a:ea typeface="Raleway" pitchFamily="34" charset="-122"/>
                <a:cs typeface="Raleway" pitchFamily="34" charset="-120"/>
              </a:rPr>
              <a:t>Plug in x = 6 hours</a:t>
            </a:r>
            <a:endParaRPr lang="en-US" sz="1300" dirty="0"/>
          </a:p>
        </p:txBody>
      </p:sp>
      <p:sp>
        <p:nvSpPr>
          <p:cNvPr id="9" name="Text 6"/>
          <p:cNvSpPr/>
          <p:nvPr/>
        </p:nvSpPr>
        <p:spPr>
          <a:xfrm>
            <a:off x="4357836" y="2595339"/>
            <a:ext cx="1763837" cy="211113"/>
          </a:xfrm>
          <a:prstGeom prst="rect">
            <a:avLst/>
          </a:prstGeom>
          <a:noFill/>
          <a:ln/>
        </p:spPr>
        <p:txBody>
          <a:bodyPr wrap="none" lIns="0" tIns="0" rIns="0" bIns="0" rtlCol="0" anchor="t"/>
          <a:lstStyle/>
          <a:p>
            <a:pPr algn="l" indent="0" marL="0">
              <a:lnSpc>
                <a:spcPct val="130000"/>
              </a:lnSpc>
              <a:buNone/>
            </a:pPr>
            <a:r>
              <a:rPr lang="en-US" sz="1050" dirty="0">
                <a:solidFill>
                  <a:srgbClr val="3C3939"/>
                </a:solidFill>
                <a:latin typeface="Roboto" pitchFamily="34" charset="0"/>
                <a:ea typeface="Roboto" pitchFamily="34" charset="-122"/>
                <a:cs typeface="Roboto" pitchFamily="34" charset="-120"/>
              </a:rPr>
              <a:t>y = 5(6) + 40</a:t>
            </a:r>
            <a:endParaRPr lang="en-US" sz="1050" dirty="0"/>
          </a:p>
        </p:txBody>
      </p:sp>
      <p:sp>
        <p:nvSpPr>
          <p:cNvPr id="10" name="Shape 7"/>
          <p:cNvSpPr/>
          <p:nvPr/>
        </p:nvSpPr>
        <p:spPr>
          <a:xfrm>
            <a:off x="3925119" y="3063999"/>
            <a:ext cx="303981" cy="303981"/>
          </a:xfrm>
          <a:prstGeom prst="roundRect">
            <a:avLst>
              <a:gd name="adj" fmla="val 18669"/>
            </a:avLst>
          </a:prstGeom>
          <a:solidFill>
            <a:srgbClr val="E1E1EA"/>
          </a:solidFill>
          <a:ln w="4763">
            <a:solidFill>
              <a:srgbClr val="C7C7D0"/>
            </a:solidFill>
            <a:prstDash val="solid"/>
          </a:ln>
        </p:spPr>
      </p:sp>
      <p:sp>
        <p:nvSpPr>
          <p:cNvPr id="11" name="Text 8"/>
          <p:cNvSpPr/>
          <p:nvPr/>
        </p:nvSpPr>
        <p:spPr>
          <a:xfrm>
            <a:off x="3975757" y="3089300"/>
            <a:ext cx="202629" cy="253305"/>
          </a:xfrm>
          <a:prstGeom prst="rect">
            <a:avLst/>
          </a:prstGeom>
          <a:noFill/>
          <a:ln/>
        </p:spPr>
        <p:txBody>
          <a:bodyPr wrap="none" lIns="0" tIns="0" rIns="0" bIns="0" rtlCol="0" anchor="ctr"/>
          <a:lstStyle/>
          <a:p>
            <a:pPr algn="ctr" indent="0" marL="0">
              <a:lnSpc>
                <a:spcPct val="100000"/>
              </a:lnSpc>
              <a:buNone/>
            </a:pPr>
            <a:r>
              <a:rPr lang="en-US" sz="1550" dirty="0">
                <a:solidFill>
                  <a:srgbClr val="3C3939"/>
                </a:solidFill>
                <a:latin typeface="Raleway" pitchFamily="34" charset="0"/>
                <a:ea typeface="Raleway" pitchFamily="34" charset="-122"/>
                <a:cs typeface="Raleway" pitchFamily="34" charset="-120"/>
              </a:rPr>
              <a:t>2</a:t>
            </a:r>
            <a:endParaRPr lang="en-US" sz="1550" dirty="0"/>
          </a:p>
        </p:txBody>
      </p:sp>
      <p:sp>
        <p:nvSpPr>
          <p:cNvPr id="12" name="Text 9"/>
          <p:cNvSpPr/>
          <p:nvPr/>
        </p:nvSpPr>
        <p:spPr>
          <a:xfrm>
            <a:off x="4357836" y="3110433"/>
            <a:ext cx="1763837" cy="211113"/>
          </a:xfrm>
          <a:prstGeom prst="rect">
            <a:avLst/>
          </a:prstGeom>
          <a:noFill/>
          <a:ln/>
        </p:spPr>
        <p:txBody>
          <a:bodyPr wrap="none" lIns="0" tIns="0" rIns="0" bIns="0" rtlCol="0" anchor="t"/>
          <a:lstStyle/>
          <a:p>
            <a:pPr algn="l" indent="0" marL="0">
              <a:lnSpc>
                <a:spcPct val="104000"/>
              </a:lnSpc>
              <a:buNone/>
            </a:pPr>
            <a:r>
              <a:rPr lang="en-US" sz="1300" dirty="0">
                <a:solidFill>
                  <a:srgbClr val="3C3939"/>
                </a:solidFill>
                <a:latin typeface="Raleway" pitchFamily="34" charset="0"/>
                <a:ea typeface="Raleway" pitchFamily="34" charset="-122"/>
                <a:cs typeface="Raleway" pitchFamily="34" charset="-120"/>
              </a:rPr>
              <a:t>Calculate</a:t>
            </a:r>
            <a:endParaRPr lang="en-US" sz="1300" dirty="0"/>
          </a:p>
        </p:txBody>
      </p:sp>
      <p:sp>
        <p:nvSpPr>
          <p:cNvPr id="13" name="Text 10"/>
          <p:cNvSpPr/>
          <p:nvPr/>
        </p:nvSpPr>
        <p:spPr>
          <a:xfrm>
            <a:off x="4357836" y="3450282"/>
            <a:ext cx="1763837" cy="211113"/>
          </a:xfrm>
          <a:prstGeom prst="rect">
            <a:avLst/>
          </a:prstGeom>
          <a:noFill/>
          <a:ln/>
        </p:spPr>
        <p:txBody>
          <a:bodyPr wrap="none" lIns="0" tIns="0" rIns="0" bIns="0" rtlCol="0" anchor="t"/>
          <a:lstStyle/>
          <a:p>
            <a:pPr algn="l" indent="0" marL="0">
              <a:lnSpc>
                <a:spcPct val="130000"/>
              </a:lnSpc>
              <a:buNone/>
            </a:pPr>
            <a:r>
              <a:rPr lang="en-US" sz="1050" dirty="0">
                <a:solidFill>
                  <a:srgbClr val="3C3939"/>
                </a:solidFill>
                <a:latin typeface="Roboto" pitchFamily="34" charset="0"/>
                <a:ea typeface="Roboto" pitchFamily="34" charset="-122"/>
                <a:cs typeface="Roboto" pitchFamily="34" charset="-120"/>
              </a:rPr>
              <a:t>y = 30 + 40</a:t>
            </a:r>
            <a:endParaRPr lang="en-US" sz="1050" dirty="0"/>
          </a:p>
        </p:txBody>
      </p:sp>
      <p:sp>
        <p:nvSpPr>
          <p:cNvPr id="14" name="Shape 11"/>
          <p:cNvSpPr/>
          <p:nvPr/>
        </p:nvSpPr>
        <p:spPr>
          <a:xfrm>
            <a:off x="3925119" y="3918942"/>
            <a:ext cx="303981" cy="303981"/>
          </a:xfrm>
          <a:prstGeom prst="roundRect">
            <a:avLst>
              <a:gd name="adj" fmla="val 18669"/>
            </a:avLst>
          </a:prstGeom>
          <a:solidFill>
            <a:srgbClr val="E1E1EA"/>
          </a:solidFill>
          <a:ln w="4763">
            <a:solidFill>
              <a:srgbClr val="C7C7D0"/>
            </a:solidFill>
            <a:prstDash val="solid"/>
          </a:ln>
        </p:spPr>
      </p:sp>
      <p:sp>
        <p:nvSpPr>
          <p:cNvPr id="15" name="Text 12"/>
          <p:cNvSpPr/>
          <p:nvPr/>
        </p:nvSpPr>
        <p:spPr>
          <a:xfrm>
            <a:off x="3975757" y="3944243"/>
            <a:ext cx="202629" cy="253305"/>
          </a:xfrm>
          <a:prstGeom prst="rect">
            <a:avLst/>
          </a:prstGeom>
          <a:noFill/>
          <a:ln/>
        </p:spPr>
        <p:txBody>
          <a:bodyPr wrap="none" lIns="0" tIns="0" rIns="0" bIns="0" rtlCol="0" anchor="ctr"/>
          <a:lstStyle/>
          <a:p>
            <a:pPr algn="ctr" indent="0" marL="0">
              <a:lnSpc>
                <a:spcPct val="100000"/>
              </a:lnSpc>
              <a:buNone/>
            </a:pPr>
            <a:r>
              <a:rPr lang="en-US" sz="1550" dirty="0">
                <a:solidFill>
                  <a:srgbClr val="3C3939"/>
                </a:solidFill>
                <a:latin typeface="Raleway" pitchFamily="34" charset="0"/>
                <a:ea typeface="Raleway" pitchFamily="34" charset="-122"/>
                <a:cs typeface="Raleway" pitchFamily="34" charset="-120"/>
              </a:rPr>
              <a:t>3</a:t>
            </a:r>
            <a:endParaRPr lang="en-US" sz="1550" dirty="0"/>
          </a:p>
        </p:txBody>
      </p:sp>
      <p:sp>
        <p:nvSpPr>
          <p:cNvPr id="16" name="Text 13"/>
          <p:cNvSpPr/>
          <p:nvPr/>
        </p:nvSpPr>
        <p:spPr>
          <a:xfrm>
            <a:off x="4357836" y="3965377"/>
            <a:ext cx="1763837" cy="211113"/>
          </a:xfrm>
          <a:prstGeom prst="rect">
            <a:avLst/>
          </a:prstGeom>
          <a:noFill/>
          <a:ln/>
        </p:spPr>
        <p:txBody>
          <a:bodyPr wrap="none" lIns="0" tIns="0" rIns="0" bIns="0" rtlCol="0" anchor="t"/>
          <a:lstStyle/>
          <a:p>
            <a:pPr algn="l" indent="0" marL="0">
              <a:lnSpc>
                <a:spcPct val="104000"/>
              </a:lnSpc>
              <a:buNone/>
            </a:pPr>
            <a:r>
              <a:rPr lang="en-US" sz="1300" dirty="0">
                <a:solidFill>
                  <a:srgbClr val="3C3939"/>
                </a:solidFill>
                <a:latin typeface="Raleway" pitchFamily="34" charset="0"/>
                <a:ea typeface="Raleway" pitchFamily="34" charset="-122"/>
                <a:cs typeface="Raleway" pitchFamily="34" charset="-120"/>
              </a:rPr>
              <a:t>Result</a:t>
            </a:r>
            <a:endParaRPr lang="en-US" sz="1300" dirty="0"/>
          </a:p>
        </p:txBody>
      </p:sp>
      <p:sp>
        <p:nvSpPr>
          <p:cNvPr id="17" name="Text 14"/>
          <p:cNvSpPr/>
          <p:nvPr/>
        </p:nvSpPr>
        <p:spPr>
          <a:xfrm>
            <a:off x="4357836" y="4305226"/>
            <a:ext cx="1763837" cy="211113"/>
          </a:xfrm>
          <a:prstGeom prst="rect">
            <a:avLst/>
          </a:prstGeom>
          <a:noFill/>
          <a:ln/>
        </p:spPr>
        <p:txBody>
          <a:bodyPr wrap="none" lIns="0" tIns="0" rIns="0" bIns="0" rtlCol="0" anchor="t"/>
          <a:lstStyle/>
          <a:p>
            <a:pPr algn="l" indent="0" marL="0">
              <a:lnSpc>
                <a:spcPct val="130000"/>
              </a:lnSpc>
              <a:buNone/>
            </a:pPr>
            <a:r>
              <a:rPr lang="en-US" sz="1050" b="1" dirty="0">
                <a:solidFill>
                  <a:srgbClr val="3C3939"/>
                </a:solidFill>
                <a:latin typeface="Roboto Bold" pitchFamily="34" charset="0"/>
                <a:ea typeface="Roboto Bold" pitchFamily="34" charset="-122"/>
                <a:cs typeface="Roboto Bold" pitchFamily="34" charset="-120"/>
              </a:rPr>
              <a:t>y = 70 marks</a:t>
            </a:r>
            <a:endParaRPr lang="en-US" sz="1050" dirty="0"/>
          </a:p>
        </p:txBody>
      </p:sp>
      <p:sp>
        <p:nvSpPr>
          <p:cNvPr id="18" name="Shape 15"/>
          <p:cNvSpPr/>
          <p:nvPr/>
        </p:nvSpPr>
        <p:spPr>
          <a:xfrm>
            <a:off x="6456090" y="2209056"/>
            <a:ext cx="2196554" cy="1252835"/>
          </a:xfrm>
          <a:prstGeom prst="roundRect">
            <a:avLst>
              <a:gd name="adj" fmla="val 4530"/>
            </a:avLst>
          </a:prstGeom>
          <a:solidFill>
            <a:srgbClr val="E1E1EA"/>
          </a:solidFill>
          <a:ln w="4763">
            <a:solidFill>
              <a:srgbClr val="C7C7D0"/>
            </a:solidFill>
            <a:prstDash val="solid"/>
          </a:ln>
        </p:spPr>
      </p:sp>
      <p:sp>
        <p:nvSpPr>
          <p:cNvPr id="19" name="Text 16"/>
          <p:cNvSpPr/>
          <p:nvPr/>
        </p:nvSpPr>
        <p:spPr>
          <a:xfrm>
            <a:off x="6595914" y="2348880"/>
            <a:ext cx="1916906" cy="211113"/>
          </a:xfrm>
          <a:prstGeom prst="rect">
            <a:avLst/>
          </a:prstGeom>
          <a:noFill/>
          <a:ln/>
        </p:spPr>
        <p:txBody>
          <a:bodyPr wrap="none" lIns="0" tIns="0" rIns="0" bIns="0" rtlCol="0" anchor="t"/>
          <a:lstStyle/>
          <a:p>
            <a:pPr algn="l" indent="0" marL="0">
              <a:lnSpc>
                <a:spcPct val="104000"/>
              </a:lnSpc>
              <a:buNone/>
            </a:pPr>
            <a:r>
              <a:rPr lang="en-US" sz="1300" dirty="0">
                <a:solidFill>
                  <a:srgbClr val="3C3939"/>
                </a:solidFill>
                <a:latin typeface="Raleway" pitchFamily="34" charset="0"/>
                <a:ea typeface="Raleway" pitchFamily="34" charset="-122"/>
                <a:cs typeface="Raleway" pitchFamily="34" charset="-120"/>
              </a:rPr>
              <a:t>Key Insight</a:t>
            </a:r>
            <a:endParaRPr lang="en-US" sz="1300" dirty="0"/>
          </a:p>
        </p:txBody>
      </p:sp>
      <p:sp>
        <p:nvSpPr>
          <p:cNvPr id="20" name="Text 17"/>
          <p:cNvSpPr/>
          <p:nvPr/>
        </p:nvSpPr>
        <p:spPr>
          <a:xfrm>
            <a:off x="6595914" y="2688729"/>
            <a:ext cx="1916906" cy="633338"/>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3C3939"/>
                </a:solidFill>
                <a:latin typeface="Roboto" pitchFamily="34" charset="0"/>
                <a:ea typeface="Roboto" pitchFamily="34" charset="-122"/>
                <a:cs typeface="Roboto" pitchFamily="34" charset="-120"/>
              </a:rPr>
              <a:t>For every additional hour studied, the predicted exam score </a:t>
            </a:r>
            <a:pPr algn="l" indent="0" marL="0">
              <a:lnSpc>
                <a:spcPct val="130000"/>
              </a:lnSpc>
              <a:buNone/>
            </a:pPr>
            <a:r>
              <a:rPr lang="en-US" sz="1050" b="1" dirty="0">
                <a:solidFill>
                  <a:srgbClr val="3C3939"/>
                </a:solidFill>
                <a:latin typeface="Roboto Bold" pitchFamily="34" charset="0"/>
                <a:ea typeface="Roboto Bold" pitchFamily="34" charset="-122"/>
                <a:cs typeface="Roboto Bold" pitchFamily="34" charset="-120"/>
              </a:rPr>
              <a:t>increases by 5 marks</a:t>
            </a:r>
            <a:pPr algn="l" indent="0" marL="0">
              <a:lnSpc>
                <a:spcPct val="130000"/>
              </a:lnSpc>
              <a:buNone/>
            </a:pPr>
            <a:r>
              <a:rPr lang="en-US" sz="1050" dirty="0">
                <a:solidFill>
                  <a:srgbClr val="3C3939"/>
                </a:solidFill>
                <a:latin typeface="Roboto" pitchFamily="34" charset="0"/>
                <a:ea typeface="Roboto" pitchFamily="34" charset="-122"/>
                <a:cs typeface="Roboto" pitchFamily="34" charset="-120"/>
              </a:rPr>
              <a:t>.</a:t>
            </a:r>
            <a:endParaRPr lang="en-US" sz="1050" dirty="0"/>
          </a:p>
        </p:txBody>
      </p:sp>
      <p:sp>
        <p:nvSpPr>
          <p:cNvPr id="21" name="Shape 18"/>
          <p:cNvSpPr/>
          <p:nvPr/>
        </p:nvSpPr>
        <p:spPr>
          <a:xfrm>
            <a:off x="6456090" y="3606775"/>
            <a:ext cx="2196554" cy="932483"/>
          </a:xfrm>
          <a:prstGeom prst="roundRect">
            <a:avLst>
              <a:gd name="adj" fmla="val 6086"/>
            </a:avLst>
          </a:prstGeom>
          <a:solidFill>
            <a:srgbClr val="E1E1EA"/>
          </a:solidFill>
          <a:ln/>
        </p:spPr>
      </p:sp>
      <p:pic>
        <p:nvPicPr>
          <p:cNvPr id="22" name="Image 1" descr="preencoded.png">    </p:cNvPr>
          <p:cNvPicPr>
            <a:picLocks noChangeAspect="1"/>
          </p:cNvPicPr>
          <p:nvPr/>
        </p:nvPicPr>
        <p:blipFill>
          <a:blip r:embed="rId2"/>
          <a:stretch>
            <a:fillRect/>
          </a:stretch>
        </p:blipFill>
        <p:spPr>
          <a:xfrm>
            <a:off x="6591151" y="3798615"/>
            <a:ext cx="168846" cy="135062"/>
          </a:xfrm>
          <a:prstGeom prst="rect">
            <a:avLst/>
          </a:prstGeom>
        </p:spPr>
      </p:pic>
      <p:sp>
        <p:nvSpPr>
          <p:cNvPr id="23" name="Text 19"/>
          <p:cNvSpPr/>
          <p:nvPr/>
        </p:nvSpPr>
        <p:spPr>
          <a:xfrm>
            <a:off x="6895058" y="3756347"/>
            <a:ext cx="1622524" cy="633338"/>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000000"/>
                </a:solidFill>
                <a:latin typeface="Roboto" pitchFamily="34" charset="0"/>
                <a:ea typeface="Roboto" pitchFamily="34" charset="-122"/>
                <a:cs typeface="Roboto" pitchFamily="34" charset="-120"/>
              </a:rPr>
              <a:t>A student studying </a:t>
            </a:r>
            <a:pPr algn="l" indent="0" marL="0">
              <a:lnSpc>
                <a:spcPct val="130000"/>
              </a:lnSpc>
              <a:buNone/>
            </a:pPr>
            <a:r>
              <a:rPr lang="en-US" sz="1050" b="1" dirty="0">
                <a:solidFill>
                  <a:srgbClr val="000000"/>
                </a:solidFill>
                <a:latin typeface="Roboto Bold" pitchFamily="34" charset="0"/>
                <a:ea typeface="Roboto Bold" pitchFamily="34" charset="-122"/>
                <a:cs typeface="Roboto Bold" pitchFamily="34" charset="-120"/>
              </a:rPr>
              <a:t>6 hours</a:t>
            </a:r>
            <a:pPr algn="l" indent="0" marL="0">
              <a:lnSpc>
                <a:spcPct val="130000"/>
              </a:lnSpc>
              <a:buNone/>
            </a:pPr>
            <a:r>
              <a:rPr lang="en-US" sz="1050" dirty="0">
                <a:solidFill>
                  <a:srgbClr val="000000"/>
                </a:solidFill>
                <a:latin typeface="Roboto" pitchFamily="34" charset="0"/>
                <a:ea typeface="Roboto" pitchFamily="34" charset="-122"/>
                <a:cs typeface="Roboto" pitchFamily="34" charset="-120"/>
              </a:rPr>
              <a:t> is predicted to score approximately </a:t>
            </a:r>
            <a:pPr algn="l" indent="0" marL="0">
              <a:lnSpc>
                <a:spcPct val="130000"/>
              </a:lnSpc>
              <a:buNone/>
            </a:pPr>
            <a:r>
              <a:rPr lang="en-US" sz="1050" b="1" dirty="0">
                <a:solidFill>
                  <a:srgbClr val="000000"/>
                </a:solidFill>
                <a:latin typeface="Roboto Bold" pitchFamily="34" charset="0"/>
                <a:ea typeface="Roboto Bold" pitchFamily="34" charset="-122"/>
                <a:cs typeface="Roboto Bold" pitchFamily="34" charset="-120"/>
              </a:rPr>
              <a:t>70 marks</a:t>
            </a:r>
            <a:pPr algn="l" indent="0" marL="0">
              <a:lnSpc>
                <a:spcPct val="130000"/>
              </a:lnSpc>
              <a:buNone/>
            </a:pPr>
            <a:r>
              <a:rPr lang="en-US" sz="1050" dirty="0">
                <a:solidFill>
                  <a:srgbClr val="000000"/>
                </a:solidFill>
                <a:latin typeface="Roboto" pitchFamily="34" charset="0"/>
                <a:ea typeface="Roboto" pitchFamily="34" charset="-122"/>
                <a:cs typeface="Roboto" pitchFamily="34" charset="-120"/>
              </a:rPr>
              <a: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94097"/>
            <a:ext cx="8151763" cy="311497"/>
          </a:xfrm>
          <a:prstGeom prst="rect">
            <a:avLst/>
          </a:prstGeom>
          <a:noFill/>
          <a:ln/>
        </p:spPr>
        <p:txBody>
          <a:bodyPr wrap="none" lIns="0" tIns="0" rIns="0" bIns="0" rtlCol="0" anchor="t"/>
          <a:lstStyle/>
          <a:p>
            <a:pPr algn="l" indent="0" marL="0">
              <a:lnSpc>
                <a:spcPct val="104000"/>
              </a:lnSpc>
              <a:buNone/>
            </a:pPr>
            <a:r>
              <a:rPr lang="en-US" sz="1950" dirty="0">
                <a:solidFill>
                  <a:srgbClr val="1B1B27"/>
                </a:solidFill>
                <a:latin typeface="Raleway" pitchFamily="34" charset="0"/>
                <a:ea typeface="Raleway" pitchFamily="34" charset="-122"/>
                <a:cs typeface="Raleway" pitchFamily="34" charset="-120"/>
              </a:rPr>
              <a:t>Deriving the Linear Regression Formula</a:t>
            </a:r>
            <a:endParaRPr lang="en-US" sz="1950" dirty="0"/>
          </a:p>
        </p:txBody>
      </p:sp>
      <p:sp>
        <p:nvSpPr>
          <p:cNvPr id="3" name="Text 1"/>
          <p:cNvSpPr/>
          <p:nvPr/>
        </p:nvSpPr>
        <p:spPr>
          <a:xfrm>
            <a:off x="496119" y="845716"/>
            <a:ext cx="8151763" cy="271760"/>
          </a:xfrm>
          <a:prstGeom prst="rect">
            <a:avLst/>
          </a:prstGeom>
          <a:noFill/>
          <a:ln/>
        </p:spPr>
        <p:txBody>
          <a:bodyPr wrap="square" lIns="0" tIns="0" rIns="0" bIns="0" rtlCol="0" anchor="t">
            <a:normAutofit/>
          </a:bodyPr>
          <a:lstStyle/>
          <a:p>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The goal of linear regression is to find the best-fitting straight line through a set of data points. The </a:t>
            </a:r>
            <a:pPr algn="l" indent="0" marL="0">
              <a:lnSpc>
                <a:spcPct val="114000"/>
              </a:lnSpc>
              <a:buNone/>
            </a:pPr>
            <a:r>
              <a:rPr lang="en-US" sz="750" b="1" dirty="0">
                <a:solidFill>
                  <a:srgbClr val="3C3939"/>
                </a:solidFill>
                <a:latin typeface="Roboto Bold" pitchFamily="34" charset="0"/>
                <a:ea typeface="Roboto Bold" pitchFamily="34" charset="-122"/>
                <a:cs typeface="Roboto Bold" pitchFamily="34" charset="-120"/>
              </a:rPr>
              <a:t>Least Squares Method</a:t>
            </a:r>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 provides a way to calculate the optimal slope (</a:t>
            </a:r>
            <a:pPr algn="l" indent="0" marL="0">
              <a:lnSpc>
                <a:spcPct val="114000"/>
              </a:lnSpc>
              <a:buNone/>
            </a:pPr>
            <a:r>
              <a:rPr lang="en-US" sz="750" i="1" dirty="0">
                <a:solidFill>
                  <a:srgbClr val="3C3939"/>
                </a:solidFill>
                <a:latin typeface="Roboto" pitchFamily="34" charset="0"/>
                <a:ea typeface="Roboto" pitchFamily="34" charset="-122"/>
                <a:cs typeface="Roboto" pitchFamily="34" charset="-120"/>
              </a:rPr>
              <a:t>m</a:t>
            </a:r>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 and y-intercept (</a:t>
            </a:r>
            <a:pPr algn="l" indent="0" marL="0">
              <a:lnSpc>
                <a:spcPct val="114000"/>
              </a:lnSpc>
              <a:buNone/>
            </a:pPr>
            <a:r>
              <a:rPr lang="en-US" sz="750" i="1" dirty="0">
                <a:solidFill>
                  <a:srgbClr val="3C3939"/>
                </a:solidFill>
                <a:latin typeface="Roboto" pitchFamily="34" charset="0"/>
                <a:ea typeface="Roboto" pitchFamily="34" charset="-122"/>
                <a:cs typeface="Roboto" pitchFamily="34" charset="-120"/>
              </a:rPr>
              <a:t>b</a:t>
            </a:r>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 for this line by minimizing the sum of the squared vertical distances (residuals) between the observed data points and the regression line.</a:t>
            </a:r>
            <a:endParaRPr lang="en-US" sz="750" dirty="0"/>
          </a:p>
        </p:txBody>
      </p:sp>
      <p:sp>
        <p:nvSpPr>
          <p:cNvPr id="4" name="Text 2"/>
          <p:cNvSpPr/>
          <p:nvPr/>
        </p:nvSpPr>
        <p:spPr>
          <a:xfrm>
            <a:off x="496119" y="1222549"/>
            <a:ext cx="8151763" cy="203820"/>
          </a:xfrm>
          <a:prstGeom prst="rect">
            <a:avLst/>
          </a:prstGeom>
          <a:noFill/>
          <a:ln/>
        </p:spPr>
        <p:txBody>
          <a:bodyPr wrap="none" lIns="0" tIns="0" rIns="0" bIns="0" rtlCol="0" anchor="t"/>
          <a:lstStyle/>
          <a:p>
            <a:pPr algn="ctr" indent="0" marL="0">
              <a:lnSpc>
                <a:spcPct val="104000"/>
              </a:lnSpc>
              <a:buNone/>
            </a:pPr>
            <a:r>
              <a:rPr lang="en-US" sz="1150" dirty="0">
                <a:solidFill>
                  <a:srgbClr val="1B1B27"/>
                </a:solidFill>
                <a:latin typeface="Raleway" pitchFamily="34" charset="0"/>
                <a:ea typeface="Raleway" pitchFamily="34" charset="-122"/>
                <a:cs typeface="Raleway" pitchFamily="34" charset="-120"/>
              </a:rPr>
              <a:t>Formula for Slope (</a:t>
            </a:r>
            <a:pPr algn="ctr" indent="0" marL="0">
              <a:lnSpc>
                <a:spcPct val="104000"/>
              </a:lnSpc>
              <a:buNone/>
            </a:pPr>
            <a:r>
              <a:rPr lang="en-US" sz="1150" i="1" dirty="0">
                <a:solidFill>
                  <a:srgbClr val="1B1B27"/>
                </a:solidFill>
                <a:latin typeface="Raleway" pitchFamily="34" charset="0"/>
                <a:ea typeface="Raleway" pitchFamily="34" charset="-122"/>
                <a:cs typeface="Raleway" pitchFamily="34" charset="-120"/>
              </a:rPr>
              <a:t>m</a:t>
            </a:r>
            <a:pPr algn="ctr" indent="0" marL="0">
              <a:lnSpc>
                <a:spcPct val="104000"/>
              </a:lnSpc>
              <a:buNone/>
            </a:pPr>
            <a:r>
              <a:rPr lang="en-US" sz="1150" dirty="0">
                <a:solidFill>
                  <a:srgbClr val="1B1B27"/>
                </a:solidFill>
                <a:latin typeface="Raleway" pitchFamily="34" charset="0"/>
                <a:ea typeface="Raleway" pitchFamily="34" charset="-122"/>
                <a:cs typeface="Raleway" pitchFamily="34" charset="-120"/>
              </a:rPr>
              <a:t>)</a:t>
            </a:r>
            <a:endParaRPr lang="en-US" sz="1150" dirty="0"/>
          </a:p>
        </p:txBody>
      </p:sp>
      <p:sp>
        <p:nvSpPr>
          <p:cNvPr id="5" name="Text 3"/>
          <p:cNvSpPr/>
          <p:nvPr/>
        </p:nvSpPr>
        <p:spPr>
          <a:xfrm>
            <a:off x="496119" y="1531441"/>
            <a:ext cx="8151763" cy="320576"/>
          </a:xfrm>
          <a:prstGeom prst="rect">
            <a:avLst/>
          </a:prstGeom>
          <a:noFill/>
          <a:ln/>
        </p:spPr>
        <p:txBody>
          <a:bodyPr wrap="square" lIns="0" tIns="0" rIns="0" bIns="0" rtlCol="0" anchor="t">
            <a:normAutofit/>
          </a:bodyPr>
          <a:lstStyle/>
          <a:p>
            <a:pPr algn="l" indent="0" marL="0">
              <a:lnSpc>
                <a:spcPct val="114000"/>
              </a:lnSpc>
              <a:buNone/>
            </a:pPr>
            <a:endParaRPr lang="en-US" sz="850" dirty="0"/>
          </a:p>
        </p:txBody>
      </p:sp>
      <p:pic>
        <p:nvPicPr>
          <p:cNvPr id="6" name="Image 0" descr="preencoded.png">    </p:cNvPr>
          <p:cNvPicPr>
            <a:picLocks noChangeAspect="1"/>
          </p:cNvPicPr>
          <p:nvPr/>
        </p:nvPicPr>
        <p:blipFill>
          <a:blip r:embed="rId1"/>
          <a:stretch>
            <a:fillRect/>
          </a:stretch>
        </p:blipFill>
        <p:spPr>
          <a:xfrm>
            <a:off x="496119" y="1531441"/>
            <a:ext cx="8151763" cy="320576"/>
          </a:xfrm>
          <a:prstGeom prst="rect">
            <a:avLst/>
          </a:prstGeom>
        </p:spPr>
      </p:pic>
      <p:sp>
        <p:nvSpPr>
          <p:cNvPr id="7" name="Text 4"/>
          <p:cNvSpPr/>
          <p:nvPr/>
        </p:nvSpPr>
        <p:spPr>
          <a:xfrm>
            <a:off x="496119" y="1957090"/>
            <a:ext cx="8151763" cy="203820"/>
          </a:xfrm>
          <a:prstGeom prst="rect">
            <a:avLst/>
          </a:prstGeom>
          <a:noFill/>
          <a:ln/>
        </p:spPr>
        <p:txBody>
          <a:bodyPr wrap="none" lIns="0" tIns="0" rIns="0" bIns="0" rtlCol="0" anchor="t"/>
          <a:lstStyle/>
          <a:p>
            <a:pPr algn="ctr" indent="0" marL="0">
              <a:lnSpc>
                <a:spcPct val="104000"/>
              </a:lnSpc>
              <a:buNone/>
            </a:pPr>
            <a:r>
              <a:rPr lang="en-US" sz="1150" dirty="0">
                <a:solidFill>
                  <a:srgbClr val="1B1B27"/>
                </a:solidFill>
                <a:latin typeface="Raleway" pitchFamily="34" charset="0"/>
                <a:ea typeface="Raleway" pitchFamily="34" charset="-122"/>
                <a:cs typeface="Raleway" pitchFamily="34" charset="-120"/>
              </a:rPr>
              <a:t>Formula for Y-Intercept (</a:t>
            </a:r>
            <a:pPr algn="ctr" indent="0" marL="0">
              <a:lnSpc>
                <a:spcPct val="104000"/>
              </a:lnSpc>
              <a:buNone/>
            </a:pPr>
            <a:r>
              <a:rPr lang="en-US" sz="1150" i="1" dirty="0">
                <a:solidFill>
                  <a:srgbClr val="1B1B27"/>
                </a:solidFill>
                <a:latin typeface="Raleway" pitchFamily="34" charset="0"/>
                <a:ea typeface="Raleway" pitchFamily="34" charset="-122"/>
                <a:cs typeface="Raleway" pitchFamily="34" charset="-120"/>
              </a:rPr>
              <a:t>b</a:t>
            </a:r>
            <a:pPr algn="ctr" indent="0" marL="0">
              <a:lnSpc>
                <a:spcPct val="104000"/>
              </a:lnSpc>
              <a:buNone/>
            </a:pPr>
            <a:r>
              <a:rPr lang="en-US" sz="1150" dirty="0">
                <a:solidFill>
                  <a:srgbClr val="1B1B27"/>
                </a:solidFill>
                <a:latin typeface="Raleway" pitchFamily="34" charset="0"/>
                <a:ea typeface="Raleway" pitchFamily="34" charset="-122"/>
                <a:cs typeface="Raleway" pitchFamily="34" charset="-120"/>
              </a:rPr>
              <a:t>)</a:t>
            </a:r>
            <a:endParaRPr lang="en-US" sz="1150" dirty="0"/>
          </a:p>
        </p:txBody>
      </p:sp>
      <p:sp>
        <p:nvSpPr>
          <p:cNvPr id="8" name="Text 5"/>
          <p:cNvSpPr/>
          <p:nvPr/>
        </p:nvSpPr>
        <p:spPr>
          <a:xfrm>
            <a:off x="496119" y="2265983"/>
            <a:ext cx="8608963" cy="172269"/>
          </a:xfrm>
          <a:prstGeom prst="rect">
            <a:avLst/>
          </a:prstGeom>
          <a:noFill/>
          <a:ln/>
        </p:spPr>
        <p:txBody>
          <a:bodyPr wrap="none" lIns="0" tIns="0" rIns="0" bIns="0" rtlCol="0" anchor="t"/>
          <a:lstStyle/>
          <a:p>
            <a:pPr algn="l" indent="0" marL="0">
              <a:lnSpc>
                <a:spcPct val="114000"/>
              </a:lnSpc>
              <a:buNone/>
            </a:pPr>
            <a:endParaRPr lang="en-US" sz="850" dirty="0"/>
          </a:p>
        </p:txBody>
      </p:sp>
      <p:pic>
        <p:nvPicPr>
          <p:cNvPr id="9" name="Image 1" descr="preencoded.png">    </p:cNvPr>
          <p:cNvPicPr>
            <a:picLocks noChangeAspect="1"/>
          </p:cNvPicPr>
          <p:nvPr/>
        </p:nvPicPr>
        <p:blipFill>
          <a:blip r:embed="rId2"/>
          <a:stretch>
            <a:fillRect/>
          </a:stretch>
        </p:blipFill>
        <p:spPr>
          <a:xfrm>
            <a:off x="496119" y="2265983"/>
            <a:ext cx="8151763" cy="172269"/>
          </a:xfrm>
          <a:prstGeom prst="rect">
            <a:avLst/>
          </a:prstGeom>
        </p:spPr>
      </p:pic>
      <p:pic>
        <p:nvPicPr>
          <p:cNvPr id="10"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2526953"/>
            <a:ext cx="1985367" cy="968946"/>
          </a:xfrm>
          <a:prstGeom prst="rect">
            <a:avLst/>
          </a:prstGeom>
        </p:spPr>
      </p:pic>
      <p:sp>
        <p:nvSpPr>
          <p:cNvPr id="11" name="Text 6"/>
          <p:cNvSpPr/>
          <p:nvPr/>
        </p:nvSpPr>
        <p:spPr>
          <a:xfrm>
            <a:off x="667196" y="2640881"/>
            <a:ext cx="1700361" cy="155674"/>
          </a:xfrm>
          <a:prstGeom prst="rect">
            <a:avLst/>
          </a:prstGeom>
          <a:noFill/>
          <a:ln/>
        </p:spPr>
        <p:txBody>
          <a:bodyPr wrap="none" lIns="0" tIns="0" rIns="0" bIns="0" rtlCol="0" anchor="t"/>
          <a:lstStyle/>
          <a:p>
            <a:pPr algn="l" indent="0" marL="0">
              <a:lnSpc>
                <a:spcPct val="104000"/>
              </a:lnSpc>
              <a:buNone/>
            </a:pPr>
            <a:r>
              <a:rPr lang="en-US" sz="950" dirty="0">
                <a:solidFill>
                  <a:srgbClr val="1B1B27"/>
                </a:solidFill>
                <a:latin typeface="Raleway" pitchFamily="34" charset="0"/>
                <a:ea typeface="Raleway" pitchFamily="34" charset="-122"/>
                <a:cs typeface="Raleway" pitchFamily="34" charset="-120"/>
              </a:rPr>
              <a:t>m</a:t>
            </a:r>
            <a:pPr algn="l" indent="0" marL="0">
              <a:lnSpc>
                <a:spcPct val="104000"/>
              </a:lnSpc>
              <a:buNone/>
            </a:pPr>
            <a:r>
              <a:rPr lang="en-US" sz="950" dirty="0">
                <a:solidFill>
                  <a:srgbClr val="3C3939"/>
                </a:solidFill>
                <a:latin typeface="Raleway" pitchFamily="34" charset="0"/>
                <a:ea typeface="Raleway" pitchFamily="34" charset="-122"/>
                <a:cs typeface="Raleway" pitchFamily="34" charset="-120"/>
              </a:rPr>
              <a:t> — Slope</a:t>
            </a:r>
            <a:endParaRPr lang="en-US" sz="950" dirty="0"/>
          </a:p>
        </p:txBody>
      </p:sp>
      <p:sp>
        <p:nvSpPr>
          <p:cNvPr id="12" name="Text 7"/>
          <p:cNvSpPr/>
          <p:nvPr/>
        </p:nvSpPr>
        <p:spPr>
          <a:xfrm>
            <a:off x="667196" y="2838599"/>
            <a:ext cx="1700361" cy="543371"/>
          </a:xfrm>
          <a:prstGeom prst="rect">
            <a:avLst/>
          </a:prstGeom>
          <a:noFill/>
          <a:ln/>
        </p:spPr>
        <p:txBody>
          <a:bodyPr wrap="square" lIns="0" tIns="0" rIns="0" bIns="0" rtlCol="0" anchor="t">
            <a:normAutofit/>
          </a:bodyPr>
          <a:lstStyle/>
          <a:p>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Represents the change in the dependent variable (</a:t>
            </a:r>
            <a:pPr algn="l" indent="0" marL="0">
              <a:lnSpc>
                <a:spcPct val="114000"/>
              </a:lnSpc>
              <a:buNone/>
            </a:pPr>
            <a:r>
              <a:rPr lang="en-US" sz="750" i="1" dirty="0">
                <a:solidFill>
                  <a:srgbClr val="3C3939"/>
                </a:solidFill>
                <a:latin typeface="Roboto" pitchFamily="34" charset="0"/>
                <a:ea typeface="Roboto" pitchFamily="34" charset="-122"/>
                <a:cs typeface="Roboto" pitchFamily="34" charset="-120"/>
              </a:rPr>
              <a:t>y</a:t>
            </a:r>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 for every one-unit change in the independent variable (</a:t>
            </a:r>
            <a:pPr algn="l" indent="0" marL="0">
              <a:lnSpc>
                <a:spcPct val="114000"/>
              </a:lnSpc>
              <a:buNone/>
            </a:pPr>
            <a:r>
              <a:rPr lang="en-US" sz="750" i="1" dirty="0">
                <a:solidFill>
                  <a:srgbClr val="3C3939"/>
                </a:solidFill>
                <a:latin typeface="Roboto" pitchFamily="34" charset="0"/>
                <a:ea typeface="Roboto" pitchFamily="34" charset="-122"/>
                <a:cs typeface="Roboto" pitchFamily="34" charset="-120"/>
              </a:rPr>
              <a:t>x</a:t>
            </a:r>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a:t>
            </a:r>
            <a:endParaRPr lang="en-US" sz="750" dirty="0"/>
          </a:p>
        </p:txBody>
      </p:sp>
      <p:pic>
        <p:nvPicPr>
          <p:cNvPr id="13"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51509" y="2526953"/>
            <a:ext cx="1985442" cy="968946"/>
          </a:xfrm>
          <a:prstGeom prst="rect">
            <a:avLst/>
          </a:prstGeom>
        </p:spPr>
      </p:pic>
      <p:sp>
        <p:nvSpPr>
          <p:cNvPr id="14" name="Text 8"/>
          <p:cNvSpPr/>
          <p:nvPr/>
        </p:nvSpPr>
        <p:spPr>
          <a:xfrm>
            <a:off x="2722587" y="2640881"/>
            <a:ext cx="1700436" cy="155674"/>
          </a:xfrm>
          <a:prstGeom prst="rect">
            <a:avLst/>
          </a:prstGeom>
          <a:noFill/>
          <a:ln/>
        </p:spPr>
        <p:txBody>
          <a:bodyPr wrap="none" lIns="0" tIns="0" rIns="0" bIns="0" rtlCol="0" anchor="t"/>
          <a:lstStyle/>
          <a:p>
            <a:pPr algn="l" indent="0" marL="0">
              <a:lnSpc>
                <a:spcPct val="104000"/>
              </a:lnSpc>
              <a:buNone/>
            </a:pPr>
            <a:r>
              <a:rPr lang="en-US" sz="950" dirty="0">
                <a:solidFill>
                  <a:srgbClr val="1B1B27"/>
                </a:solidFill>
                <a:latin typeface="Raleway" pitchFamily="34" charset="0"/>
                <a:ea typeface="Raleway" pitchFamily="34" charset="-122"/>
                <a:cs typeface="Raleway" pitchFamily="34" charset="-120"/>
              </a:rPr>
              <a:t>b</a:t>
            </a:r>
            <a:pPr algn="l" indent="0" marL="0">
              <a:lnSpc>
                <a:spcPct val="104000"/>
              </a:lnSpc>
              <a:buNone/>
            </a:pPr>
            <a:r>
              <a:rPr lang="en-US" sz="950" dirty="0">
                <a:solidFill>
                  <a:srgbClr val="3C3939"/>
                </a:solidFill>
                <a:latin typeface="Raleway" pitchFamily="34" charset="0"/>
                <a:ea typeface="Raleway" pitchFamily="34" charset="-122"/>
                <a:cs typeface="Raleway" pitchFamily="34" charset="-120"/>
              </a:rPr>
              <a:t> — Y-Intercept</a:t>
            </a:r>
            <a:endParaRPr lang="en-US" sz="950" dirty="0"/>
          </a:p>
        </p:txBody>
      </p:sp>
      <p:sp>
        <p:nvSpPr>
          <p:cNvPr id="15" name="Text 9"/>
          <p:cNvSpPr/>
          <p:nvPr/>
        </p:nvSpPr>
        <p:spPr>
          <a:xfrm>
            <a:off x="2722587" y="2838599"/>
            <a:ext cx="1700436" cy="407491"/>
          </a:xfrm>
          <a:prstGeom prst="rect">
            <a:avLst/>
          </a:prstGeom>
          <a:noFill/>
          <a:ln/>
        </p:spPr>
        <p:txBody>
          <a:bodyPr wrap="square" lIns="0" tIns="0" rIns="0" bIns="0" rtlCol="0" anchor="t">
            <a:normAutofit/>
          </a:bodyPr>
          <a:lstStyle/>
          <a:p>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The predicted value of </a:t>
            </a:r>
            <a:pPr algn="l" indent="0" marL="0">
              <a:lnSpc>
                <a:spcPct val="114000"/>
              </a:lnSpc>
              <a:buNone/>
            </a:pPr>
            <a:r>
              <a:rPr lang="en-US" sz="750" i="1" dirty="0">
                <a:solidFill>
                  <a:srgbClr val="3C3939"/>
                </a:solidFill>
                <a:latin typeface="Roboto" pitchFamily="34" charset="0"/>
                <a:ea typeface="Roboto" pitchFamily="34" charset="-122"/>
                <a:cs typeface="Roboto" pitchFamily="34" charset="-120"/>
              </a:rPr>
              <a:t>y</a:t>
            </a:r>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 when </a:t>
            </a:r>
            <a:pPr algn="l" indent="0" marL="0">
              <a:lnSpc>
                <a:spcPct val="114000"/>
              </a:lnSpc>
              <a:buNone/>
            </a:pPr>
            <a:r>
              <a:rPr lang="en-US" sz="750" i="1" dirty="0">
                <a:solidFill>
                  <a:srgbClr val="3C3939"/>
                </a:solidFill>
                <a:latin typeface="Roboto" pitchFamily="34" charset="0"/>
                <a:ea typeface="Roboto" pitchFamily="34" charset="-122"/>
                <a:cs typeface="Roboto" pitchFamily="34" charset="-120"/>
              </a:rPr>
              <a:t>x</a:t>
            </a:r>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 is zero. It's where the regression line crosses the y-axis.</a:t>
            </a:r>
            <a:endParaRPr lang="en-US" sz="750" dirty="0"/>
          </a:p>
        </p:txBody>
      </p:sp>
      <p:pic>
        <p:nvPicPr>
          <p:cNvPr id="16"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06975" y="2526953"/>
            <a:ext cx="1985442" cy="968946"/>
          </a:xfrm>
          <a:prstGeom prst="rect">
            <a:avLst/>
          </a:prstGeom>
        </p:spPr>
      </p:pic>
      <p:sp>
        <p:nvSpPr>
          <p:cNvPr id="17" name="Text 10"/>
          <p:cNvSpPr/>
          <p:nvPr/>
        </p:nvSpPr>
        <p:spPr>
          <a:xfrm>
            <a:off x="4778053" y="2640881"/>
            <a:ext cx="1700436" cy="155674"/>
          </a:xfrm>
          <a:prstGeom prst="rect">
            <a:avLst/>
          </a:prstGeom>
          <a:noFill/>
          <a:ln/>
        </p:spPr>
        <p:txBody>
          <a:bodyPr wrap="none" lIns="0" tIns="0" rIns="0" bIns="0" rtlCol="0" anchor="t"/>
          <a:lstStyle/>
          <a:p>
            <a:pPr algn="l" indent="0" marL="0">
              <a:lnSpc>
                <a:spcPct val="104000"/>
              </a:lnSpc>
              <a:buNone/>
            </a:pPr>
            <a:r>
              <a:rPr lang="en-US" sz="950" dirty="0">
                <a:solidFill>
                  <a:srgbClr val="1B1B27"/>
                </a:solidFill>
                <a:latin typeface="Raleway" pitchFamily="34" charset="0"/>
                <a:ea typeface="Raleway" pitchFamily="34" charset="-122"/>
                <a:cs typeface="Raleway" pitchFamily="34" charset="-120"/>
              </a:rPr>
              <a:t>x_i</a:t>
            </a:r>
            <a:pPr algn="l" indent="0" marL="0">
              <a:lnSpc>
                <a:spcPct val="104000"/>
              </a:lnSpc>
              <a:buNone/>
            </a:pPr>
            <a:r>
              <a:rPr lang="en-US" sz="950" dirty="0">
                <a:solidFill>
                  <a:srgbClr val="3C3939"/>
                </a:solidFill>
                <a:latin typeface="Raleway" pitchFamily="34" charset="0"/>
                <a:ea typeface="Raleway" pitchFamily="34" charset="-122"/>
                <a:cs typeface="Raleway" pitchFamily="34" charset="-120"/>
              </a:rPr>
              <a:t> — Individual X-Value</a:t>
            </a:r>
            <a:endParaRPr lang="en-US" sz="950" dirty="0"/>
          </a:p>
        </p:txBody>
      </p:sp>
      <p:sp>
        <p:nvSpPr>
          <p:cNvPr id="18" name="Text 11"/>
          <p:cNvSpPr/>
          <p:nvPr/>
        </p:nvSpPr>
        <p:spPr>
          <a:xfrm>
            <a:off x="4778053" y="2838599"/>
            <a:ext cx="1700436" cy="407417"/>
          </a:xfrm>
          <a:prstGeom prst="rect">
            <a:avLst/>
          </a:prstGeom>
          <a:noFill/>
          <a:ln/>
        </p:spPr>
        <p:txBody>
          <a:bodyPr wrap="square" lIns="0" tIns="0" rIns="0" bIns="0" rtlCol="0" anchor="t">
            <a:normAutofit/>
          </a:bodyPr>
          <a:lstStyle/>
          <a:p>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A single observed value for the independent variable from your dataset.</a:t>
            </a:r>
            <a:endParaRPr lang="en-US" sz="750" dirty="0"/>
          </a:p>
        </p:txBody>
      </p:sp>
      <p:pic>
        <p:nvPicPr>
          <p:cNvPr id="19"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62440" y="2526953"/>
            <a:ext cx="1985442" cy="968946"/>
          </a:xfrm>
          <a:prstGeom prst="rect">
            <a:avLst/>
          </a:prstGeom>
        </p:spPr>
      </p:pic>
      <p:sp>
        <p:nvSpPr>
          <p:cNvPr id="20" name="Text 12"/>
          <p:cNvSpPr/>
          <p:nvPr/>
        </p:nvSpPr>
        <p:spPr>
          <a:xfrm>
            <a:off x="6833518" y="2640881"/>
            <a:ext cx="1700436" cy="155674"/>
          </a:xfrm>
          <a:prstGeom prst="rect">
            <a:avLst/>
          </a:prstGeom>
          <a:noFill/>
          <a:ln/>
        </p:spPr>
        <p:txBody>
          <a:bodyPr wrap="none" lIns="0" tIns="0" rIns="0" bIns="0" rtlCol="0" anchor="t"/>
          <a:lstStyle/>
          <a:p>
            <a:pPr algn="l" indent="0" marL="0">
              <a:lnSpc>
                <a:spcPct val="104000"/>
              </a:lnSpc>
              <a:buNone/>
            </a:pPr>
            <a:r>
              <a:rPr lang="en-US" sz="950" dirty="0">
                <a:solidFill>
                  <a:srgbClr val="1B1B27"/>
                </a:solidFill>
                <a:latin typeface="Raleway" pitchFamily="34" charset="0"/>
                <a:ea typeface="Raleway" pitchFamily="34" charset="-122"/>
                <a:cs typeface="Raleway" pitchFamily="34" charset="-120"/>
              </a:rPr>
              <a:t>y_i</a:t>
            </a:r>
            <a:pPr algn="l" indent="0" marL="0">
              <a:lnSpc>
                <a:spcPct val="104000"/>
              </a:lnSpc>
              <a:buNone/>
            </a:pPr>
            <a:r>
              <a:rPr lang="en-US" sz="950" dirty="0">
                <a:solidFill>
                  <a:srgbClr val="3C3939"/>
                </a:solidFill>
                <a:latin typeface="Raleway" pitchFamily="34" charset="0"/>
                <a:ea typeface="Raleway" pitchFamily="34" charset="-122"/>
                <a:cs typeface="Raleway" pitchFamily="34" charset="-120"/>
              </a:rPr>
              <a:t> — Individual Y-Value</a:t>
            </a:r>
            <a:endParaRPr lang="en-US" sz="950" dirty="0"/>
          </a:p>
        </p:txBody>
      </p:sp>
      <p:sp>
        <p:nvSpPr>
          <p:cNvPr id="21" name="Text 13"/>
          <p:cNvSpPr/>
          <p:nvPr/>
        </p:nvSpPr>
        <p:spPr>
          <a:xfrm>
            <a:off x="6833518" y="2838599"/>
            <a:ext cx="1700436" cy="407491"/>
          </a:xfrm>
          <a:prstGeom prst="rect">
            <a:avLst/>
          </a:prstGeom>
          <a:noFill/>
          <a:ln/>
        </p:spPr>
        <p:txBody>
          <a:bodyPr wrap="square" lIns="0" tIns="0" rIns="0" bIns="0" rtlCol="0" anchor="t">
            <a:normAutofit/>
          </a:bodyPr>
          <a:lstStyle/>
          <a:p>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A single observed value for the dependent variable corresponding to </a:t>
            </a:r>
            <a:pPr algn="l" indent="0" marL="0">
              <a:lnSpc>
                <a:spcPct val="114000"/>
              </a:lnSpc>
              <a:buNone/>
            </a:pPr>
            <a:r>
              <a:rPr lang="en-US" sz="750" i="1" dirty="0">
                <a:solidFill>
                  <a:srgbClr val="3C3939"/>
                </a:solidFill>
                <a:latin typeface="Roboto" pitchFamily="34" charset="0"/>
                <a:ea typeface="Roboto" pitchFamily="34" charset="-122"/>
                <a:cs typeface="Roboto" pitchFamily="34" charset="-120"/>
              </a:rPr>
              <a:t>x_i</a:t>
            </a:r>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a:t>
            </a:r>
            <a:endParaRPr lang="en-US" sz="750" dirty="0"/>
          </a:p>
        </p:txBody>
      </p:sp>
      <p:pic>
        <p:nvPicPr>
          <p:cNvPr id="22" name="Image 6"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6119" y="3565922"/>
            <a:ext cx="1985367" cy="832991"/>
          </a:xfrm>
          <a:prstGeom prst="rect">
            <a:avLst/>
          </a:prstGeom>
        </p:spPr>
      </p:pic>
      <p:sp>
        <p:nvSpPr>
          <p:cNvPr id="23" name="Text 14"/>
          <p:cNvSpPr/>
          <p:nvPr/>
        </p:nvSpPr>
        <p:spPr>
          <a:xfrm>
            <a:off x="667196" y="3679850"/>
            <a:ext cx="1700361" cy="155674"/>
          </a:xfrm>
          <a:prstGeom prst="rect">
            <a:avLst/>
          </a:prstGeom>
          <a:noFill/>
          <a:ln/>
        </p:spPr>
        <p:txBody>
          <a:bodyPr wrap="none" lIns="0" tIns="0" rIns="0" bIns="0" rtlCol="0" anchor="t"/>
          <a:lstStyle/>
          <a:p>
            <a:pPr algn="l" indent="0" marL="0">
              <a:lnSpc>
                <a:spcPct val="104000"/>
              </a:lnSpc>
              <a:buNone/>
            </a:pPr>
            <a:r>
              <a:rPr lang="en-US" sz="950" dirty="0">
                <a:solidFill>
                  <a:srgbClr val="1B1B27"/>
                </a:solidFill>
                <a:latin typeface="Raleway" pitchFamily="34" charset="0"/>
                <a:ea typeface="Raleway" pitchFamily="34" charset="-122"/>
                <a:cs typeface="Raleway" pitchFamily="34" charset="-120"/>
              </a:rPr>
              <a:t>\bar{x}</a:t>
            </a:r>
            <a:pPr algn="l" indent="0" marL="0">
              <a:lnSpc>
                <a:spcPct val="104000"/>
              </a:lnSpc>
              <a:buNone/>
            </a:pPr>
            <a:r>
              <a:rPr lang="en-US" sz="950" dirty="0">
                <a:solidFill>
                  <a:srgbClr val="3C3939"/>
                </a:solidFill>
                <a:latin typeface="Raleway" pitchFamily="34" charset="0"/>
                <a:ea typeface="Raleway" pitchFamily="34" charset="-122"/>
                <a:cs typeface="Raleway" pitchFamily="34" charset="-120"/>
              </a:rPr>
              <a:t> — Mean of X</a:t>
            </a:r>
            <a:endParaRPr lang="en-US" sz="950" dirty="0"/>
          </a:p>
        </p:txBody>
      </p:sp>
      <p:sp>
        <p:nvSpPr>
          <p:cNvPr id="24" name="Text 15"/>
          <p:cNvSpPr/>
          <p:nvPr/>
        </p:nvSpPr>
        <p:spPr>
          <a:xfrm>
            <a:off x="667196" y="3877568"/>
            <a:ext cx="1700361" cy="271611"/>
          </a:xfrm>
          <a:prstGeom prst="rect">
            <a:avLst/>
          </a:prstGeom>
          <a:noFill/>
          <a:ln/>
        </p:spPr>
        <p:txBody>
          <a:bodyPr wrap="square" lIns="0" tIns="0" rIns="0" bIns="0" rtlCol="0" anchor="t">
            <a:normAutofit/>
          </a:bodyPr>
          <a:lstStyle/>
          <a:p>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The average of all independent variable values in the dataset.</a:t>
            </a:r>
            <a:endParaRPr lang="en-US" sz="750" dirty="0"/>
          </a:p>
        </p:txBody>
      </p:sp>
      <p:pic>
        <p:nvPicPr>
          <p:cNvPr id="25" name="Image 7"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51509" y="3565922"/>
            <a:ext cx="1985442" cy="832991"/>
          </a:xfrm>
          <a:prstGeom prst="rect">
            <a:avLst/>
          </a:prstGeom>
        </p:spPr>
      </p:pic>
      <p:sp>
        <p:nvSpPr>
          <p:cNvPr id="26" name="Text 16"/>
          <p:cNvSpPr/>
          <p:nvPr/>
        </p:nvSpPr>
        <p:spPr>
          <a:xfrm>
            <a:off x="2722587" y="3679850"/>
            <a:ext cx="1700436" cy="155674"/>
          </a:xfrm>
          <a:prstGeom prst="rect">
            <a:avLst/>
          </a:prstGeom>
          <a:noFill/>
          <a:ln/>
        </p:spPr>
        <p:txBody>
          <a:bodyPr wrap="none" lIns="0" tIns="0" rIns="0" bIns="0" rtlCol="0" anchor="t"/>
          <a:lstStyle/>
          <a:p>
            <a:pPr algn="l" indent="0" marL="0">
              <a:lnSpc>
                <a:spcPct val="104000"/>
              </a:lnSpc>
              <a:buNone/>
            </a:pPr>
            <a:r>
              <a:rPr lang="en-US" sz="950" dirty="0">
                <a:solidFill>
                  <a:srgbClr val="1B1B27"/>
                </a:solidFill>
                <a:latin typeface="Raleway" pitchFamily="34" charset="0"/>
                <a:ea typeface="Raleway" pitchFamily="34" charset="-122"/>
                <a:cs typeface="Raleway" pitchFamily="34" charset="-120"/>
              </a:rPr>
              <a:t>\bar{y}</a:t>
            </a:r>
            <a:pPr algn="l" indent="0" marL="0">
              <a:lnSpc>
                <a:spcPct val="104000"/>
              </a:lnSpc>
              <a:buNone/>
            </a:pPr>
            <a:r>
              <a:rPr lang="en-US" sz="950" dirty="0">
                <a:solidFill>
                  <a:srgbClr val="3C3939"/>
                </a:solidFill>
                <a:latin typeface="Raleway" pitchFamily="34" charset="0"/>
                <a:ea typeface="Raleway" pitchFamily="34" charset="-122"/>
                <a:cs typeface="Raleway" pitchFamily="34" charset="-120"/>
              </a:rPr>
              <a:t> — Mean of Y</a:t>
            </a:r>
            <a:endParaRPr lang="en-US" sz="950" dirty="0"/>
          </a:p>
        </p:txBody>
      </p:sp>
      <p:sp>
        <p:nvSpPr>
          <p:cNvPr id="27" name="Text 17"/>
          <p:cNvSpPr/>
          <p:nvPr/>
        </p:nvSpPr>
        <p:spPr>
          <a:xfrm>
            <a:off x="2722587" y="3877568"/>
            <a:ext cx="1700436" cy="271611"/>
          </a:xfrm>
          <a:prstGeom prst="rect">
            <a:avLst/>
          </a:prstGeom>
          <a:noFill/>
          <a:ln/>
        </p:spPr>
        <p:txBody>
          <a:bodyPr wrap="square" lIns="0" tIns="0" rIns="0" bIns="0" rtlCol="0" anchor="t">
            <a:normAutofit/>
          </a:bodyPr>
          <a:lstStyle/>
          <a:p>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The average of all dependent variable values in the dataset.</a:t>
            </a:r>
            <a:endParaRPr lang="en-US" sz="750" dirty="0"/>
          </a:p>
        </p:txBody>
      </p:sp>
      <p:pic>
        <p:nvPicPr>
          <p:cNvPr id="28" name="Image 8"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06975" y="3565922"/>
            <a:ext cx="1985442" cy="832991"/>
          </a:xfrm>
          <a:prstGeom prst="rect">
            <a:avLst/>
          </a:prstGeom>
        </p:spPr>
      </p:pic>
      <p:sp>
        <p:nvSpPr>
          <p:cNvPr id="29" name="Text 18"/>
          <p:cNvSpPr/>
          <p:nvPr/>
        </p:nvSpPr>
        <p:spPr>
          <a:xfrm>
            <a:off x="4778053" y="3679850"/>
            <a:ext cx="1700436" cy="155674"/>
          </a:xfrm>
          <a:prstGeom prst="rect">
            <a:avLst/>
          </a:prstGeom>
          <a:noFill/>
          <a:ln/>
        </p:spPr>
        <p:txBody>
          <a:bodyPr wrap="none" lIns="0" tIns="0" rIns="0" bIns="0" rtlCol="0" anchor="t"/>
          <a:lstStyle/>
          <a:p>
            <a:pPr algn="l" indent="0" marL="0">
              <a:lnSpc>
                <a:spcPct val="104000"/>
              </a:lnSpc>
              <a:buNone/>
            </a:pPr>
            <a:r>
              <a:rPr lang="en-US" sz="950" dirty="0">
                <a:solidFill>
                  <a:srgbClr val="1B1B27"/>
                </a:solidFill>
                <a:latin typeface="Raleway" pitchFamily="34" charset="0"/>
                <a:ea typeface="Raleway" pitchFamily="34" charset="-122"/>
                <a:cs typeface="Raleway" pitchFamily="34" charset="-120"/>
              </a:rPr>
              <a:t>\sum</a:t>
            </a:r>
            <a:pPr algn="l" indent="0" marL="0">
              <a:lnSpc>
                <a:spcPct val="104000"/>
              </a:lnSpc>
              <a:buNone/>
            </a:pPr>
            <a:r>
              <a:rPr lang="en-US" sz="950" dirty="0">
                <a:solidFill>
                  <a:srgbClr val="3C3939"/>
                </a:solidFill>
                <a:latin typeface="Raleway" pitchFamily="34" charset="0"/>
                <a:ea typeface="Raleway" pitchFamily="34" charset="-122"/>
                <a:cs typeface="Raleway" pitchFamily="34" charset="-120"/>
              </a:rPr>
              <a:t> — Summation</a:t>
            </a:r>
            <a:endParaRPr lang="en-US" sz="950" dirty="0"/>
          </a:p>
        </p:txBody>
      </p:sp>
      <p:sp>
        <p:nvSpPr>
          <p:cNvPr id="30" name="Text 19"/>
          <p:cNvSpPr/>
          <p:nvPr/>
        </p:nvSpPr>
        <p:spPr>
          <a:xfrm>
            <a:off x="4778053" y="3877568"/>
            <a:ext cx="1700436" cy="407417"/>
          </a:xfrm>
          <a:prstGeom prst="rect">
            <a:avLst/>
          </a:prstGeom>
          <a:noFill/>
          <a:ln/>
        </p:spPr>
        <p:txBody>
          <a:bodyPr wrap="square" lIns="0" tIns="0" rIns="0" bIns="0" rtlCol="0" anchor="t">
            <a:normAutofit/>
          </a:bodyPr>
          <a:lstStyle/>
          <a:p>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Indicates the sum of all values that follow, calculated across all data points.</a:t>
            </a:r>
            <a:endParaRPr lang="en-US" sz="750" dirty="0"/>
          </a:p>
        </p:txBody>
      </p:sp>
      <p:sp>
        <p:nvSpPr>
          <p:cNvPr id="31" name="Text 20"/>
          <p:cNvSpPr/>
          <p:nvPr/>
        </p:nvSpPr>
        <p:spPr>
          <a:xfrm>
            <a:off x="496119" y="4477717"/>
            <a:ext cx="8151763" cy="271611"/>
          </a:xfrm>
          <a:prstGeom prst="rect">
            <a:avLst/>
          </a:prstGeom>
          <a:noFill/>
          <a:ln/>
        </p:spPr>
        <p:txBody>
          <a:bodyPr wrap="square" lIns="0" tIns="0" rIns="0" bIns="0" rtlCol="0" anchor="t">
            <a:normAutofit/>
          </a:bodyPr>
          <a:lstStyle/>
          <a:p>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The Least Squares Method </a:t>
            </a:r>
            <a:pPr algn="l" indent="0" marL="0">
              <a:lnSpc>
                <a:spcPct val="114000"/>
              </a:lnSpc>
              <a:buNone/>
            </a:pPr>
            <a:r>
              <a:rPr lang="en-US" sz="750" b="1" dirty="0">
                <a:solidFill>
                  <a:srgbClr val="3C3939"/>
                </a:solidFill>
                <a:latin typeface="Roboto Bold" pitchFamily="34" charset="0"/>
                <a:ea typeface="Roboto Bold" pitchFamily="34" charset="-122"/>
                <a:cs typeface="Roboto Bold" pitchFamily="34" charset="-120"/>
              </a:rPr>
              <a:t>minimizes the sum of the squared errors (residuals)</a:t>
            </a:r>
            <a:pPr algn="l" indent="0" marL="0">
              <a:lnSpc>
                <a:spcPct val="114000"/>
              </a:lnSpc>
              <a:buNone/>
            </a:pPr>
            <a:r>
              <a:rPr lang="en-US" sz="750" dirty="0">
                <a:solidFill>
                  <a:srgbClr val="3C3939"/>
                </a:solidFill>
                <a:latin typeface="Roboto" pitchFamily="34" charset="0"/>
                <a:ea typeface="Roboto" pitchFamily="34" charset="-122"/>
                <a:cs typeface="Roboto" pitchFamily="34" charset="-120"/>
              </a:rPr>
              <a:t> by finding the line that is closest to all data points. Squaring the errors ensures that all deviations (both positive and negative) contribute positively to the sum, and it disproportionately penalizes larger errors, pushing the line to fit the bulk of the data more closely.</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dirty="0">
                <a:solidFill>
                  <a:srgbClr val="1B1B27"/>
                </a:solidFill>
                <a:latin typeface="Raleway" pitchFamily="34" charset="0"/>
                <a:ea typeface="Raleway" pitchFamily="34" charset="-122"/>
                <a:cs typeface="Raleway" pitchFamily="34" charset="-120"/>
              </a:rPr>
              <a:t>Plotting the Regression Line: y = 5x + 40</a:t>
            </a:r>
            <a:endParaRPr lang="en-US" sz="1350" dirty="0"/>
          </a:p>
        </p:txBody>
      </p:sp>
      <p:pic>
        <p:nvPicPr>
          <p:cNvPr id="3" name="Image 0" descr="preencoded.png">    </p:cNvPr>
          <p:cNvPicPr>
            <a:picLocks noChangeAspect="1"/>
          </p:cNvPicPr>
          <p:nvPr/>
        </p:nvPicPr>
        <p:blipFill>
          <a:blip r:embed="rId1"/>
          <a:stretch>
            <a:fillRect/>
          </a:stretch>
        </p:blipFill>
        <p:spPr>
          <a:xfrm>
            <a:off x="496119" y="682154"/>
            <a:ext cx="8151763" cy="4564931"/>
          </a:xfrm>
          <a:prstGeom prst="rect">
            <a:avLst/>
          </a:prstGeom>
        </p:spPr>
      </p:pic>
      <p:sp>
        <p:nvSpPr>
          <p:cNvPr id="4" name="Shape 1"/>
          <p:cNvSpPr/>
          <p:nvPr/>
        </p:nvSpPr>
        <p:spPr>
          <a:xfrm>
            <a:off x="496119" y="5286896"/>
            <a:ext cx="8151763" cy="368201"/>
          </a:xfrm>
          <a:prstGeom prst="roundRect">
            <a:avLst>
              <a:gd name="adj" fmla="val 8086"/>
            </a:avLst>
          </a:prstGeom>
          <a:solidFill>
            <a:srgbClr val="E1E1EA"/>
          </a:solidFill>
          <a:ln w="4763">
            <a:solidFill>
              <a:srgbClr val="C7C7D0"/>
            </a:solidFill>
            <a:prstDash val="solid"/>
          </a:ln>
        </p:spPr>
      </p:sp>
      <p:sp>
        <p:nvSpPr>
          <p:cNvPr id="5" name="Shape 2"/>
          <p:cNvSpPr/>
          <p:nvPr/>
        </p:nvSpPr>
        <p:spPr>
          <a:xfrm>
            <a:off x="500881" y="5291658"/>
            <a:ext cx="2714030" cy="358676"/>
          </a:xfrm>
          <a:custGeom>
            <a:avLst/>
            <a:gdLst/>
            <a:ahLst/>
            <a:cxnLst/>
            <a:rect l="l" t="t" r="r" b="b"/>
            <a:pathLst>
              <a:path w="2714030" h="358676">
                <a:moveTo>
                  <a:pt x="24809" y="0"/>
                </a:moveTo>
                <a:lnTo>
                  <a:pt x="2714030" y="0"/>
                </a:lnTo>
                <a:lnTo>
                  <a:pt x="2714030" y="358676"/>
                </a:lnTo>
                <a:lnTo>
                  <a:pt x="24809" y="358676"/>
                </a:lnTo>
                <a:arcTo hR="24809" wR="24809" stAng="5400000" swAng="5400000"/>
                <a:lnTo>
                  <a:pt x="0" y="24809"/>
                </a:lnTo>
                <a:arcTo hR="24809" wR="24809" stAng="10800000" swAng="5400000"/>
                <a:close/>
              </a:path>
            </a:pathLst>
          </a:custGeom>
          <a:solidFill>
            <a:srgbClr val="E1E1EA"/>
          </a:solidFill>
          <a:ln/>
        </p:spPr>
      </p:sp>
      <p:sp>
        <p:nvSpPr>
          <p:cNvPr id="6" name="Text 3"/>
          <p:cNvSpPr/>
          <p:nvPr/>
        </p:nvSpPr>
        <p:spPr>
          <a:xfrm>
            <a:off x="571723" y="5362501"/>
            <a:ext cx="2572345"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Y-Intercept (0, 40)</a:t>
            </a:r>
            <a:endParaRPr lang="en-US" sz="650" dirty="0"/>
          </a:p>
        </p:txBody>
      </p:sp>
      <p:sp>
        <p:nvSpPr>
          <p:cNvPr id="7" name="Text 4"/>
          <p:cNvSpPr/>
          <p:nvPr/>
        </p:nvSpPr>
        <p:spPr>
          <a:xfrm>
            <a:off x="571723" y="5494437"/>
            <a:ext cx="2572345" cy="85055"/>
          </a:xfrm>
          <a:prstGeom prst="rect">
            <a:avLst/>
          </a:prstGeom>
          <a:noFill/>
          <a:ln/>
        </p:spPr>
        <p:txBody>
          <a:bodyPr wrap="none" lIns="0" tIns="0" rIns="0" bIns="0" rtlCol="0" anchor="t"/>
          <a:lstStyle/>
          <a:p>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Predicted score when 0 hours studied.</a:t>
            </a:r>
            <a:endParaRPr lang="en-US" sz="550" dirty="0"/>
          </a:p>
        </p:txBody>
      </p:sp>
      <p:sp>
        <p:nvSpPr>
          <p:cNvPr id="8" name="Shape 5"/>
          <p:cNvSpPr/>
          <p:nvPr/>
        </p:nvSpPr>
        <p:spPr>
          <a:xfrm>
            <a:off x="3214911" y="5291658"/>
            <a:ext cx="2714104" cy="358676"/>
          </a:xfrm>
          <a:prstGeom prst="rect">
            <a:avLst/>
          </a:prstGeom>
          <a:solidFill>
            <a:srgbClr val="E1E1EA"/>
          </a:solidFill>
          <a:ln/>
        </p:spPr>
      </p:sp>
      <p:sp>
        <p:nvSpPr>
          <p:cNvPr id="9" name="Shape 6"/>
          <p:cNvSpPr/>
          <p:nvPr/>
        </p:nvSpPr>
        <p:spPr>
          <a:xfrm>
            <a:off x="3214911" y="5291658"/>
            <a:ext cx="9525" cy="358676"/>
          </a:xfrm>
          <a:prstGeom prst="roundRect">
            <a:avLst>
              <a:gd name="adj" fmla="val 50000"/>
            </a:avLst>
          </a:prstGeom>
          <a:solidFill>
            <a:srgbClr val="C7C7D0"/>
          </a:solidFill>
          <a:ln/>
        </p:spPr>
      </p:sp>
      <p:sp>
        <p:nvSpPr>
          <p:cNvPr id="10" name="Text 7"/>
          <p:cNvSpPr/>
          <p:nvPr/>
        </p:nvSpPr>
        <p:spPr>
          <a:xfrm>
            <a:off x="3285753" y="5362501"/>
            <a:ext cx="2572420"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Key Point (6, 70)</a:t>
            </a:r>
            <a:endParaRPr lang="en-US" sz="650" dirty="0"/>
          </a:p>
        </p:txBody>
      </p:sp>
      <p:sp>
        <p:nvSpPr>
          <p:cNvPr id="11" name="Text 8"/>
          <p:cNvSpPr/>
          <p:nvPr/>
        </p:nvSpPr>
        <p:spPr>
          <a:xfrm>
            <a:off x="3285753" y="5494437"/>
            <a:ext cx="2572420" cy="85055"/>
          </a:xfrm>
          <a:prstGeom prst="rect">
            <a:avLst/>
          </a:prstGeom>
          <a:noFill/>
          <a:ln/>
        </p:spPr>
        <p:txBody>
          <a:bodyPr wrap="none" lIns="0" tIns="0" rIns="0" bIns="0" rtlCol="0" anchor="t"/>
          <a:lstStyle/>
          <a:p>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6 hours studied → 70 marks predicted.</a:t>
            </a:r>
            <a:endParaRPr lang="en-US" sz="550" dirty="0"/>
          </a:p>
        </p:txBody>
      </p:sp>
      <p:sp>
        <p:nvSpPr>
          <p:cNvPr id="12" name="Shape 9"/>
          <p:cNvSpPr/>
          <p:nvPr/>
        </p:nvSpPr>
        <p:spPr>
          <a:xfrm>
            <a:off x="5929015" y="5291658"/>
            <a:ext cx="2714104" cy="358676"/>
          </a:xfrm>
          <a:custGeom>
            <a:avLst/>
            <a:gdLst/>
            <a:ahLst/>
            <a:cxnLst/>
            <a:rect l="l" t="t" r="r" b="b"/>
            <a:pathLst>
              <a:path w="2714104" h="358676">
                <a:moveTo>
                  <a:pt x="0" y="0"/>
                </a:moveTo>
                <a:lnTo>
                  <a:pt x="2689295" y="0"/>
                </a:lnTo>
                <a:arcTo hR="24809" wR="24809" stAng="16200000" swAng="5400000"/>
                <a:lnTo>
                  <a:pt x="2714104" y="333866"/>
                </a:lnTo>
                <a:arcTo hR="24809" wR="24809" stAng="0" swAng="5400000"/>
                <a:lnTo>
                  <a:pt x="0" y="358676"/>
                </a:lnTo>
                <a:lnTo>
                  <a:pt x="0" y="0"/>
                </a:lnTo>
                <a:close/>
              </a:path>
            </a:pathLst>
          </a:custGeom>
          <a:solidFill>
            <a:srgbClr val="E1E1EA"/>
          </a:solidFill>
          <a:ln/>
        </p:spPr>
      </p:sp>
      <p:sp>
        <p:nvSpPr>
          <p:cNvPr id="13" name="Shape 10"/>
          <p:cNvSpPr/>
          <p:nvPr/>
        </p:nvSpPr>
        <p:spPr>
          <a:xfrm>
            <a:off x="5929015" y="5291658"/>
            <a:ext cx="9525" cy="358676"/>
          </a:xfrm>
          <a:prstGeom prst="roundRect">
            <a:avLst>
              <a:gd name="adj" fmla="val 50000"/>
            </a:avLst>
          </a:prstGeom>
          <a:solidFill>
            <a:srgbClr val="C7C7D0"/>
          </a:solidFill>
          <a:ln/>
        </p:spPr>
      </p:sp>
      <p:sp>
        <p:nvSpPr>
          <p:cNvPr id="14" name="Text 11"/>
          <p:cNvSpPr/>
          <p:nvPr/>
        </p:nvSpPr>
        <p:spPr>
          <a:xfrm>
            <a:off x="5999857" y="5362501"/>
            <a:ext cx="2572420"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Slope = 5</a:t>
            </a:r>
            <a:endParaRPr lang="en-US" sz="650" dirty="0"/>
          </a:p>
        </p:txBody>
      </p:sp>
      <p:sp>
        <p:nvSpPr>
          <p:cNvPr id="15" name="Text 12"/>
          <p:cNvSpPr/>
          <p:nvPr/>
        </p:nvSpPr>
        <p:spPr>
          <a:xfrm>
            <a:off x="5999857" y="5494437"/>
            <a:ext cx="2572420" cy="85055"/>
          </a:xfrm>
          <a:prstGeom prst="rect">
            <a:avLst/>
          </a:prstGeom>
          <a:noFill/>
          <a:ln/>
        </p:spPr>
        <p:txBody>
          <a:bodyPr wrap="none" lIns="0" tIns="0" rIns="0" bIns="0" rtlCol="0" anchor="t"/>
          <a:lstStyle/>
          <a:p>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Each extra hour adds 5 marks to the score.</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94618"/>
            <a:ext cx="8151763" cy="339179"/>
          </a:xfrm>
          <a:prstGeom prst="rect">
            <a:avLst/>
          </a:prstGeom>
          <a:noFill/>
          <a:ln/>
        </p:spPr>
        <p:txBody>
          <a:bodyPr wrap="none" lIns="0" tIns="0" rIns="0" bIns="0" rtlCol="0" anchor="t"/>
          <a:lstStyle/>
          <a:p>
            <a:pPr algn="l" indent="0" marL="0">
              <a:lnSpc>
                <a:spcPct val="104000"/>
              </a:lnSpc>
              <a:buNone/>
            </a:pPr>
            <a:r>
              <a:rPr lang="en-US" sz="2100" dirty="0">
                <a:solidFill>
                  <a:srgbClr val="1B1B27"/>
                </a:solidFill>
                <a:latin typeface="Raleway" pitchFamily="34" charset="0"/>
                <a:ea typeface="Raleway" pitchFamily="34" charset="-122"/>
                <a:cs typeface="Raleway" pitchFamily="34" charset="-120"/>
              </a:rPr>
              <a:t>How Linear Regression Finds the Best Line</a:t>
            </a:r>
            <a:endParaRPr lang="en-US" sz="2100" dirty="0"/>
          </a:p>
        </p:txBody>
      </p:sp>
      <p:pic>
        <p:nvPicPr>
          <p:cNvPr id="3" name="Image 0" descr="preencoded.png">    </p:cNvPr>
          <p:cNvPicPr>
            <a:picLocks noChangeAspect="1"/>
          </p:cNvPicPr>
          <p:nvPr/>
        </p:nvPicPr>
        <p:blipFill>
          <a:blip r:embed="rId1"/>
          <a:stretch>
            <a:fillRect/>
          </a:stretch>
        </p:blipFill>
        <p:spPr>
          <a:xfrm>
            <a:off x="496119" y="951905"/>
            <a:ext cx="3943499" cy="2838524"/>
          </a:xfrm>
          <a:prstGeom prst="rect">
            <a:avLst/>
          </a:prstGeom>
        </p:spPr>
      </p:pic>
      <p:sp>
        <p:nvSpPr>
          <p:cNvPr id="4" name="Text 1"/>
          <p:cNvSpPr/>
          <p:nvPr/>
        </p:nvSpPr>
        <p:spPr>
          <a:xfrm>
            <a:off x="4709145" y="933227"/>
            <a:ext cx="3943499"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3C3939"/>
                </a:solidFill>
                <a:latin typeface="Roboto" pitchFamily="34" charset="0"/>
                <a:ea typeface="Roboto" pitchFamily="34" charset="-122"/>
                <a:cs typeface="Roboto" pitchFamily="34" charset="-120"/>
              </a:rPr>
              <a:t>Real-world data does </a:t>
            </a:r>
            <a:pPr algn="l" indent="0" marL="0">
              <a:lnSpc>
                <a:spcPct val="118000"/>
              </a:lnSpc>
              <a:buNone/>
            </a:pPr>
            <a:r>
              <a:rPr lang="en-US" sz="850" b="1" dirty="0">
                <a:solidFill>
                  <a:srgbClr val="3C3939"/>
                </a:solidFill>
                <a:latin typeface="Roboto Bold" pitchFamily="34" charset="0"/>
                <a:ea typeface="Roboto Bold" pitchFamily="34" charset="-122"/>
                <a:cs typeface="Roboto Bold" pitchFamily="34" charset="-120"/>
              </a:rPr>
              <a:t>not</a:t>
            </a:r>
            <a:pPr algn="l" indent="0" marL="0">
              <a:lnSpc>
                <a:spcPct val="118000"/>
              </a:lnSpc>
              <a:buNone/>
            </a:pPr>
            <a:r>
              <a:rPr lang="en-US" sz="850" dirty="0">
                <a:solidFill>
                  <a:srgbClr val="3C3939"/>
                </a:solidFill>
                <a:latin typeface="Roboto" pitchFamily="34" charset="0"/>
                <a:ea typeface="Roboto" pitchFamily="34" charset="-122"/>
                <a:cs typeface="Roboto" pitchFamily="34" charset="-120"/>
              </a:rPr>
              <a:t> fall perfectly on a straight line. Each data point has a gap from the predicted line — called a </a:t>
            </a:r>
            <a:pPr algn="l" indent="0" marL="0">
              <a:lnSpc>
                <a:spcPct val="118000"/>
              </a:lnSpc>
              <a:buNone/>
            </a:pPr>
            <a:r>
              <a:rPr lang="en-US" sz="850" b="1" dirty="0">
                <a:solidFill>
                  <a:srgbClr val="3C3939"/>
                </a:solidFill>
                <a:latin typeface="Roboto Bold" pitchFamily="34" charset="0"/>
                <a:ea typeface="Roboto Bold" pitchFamily="34" charset="-122"/>
                <a:cs typeface="Roboto Bold" pitchFamily="34" charset="-120"/>
              </a:rPr>
              <a:t>residual</a:t>
            </a:r>
            <a:pPr algn="l" indent="0" marL="0">
              <a:lnSpc>
                <a:spcPct val="118000"/>
              </a:lnSpc>
              <a:buNone/>
            </a:pPr>
            <a:r>
              <a:rPr lang="en-US" sz="850" dirty="0">
                <a:solidFill>
                  <a:srgbClr val="3C3939"/>
                </a:solidFill>
                <a:latin typeface="Roboto" pitchFamily="34" charset="0"/>
                <a:ea typeface="Roboto" pitchFamily="34" charset="-122"/>
                <a:cs typeface="Roboto" pitchFamily="34" charset="-120"/>
              </a:rPr>
              <a:t>.</a:t>
            </a:r>
            <a:endParaRPr lang="en-US" sz="850" dirty="0"/>
          </a:p>
        </p:txBody>
      </p:sp>
      <p:sp>
        <p:nvSpPr>
          <p:cNvPr id="5" name="Shape 2"/>
          <p:cNvSpPr/>
          <p:nvPr/>
        </p:nvSpPr>
        <p:spPr>
          <a:xfrm>
            <a:off x="4709145" y="1333277"/>
            <a:ext cx="3943499" cy="510332"/>
          </a:xfrm>
          <a:prstGeom prst="roundRect">
            <a:avLst>
              <a:gd name="adj" fmla="val 8933"/>
            </a:avLst>
          </a:prstGeom>
          <a:solidFill>
            <a:srgbClr val="E1E1EA"/>
          </a:solidFill>
          <a:ln/>
        </p:spPr>
      </p:sp>
      <p:pic>
        <p:nvPicPr>
          <p:cNvPr id="6" name="Image 1" descr="preencoded.png">    </p:cNvPr>
          <p:cNvPicPr>
            <a:picLocks noChangeAspect="1"/>
          </p:cNvPicPr>
          <p:nvPr/>
        </p:nvPicPr>
        <p:blipFill>
          <a:blip r:embed="rId2"/>
          <a:stretch>
            <a:fillRect/>
          </a:stretch>
        </p:blipFill>
        <p:spPr>
          <a:xfrm>
            <a:off x="4817641" y="1457995"/>
            <a:ext cx="135657" cy="108496"/>
          </a:xfrm>
          <a:prstGeom prst="rect">
            <a:avLst/>
          </a:prstGeom>
        </p:spPr>
      </p:pic>
      <p:sp>
        <p:nvSpPr>
          <p:cNvPr id="7" name="Text 3"/>
          <p:cNvSpPr/>
          <p:nvPr/>
        </p:nvSpPr>
        <p:spPr>
          <a:xfrm>
            <a:off x="5061793" y="1435150"/>
            <a:ext cx="3482355"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000000"/>
                </a:solidFill>
                <a:latin typeface="Roboto" pitchFamily="34" charset="0"/>
                <a:ea typeface="Roboto" pitchFamily="34" charset="-122"/>
                <a:cs typeface="Roboto" pitchFamily="34" charset="-120"/>
              </a:rPr>
              <a:t>Linear Regression finds the line that makes these prediction errors </a:t>
            </a:r>
            <a:pPr algn="l" indent="0" marL="0">
              <a:lnSpc>
                <a:spcPct val="118000"/>
              </a:lnSpc>
              <a:buNone/>
            </a:pPr>
            <a:r>
              <a:rPr lang="en-US" sz="850" b="1" dirty="0">
                <a:solidFill>
                  <a:srgbClr val="000000"/>
                </a:solidFill>
                <a:latin typeface="Roboto Bold" pitchFamily="34" charset="0"/>
                <a:ea typeface="Roboto Bold" pitchFamily="34" charset="-122"/>
                <a:cs typeface="Roboto Bold" pitchFamily="34" charset="-120"/>
              </a:rPr>
              <a:t>as small as possible</a:t>
            </a:r>
            <a:pPr algn="l" indent="0" marL="0">
              <a:lnSpc>
                <a:spcPct val="118000"/>
              </a:lnSpc>
              <a:buNone/>
            </a:pPr>
            <a:r>
              <a:rPr lang="en-US" sz="850" dirty="0">
                <a:solidFill>
                  <a:srgbClr val="000000"/>
                </a:solidFill>
                <a:latin typeface="Roboto" pitchFamily="34" charset="0"/>
                <a:ea typeface="Roboto" pitchFamily="34" charset="-122"/>
                <a:cs typeface="Roboto" pitchFamily="34" charset="-120"/>
              </a:rPr>
              <a:t> — the </a:t>
            </a:r>
            <a:pPr algn="l" indent="0" marL="0">
              <a:lnSpc>
                <a:spcPct val="118000"/>
              </a:lnSpc>
              <a:buNone/>
            </a:pPr>
            <a:r>
              <a:rPr lang="en-US" sz="850" b="1" dirty="0">
                <a:solidFill>
                  <a:srgbClr val="000000"/>
                </a:solidFill>
                <a:latin typeface="Roboto Bold" pitchFamily="34" charset="0"/>
                <a:ea typeface="Roboto Bold" pitchFamily="34" charset="-122"/>
                <a:cs typeface="Roboto Bold" pitchFamily="34" charset="-120"/>
              </a:rPr>
              <a:t>Line of Best Fit</a:t>
            </a:r>
            <a:pPr algn="l" indent="0" marL="0">
              <a:lnSpc>
                <a:spcPct val="118000"/>
              </a:lnSpc>
              <a:buNone/>
            </a:pPr>
            <a:r>
              <a:rPr lang="en-US" sz="850" dirty="0">
                <a:solidFill>
                  <a:srgbClr val="000000"/>
                </a:solidFill>
                <a:latin typeface="Roboto" pitchFamily="34" charset="0"/>
                <a:ea typeface="Roboto" pitchFamily="34" charset="-122"/>
                <a:cs typeface="Roboto" pitchFamily="34" charset="-120"/>
              </a:rPr>
              <a:t>.</a:t>
            </a:r>
            <a:endParaRPr lang="en-US" sz="850" dirty="0"/>
          </a:p>
        </p:txBody>
      </p:sp>
      <p:pic>
        <p:nvPicPr>
          <p:cNvPr id="8"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3977357"/>
            <a:ext cx="2661865" cy="771525"/>
          </a:xfrm>
          <a:prstGeom prst="rect">
            <a:avLst/>
          </a:prstGeom>
        </p:spPr>
      </p:pic>
      <p:sp>
        <p:nvSpPr>
          <p:cNvPr id="9" name="Text 4"/>
          <p:cNvSpPr/>
          <p:nvPr/>
        </p:nvSpPr>
        <p:spPr>
          <a:xfrm>
            <a:off x="676052" y="4100140"/>
            <a:ext cx="2359149" cy="169515"/>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Actual Value: y</a:t>
            </a:r>
            <a:endParaRPr lang="en-US" sz="1050" dirty="0"/>
          </a:p>
        </p:txBody>
      </p:sp>
      <p:sp>
        <p:nvSpPr>
          <p:cNvPr id="10" name="Text 5"/>
          <p:cNvSpPr/>
          <p:nvPr/>
        </p:nvSpPr>
        <p:spPr>
          <a:xfrm>
            <a:off x="676052" y="4319513"/>
            <a:ext cx="2359149" cy="153293"/>
          </a:xfrm>
          <a:prstGeom prst="rect">
            <a:avLst/>
          </a:prstGeom>
          <a:noFill/>
          <a:ln/>
        </p:spPr>
        <p:txBody>
          <a:bodyPr wrap="none" lIns="0" tIns="0" rIns="0" bIns="0" rtlCol="0" anchor="t"/>
          <a:lstStyle/>
          <a:p>
            <a:pPr algn="l" indent="0" marL="0">
              <a:lnSpc>
                <a:spcPct val="118000"/>
              </a:lnSpc>
              <a:buNone/>
            </a:pPr>
            <a:r>
              <a:rPr lang="en-US" sz="850" dirty="0">
                <a:solidFill>
                  <a:srgbClr val="3C3939"/>
                </a:solidFill>
                <a:latin typeface="Roboto" pitchFamily="34" charset="0"/>
                <a:ea typeface="Roboto" pitchFamily="34" charset="-122"/>
                <a:cs typeface="Roboto" pitchFamily="34" charset="-120"/>
              </a:rPr>
              <a:t>The real observed data point.</a:t>
            </a:r>
            <a:endParaRPr lang="en-US" sz="850" dirty="0"/>
          </a:p>
        </p:txBody>
      </p:sp>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41030" y="3977357"/>
            <a:ext cx="2661865" cy="771525"/>
          </a:xfrm>
          <a:prstGeom prst="rect">
            <a:avLst/>
          </a:prstGeom>
        </p:spPr>
      </p:pic>
      <p:sp>
        <p:nvSpPr>
          <p:cNvPr id="12" name="Text 6"/>
          <p:cNvSpPr/>
          <p:nvPr/>
        </p:nvSpPr>
        <p:spPr>
          <a:xfrm>
            <a:off x="3420963" y="4100140"/>
            <a:ext cx="2359149" cy="169515"/>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Predicted Value: ŷ</a:t>
            </a:r>
            <a:endParaRPr lang="en-US" sz="1050" dirty="0"/>
          </a:p>
        </p:txBody>
      </p:sp>
      <p:sp>
        <p:nvSpPr>
          <p:cNvPr id="13" name="Text 7"/>
          <p:cNvSpPr/>
          <p:nvPr/>
        </p:nvSpPr>
        <p:spPr>
          <a:xfrm>
            <a:off x="3420963" y="4319513"/>
            <a:ext cx="2359149" cy="153293"/>
          </a:xfrm>
          <a:prstGeom prst="rect">
            <a:avLst/>
          </a:prstGeom>
          <a:noFill/>
          <a:ln/>
        </p:spPr>
        <p:txBody>
          <a:bodyPr wrap="none" lIns="0" tIns="0" rIns="0" bIns="0" rtlCol="0" anchor="t"/>
          <a:lstStyle/>
          <a:p>
            <a:pPr algn="l" indent="0" marL="0">
              <a:lnSpc>
                <a:spcPct val="118000"/>
              </a:lnSpc>
              <a:buNone/>
            </a:pPr>
            <a:r>
              <a:rPr lang="en-US" sz="850" dirty="0">
                <a:solidFill>
                  <a:srgbClr val="3C3939"/>
                </a:solidFill>
                <a:latin typeface="Roboto" pitchFamily="34" charset="0"/>
                <a:ea typeface="Roboto" pitchFamily="34" charset="-122"/>
                <a:cs typeface="Roboto" pitchFamily="34" charset="-120"/>
              </a:rPr>
              <a:t>The value the model estimates.</a:t>
            </a:r>
            <a:endParaRPr lang="en-US" sz="850" dirty="0"/>
          </a:p>
        </p:txBody>
      </p:sp>
      <p:pic>
        <p:nvPicPr>
          <p:cNvPr id="14"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85942" y="3977357"/>
            <a:ext cx="2661865" cy="771525"/>
          </a:xfrm>
          <a:prstGeom prst="rect">
            <a:avLst/>
          </a:prstGeom>
        </p:spPr>
      </p:pic>
      <p:sp>
        <p:nvSpPr>
          <p:cNvPr id="15" name="Text 8"/>
          <p:cNvSpPr/>
          <p:nvPr/>
        </p:nvSpPr>
        <p:spPr>
          <a:xfrm>
            <a:off x="6165875" y="4100140"/>
            <a:ext cx="2359149" cy="169515"/>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Residual: e = y − ŷ</a:t>
            </a:r>
            <a:endParaRPr lang="en-US" sz="1050" dirty="0"/>
          </a:p>
        </p:txBody>
      </p:sp>
      <p:sp>
        <p:nvSpPr>
          <p:cNvPr id="16" name="Text 9"/>
          <p:cNvSpPr/>
          <p:nvPr/>
        </p:nvSpPr>
        <p:spPr>
          <a:xfrm>
            <a:off x="6165875" y="4319513"/>
            <a:ext cx="2359149"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3C3939"/>
                </a:solidFill>
                <a:latin typeface="Roboto" pitchFamily="34" charset="0"/>
                <a:ea typeface="Roboto" pitchFamily="34" charset="-122"/>
                <a:cs typeface="Roboto" pitchFamily="34" charset="-120"/>
              </a:rPr>
              <a:t>The vertical distance between actual and predicted — shown as dotted lines on the chart.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dirty="0">
                <a:solidFill>
                  <a:srgbClr val="1B1B27"/>
                </a:solidFill>
                <a:latin typeface="Raleway" pitchFamily="34" charset="0"/>
                <a:ea typeface="Raleway" pitchFamily="34" charset="-122"/>
                <a:cs typeface="Raleway" pitchFamily="34" charset="-120"/>
              </a:rPr>
              <a:t>Mean Squared Error and Best Fit</a:t>
            </a:r>
            <a:endParaRPr lang="en-US" sz="1350" dirty="0"/>
          </a:p>
        </p:txBody>
      </p:sp>
      <p:sp>
        <p:nvSpPr>
          <p:cNvPr id="3" name="Text 1"/>
          <p:cNvSpPr/>
          <p:nvPr/>
        </p:nvSpPr>
        <p:spPr>
          <a:xfrm>
            <a:off x="496119" y="2508498"/>
            <a:ext cx="4446612" cy="85055"/>
          </a:xfrm>
          <a:prstGeom prst="rect">
            <a:avLst/>
          </a:prstGeom>
          <a:noFill/>
          <a:ln/>
        </p:spPr>
        <p:txBody>
          <a:bodyPr wrap="none" lIns="0" tIns="0" rIns="0" bIns="0" rtlCol="0" anchor="t"/>
          <a:lstStyle/>
          <a:p>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To find the best line, Linear Regression minimizes a </a:t>
            </a:r>
            <a:pPr algn="l" indent="0" marL="0">
              <a:lnSpc>
                <a:spcPct val="100000"/>
              </a:lnSpc>
              <a:buNone/>
            </a:pPr>
            <a:r>
              <a:rPr lang="en-US" sz="550" b="1" dirty="0">
                <a:solidFill>
                  <a:srgbClr val="3C3939"/>
                </a:solidFill>
                <a:latin typeface="Roboto Bold" pitchFamily="34" charset="0"/>
                <a:ea typeface="Roboto Bold" pitchFamily="34" charset="-122"/>
                <a:cs typeface="Roboto Bold" pitchFamily="34" charset="-120"/>
              </a:rPr>
              <a:t>cost / loss function</a:t>
            </a:r>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 The most common is </a:t>
            </a:r>
            <a:pPr algn="l" indent="0" marL="0">
              <a:lnSpc>
                <a:spcPct val="100000"/>
              </a:lnSpc>
              <a:buNone/>
            </a:pPr>
            <a:r>
              <a:rPr lang="en-US" sz="550" b="1" dirty="0">
                <a:solidFill>
                  <a:srgbClr val="3C3939"/>
                </a:solidFill>
                <a:latin typeface="Roboto Bold" pitchFamily="34" charset="0"/>
                <a:ea typeface="Roboto Bold" pitchFamily="34" charset="-122"/>
                <a:cs typeface="Roboto Bold" pitchFamily="34" charset="-120"/>
              </a:rPr>
              <a:t>Mean Squared Error (MSE)</a:t>
            </a:r>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a:t>
            </a:r>
            <a:endParaRPr lang="en-US" sz="550" dirty="0"/>
          </a:p>
        </p:txBody>
      </p:sp>
      <p:sp>
        <p:nvSpPr>
          <p:cNvPr id="4" name="Text 2"/>
          <p:cNvSpPr/>
          <p:nvPr/>
        </p:nvSpPr>
        <p:spPr>
          <a:xfrm>
            <a:off x="602382" y="2668786"/>
            <a:ext cx="3883149" cy="177180"/>
          </a:xfrm>
          <a:prstGeom prst="rect">
            <a:avLst/>
          </a:prstGeom>
          <a:noFill/>
          <a:ln/>
        </p:spPr>
        <p:txBody>
          <a:bodyPr wrap="none" lIns="0" tIns="0" rIns="0" bIns="0" rtlCol="0" anchor="t"/>
          <a:lstStyle/>
          <a:p>
            <a:pPr algn="ctr" indent="0" marL="0">
              <a:lnSpc>
                <a:spcPct val="104000"/>
              </a:lnSpc>
              <a:buNone/>
            </a:pPr>
            <a:r>
              <a:rPr lang="en-US" sz="1100" dirty="0">
                <a:solidFill>
                  <a:srgbClr val="1B1B27"/>
                </a:solidFill>
                <a:latin typeface="Raleway" pitchFamily="34" charset="0"/>
                <a:ea typeface="Raleway" pitchFamily="34" charset="-122"/>
                <a:cs typeface="Raleway" pitchFamily="34" charset="-120"/>
              </a:rPr>
              <a:t>MSE = (1/n) Σ(yᵢ − ŷᵢ)²</a:t>
            </a:r>
            <a:endParaRPr lang="en-US" sz="1100" dirty="0"/>
          </a:p>
        </p:txBody>
      </p:sp>
      <p:sp>
        <p:nvSpPr>
          <p:cNvPr id="5" name="Shape 3"/>
          <p:cNvSpPr/>
          <p:nvPr/>
        </p:nvSpPr>
        <p:spPr>
          <a:xfrm>
            <a:off x="496119" y="2633365"/>
            <a:ext cx="9525" cy="248022"/>
          </a:xfrm>
          <a:prstGeom prst="roundRect">
            <a:avLst>
              <a:gd name="adj" fmla="val 50000"/>
            </a:avLst>
          </a:prstGeom>
          <a:solidFill>
            <a:srgbClr val="1B1B27"/>
          </a:solidFill>
          <a:ln/>
        </p:spPr>
      </p:sp>
      <p:pic>
        <p:nvPicPr>
          <p:cNvPr id="6" name="Image 0" descr="preencoded.png">    </p:cNvPr>
          <p:cNvPicPr>
            <a:picLocks noChangeAspect="1"/>
          </p:cNvPicPr>
          <p:nvPr/>
        </p:nvPicPr>
        <p:blipFill>
          <a:blip r:embed="rId1"/>
          <a:stretch>
            <a:fillRect/>
          </a:stretch>
        </p:blipFill>
        <p:spPr>
          <a:xfrm>
            <a:off x="4663232" y="704255"/>
            <a:ext cx="3989412" cy="3989412"/>
          </a:xfrm>
          <a:prstGeom prst="rect">
            <a:avLst/>
          </a:prstGeom>
        </p:spPr>
      </p:pic>
      <p:sp>
        <p:nvSpPr>
          <p:cNvPr id="7" name="Text 4"/>
          <p:cNvSpPr/>
          <p:nvPr/>
        </p:nvSpPr>
        <p:spPr>
          <a:xfrm>
            <a:off x="496119" y="4773290"/>
            <a:ext cx="141759" cy="88553"/>
          </a:xfrm>
          <a:prstGeom prst="rect">
            <a:avLst/>
          </a:prstGeom>
          <a:noFill/>
          <a:ln/>
        </p:spPr>
        <p:txBody>
          <a:bodyPr wrap="none" lIns="0" tIns="0" rIns="0" bIns="0" rtlCol="0" anchor="ctr"/>
          <a:lstStyle/>
          <a:p>
            <a:pPr algn="l" indent="0" marL="0">
              <a:lnSpc>
                <a:spcPct val="100000"/>
              </a:lnSpc>
              <a:buNone/>
            </a:pPr>
            <a:r>
              <a:rPr lang="en-US" sz="550" dirty="0">
                <a:solidFill>
                  <a:srgbClr val="3C3939"/>
                </a:solidFill>
                <a:latin typeface="Raleway Light" pitchFamily="34" charset="0"/>
                <a:ea typeface="Raleway Light" pitchFamily="34" charset="-122"/>
                <a:cs typeface="Raleway Light" pitchFamily="34" charset="-120"/>
              </a:rPr>
              <a:t>01</a:t>
            </a:r>
            <a:endParaRPr lang="en-US" sz="550" dirty="0"/>
          </a:p>
        </p:txBody>
      </p:sp>
      <p:sp>
        <p:nvSpPr>
          <p:cNvPr id="8" name="Shape 5"/>
          <p:cNvSpPr/>
          <p:nvPr/>
        </p:nvSpPr>
        <p:spPr>
          <a:xfrm>
            <a:off x="496119" y="4884167"/>
            <a:ext cx="4058171" cy="9525"/>
          </a:xfrm>
          <a:prstGeom prst="rect">
            <a:avLst/>
          </a:prstGeom>
          <a:solidFill>
            <a:srgbClr val="1B1B27"/>
          </a:solidFill>
          <a:ln/>
        </p:spPr>
      </p:sp>
      <p:sp>
        <p:nvSpPr>
          <p:cNvPr id="9" name="Text 6"/>
          <p:cNvSpPr/>
          <p:nvPr/>
        </p:nvSpPr>
        <p:spPr>
          <a:xfrm>
            <a:off x="496119" y="4938638"/>
            <a:ext cx="4058171"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n — Number of observations</a:t>
            </a:r>
            <a:endParaRPr lang="en-US" sz="650" dirty="0"/>
          </a:p>
        </p:txBody>
      </p:sp>
      <p:sp>
        <p:nvSpPr>
          <p:cNvPr id="10" name="Text 7"/>
          <p:cNvSpPr/>
          <p:nvPr/>
        </p:nvSpPr>
        <p:spPr>
          <a:xfrm>
            <a:off x="4589711" y="4773290"/>
            <a:ext cx="141759" cy="88553"/>
          </a:xfrm>
          <a:prstGeom prst="rect">
            <a:avLst/>
          </a:prstGeom>
          <a:noFill/>
          <a:ln/>
        </p:spPr>
        <p:txBody>
          <a:bodyPr wrap="none" lIns="0" tIns="0" rIns="0" bIns="0" rtlCol="0" anchor="ctr"/>
          <a:lstStyle/>
          <a:p>
            <a:pPr algn="l" indent="0" marL="0">
              <a:lnSpc>
                <a:spcPct val="100000"/>
              </a:lnSpc>
              <a:buNone/>
            </a:pPr>
            <a:r>
              <a:rPr lang="en-US" sz="550" dirty="0">
                <a:solidFill>
                  <a:srgbClr val="3C3939"/>
                </a:solidFill>
                <a:latin typeface="Raleway Light" pitchFamily="34" charset="0"/>
                <a:ea typeface="Raleway Light" pitchFamily="34" charset="-122"/>
                <a:cs typeface="Raleway Light" pitchFamily="34" charset="-120"/>
              </a:rPr>
              <a:t>02</a:t>
            </a:r>
            <a:endParaRPr lang="en-US" sz="550" dirty="0"/>
          </a:p>
        </p:txBody>
      </p:sp>
      <p:sp>
        <p:nvSpPr>
          <p:cNvPr id="11" name="Shape 8"/>
          <p:cNvSpPr/>
          <p:nvPr/>
        </p:nvSpPr>
        <p:spPr>
          <a:xfrm>
            <a:off x="4589711" y="4884167"/>
            <a:ext cx="4058171" cy="9525"/>
          </a:xfrm>
          <a:prstGeom prst="rect">
            <a:avLst/>
          </a:prstGeom>
          <a:solidFill>
            <a:srgbClr val="1B1B27"/>
          </a:solidFill>
          <a:ln/>
        </p:spPr>
      </p:sp>
      <p:sp>
        <p:nvSpPr>
          <p:cNvPr id="12" name="Text 9"/>
          <p:cNvSpPr/>
          <p:nvPr/>
        </p:nvSpPr>
        <p:spPr>
          <a:xfrm>
            <a:off x="4589711" y="4938638"/>
            <a:ext cx="4058171"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yᵢ − ŷᵢ — Prediction error / residual</a:t>
            </a:r>
            <a:endParaRPr lang="en-US" sz="650" dirty="0"/>
          </a:p>
        </p:txBody>
      </p:sp>
      <p:sp>
        <p:nvSpPr>
          <p:cNvPr id="13" name="Text 10"/>
          <p:cNvSpPr/>
          <p:nvPr/>
        </p:nvSpPr>
        <p:spPr>
          <a:xfrm>
            <a:off x="496119" y="5137919"/>
            <a:ext cx="141759" cy="88553"/>
          </a:xfrm>
          <a:prstGeom prst="rect">
            <a:avLst/>
          </a:prstGeom>
          <a:noFill/>
          <a:ln/>
        </p:spPr>
        <p:txBody>
          <a:bodyPr wrap="none" lIns="0" tIns="0" rIns="0" bIns="0" rtlCol="0" anchor="ctr"/>
          <a:lstStyle/>
          <a:p>
            <a:pPr algn="l" indent="0" marL="0">
              <a:lnSpc>
                <a:spcPct val="100000"/>
              </a:lnSpc>
              <a:buNone/>
            </a:pPr>
            <a:r>
              <a:rPr lang="en-US" sz="550" dirty="0">
                <a:solidFill>
                  <a:srgbClr val="3C3939"/>
                </a:solidFill>
                <a:latin typeface="Raleway Light" pitchFamily="34" charset="0"/>
                <a:ea typeface="Raleway Light" pitchFamily="34" charset="-122"/>
                <a:cs typeface="Raleway Light" pitchFamily="34" charset="-120"/>
              </a:rPr>
              <a:t>03</a:t>
            </a:r>
            <a:endParaRPr lang="en-US" sz="550" dirty="0"/>
          </a:p>
        </p:txBody>
      </p:sp>
      <p:sp>
        <p:nvSpPr>
          <p:cNvPr id="14" name="Shape 11"/>
          <p:cNvSpPr/>
          <p:nvPr/>
        </p:nvSpPr>
        <p:spPr>
          <a:xfrm>
            <a:off x="496119" y="5248796"/>
            <a:ext cx="4058171" cy="9525"/>
          </a:xfrm>
          <a:prstGeom prst="rect">
            <a:avLst/>
          </a:prstGeom>
          <a:solidFill>
            <a:srgbClr val="1B1B27"/>
          </a:solidFill>
          <a:ln/>
        </p:spPr>
      </p:sp>
      <p:sp>
        <p:nvSpPr>
          <p:cNvPr id="15" name="Text 12"/>
          <p:cNvSpPr/>
          <p:nvPr/>
        </p:nvSpPr>
        <p:spPr>
          <a:xfrm>
            <a:off x="496119" y="5303267"/>
            <a:ext cx="4058171"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Squaring prevents positive and negative errors from cancelling out</a:t>
            </a:r>
            <a:endParaRPr lang="en-US" sz="650" dirty="0"/>
          </a:p>
        </p:txBody>
      </p:sp>
      <p:sp>
        <p:nvSpPr>
          <p:cNvPr id="16" name="Text 13"/>
          <p:cNvSpPr/>
          <p:nvPr/>
        </p:nvSpPr>
        <p:spPr>
          <a:xfrm>
            <a:off x="4589711" y="5137919"/>
            <a:ext cx="141759" cy="88553"/>
          </a:xfrm>
          <a:prstGeom prst="rect">
            <a:avLst/>
          </a:prstGeom>
          <a:noFill/>
          <a:ln/>
        </p:spPr>
        <p:txBody>
          <a:bodyPr wrap="none" lIns="0" tIns="0" rIns="0" bIns="0" rtlCol="0" anchor="ctr"/>
          <a:lstStyle/>
          <a:p>
            <a:pPr algn="l" indent="0" marL="0">
              <a:lnSpc>
                <a:spcPct val="100000"/>
              </a:lnSpc>
              <a:buNone/>
            </a:pPr>
            <a:r>
              <a:rPr lang="en-US" sz="550" dirty="0">
                <a:solidFill>
                  <a:srgbClr val="3C3939"/>
                </a:solidFill>
                <a:latin typeface="Raleway Light" pitchFamily="34" charset="0"/>
                <a:ea typeface="Raleway Light" pitchFamily="34" charset="-122"/>
                <a:cs typeface="Raleway Light" pitchFamily="34" charset="-120"/>
              </a:rPr>
              <a:t>04</a:t>
            </a:r>
            <a:endParaRPr lang="en-US" sz="550" dirty="0"/>
          </a:p>
        </p:txBody>
      </p:sp>
      <p:sp>
        <p:nvSpPr>
          <p:cNvPr id="17" name="Shape 14"/>
          <p:cNvSpPr/>
          <p:nvPr/>
        </p:nvSpPr>
        <p:spPr>
          <a:xfrm>
            <a:off x="4589711" y="5248796"/>
            <a:ext cx="4058171" cy="9525"/>
          </a:xfrm>
          <a:prstGeom prst="rect">
            <a:avLst/>
          </a:prstGeom>
          <a:solidFill>
            <a:srgbClr val="1B1B27"/>
          </a:solidFill>
          <a:ln/>
        </p:spPr>
      </p:sp>
      <p:sp>
        <p:nvSpPr>
          <p:cNvPr id="18" name="Text 15"/>
          <p:cNvSpPr/>
          <p:nvPr/>
        </p:nvSpPr>
        <p:spPr>
          <a:xfrm>
            <a:off x="4589711" y="5303267"/>
            <a:ext cx="4058171"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Goal: find m and b that minimize MSE</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414263"/>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Real-World Example: House Price Prediction</a:t>
            </a:r>
            <a:endParaRPr lang="en-US" sz="2750" dirty="0"/>
          </a:p>
        </p:txBody>
      </p:sp>
      <p:sp>
        <p:nvSpPr>
          <p:cNvPr id="3" name="Text 1"/>
          <p:cNvSpPr/>
          <p:nvPr/>
        </p:nvSpPr>
        <p:spPr>
          <a:xfrm>
            <a:off x="496119" y="1140768"/>
            <a:ext cx="8608963" cy="226814"/>
          </a:xfrm>
          <a:prstGeom prst="rect">
            <a:avLst/>
          </a:prstGeom>
          <a:noFill/>
          <a:ln/>
        </p:spPr>
        <p:txBody>
          <a:bodyPr wrap="none" lIns="0" tIns="0" rIns="0" bIns="0" rtlCol="0" anchor="t"/>
          <a:lstStyle/>
          <a:p>
            <a:pPr algn="l" indent="0" marL="0">
              <a:lnSpc>
                <a:spcPct val="133000"/>
              </a:lnSpc>
              <a:buNone/>
            </a:pPr>
            <a:r>
              <a:rPr lang="en-US" sz="1100" b="1" dirty="0">
                <a:solidFill>
                  <a:srgbClr val="3C3939"/>
                </a:solidFill>
                <a:latin typeface="Roboto Bold" pitchFamily="34" charset="0"/>
                <a:ea typeface="Roboto Bold" pitchFamily="34" charset="-122"/>
                <a:cs typeface="Roboto Bold" pitchFamily="34" charset="-120"/>
              </a:rPr>
              <a:t>House Size → House Price</a:t>
            </a:r>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 — Linear Regression learns from historical data to estimate the price of a new house.</a:t>
            </a:r>
            <a:endParaRPr lang="en-US" sz="1100" dirty="0"/>
          </a:p>
        </p:txBody>
      </p:sp>
      <p:sp>
        <p:nvSpPr>
          <p:cNvPr id="4" name="Shape 2"/>
          <p:cNvSpPr/>
          <p:nvPr/>
        </p:nvSpPr>
        <p:spPr>
          <a:xfrm>
            <a:off x="496119" y="1686520"/>
            <a:ext cx="3902943" cy="2883247"/>
          </a:xfrm>
          <a:prstGeom prst="roundRect">
            <a:avLst>
              <a:gd name="adj" fmla="val 2065"/>
            </a:avLst>
          </a:prstGeom>
          <a:noFill/>
          <a:ln w="4763">
            <a:solidFill>
              <a:srgbClr val="000000">
                <a:alpha val="8000"/>
              </a:srgbClr>
            </a:solidFill>
            <a:prstDash val="solid"/>
          </a:ln>
        </p:spPr>
      </p:sp>
      <p:sp>
        <p:nvSpPr>
          <p:cNvPr id="5" name="Shape 3"/>
          <p:cNvSpPr/>
          <p:nvPr/>
        </p:nvSpPr>
        <p:spPr>
          <a:xfrm>
            <a:off x="496119" y="2100114"/>
            <a:ext cx="3902943" cy="8860"/>
          </a:xfrm>
          <a:prstGeom prst="rect">
            <a:avLst/>
          </a:prstGeom>
          <a:solidFill>
            <a:srgbClr val="000000">
              <a:alpha val="8000"/>
            </a:srgbClr>
          </a:solidFill>
          <a:ln/>
        </p:spPr>
      </p:sp>
      <p:sp>
        <p:nvSpPr>
          <p:cNvPr id="6" name="Shape 4"/>
          <p:cNvSpPr/>
          <p:nvPr/>
        </p:nvSpPr>
        <p:spPr>
          <a:xfrm>
            <a:off x="496119" y="2511326"/>
            <a:ext cx="3902943" cy="8860"/>
          </a:xfrm>
          <a:prstGeom prst="rect">
            <a:avLst/>
          </a:prstGeom>
          <a:solidFill>
            <a:srgbClr val="000000">
              <a:alpha val="8000"/>
            </a:srgbClr>
          </a:solidFill>
          <a:ln/>
        </p:spPr>
      </p:sp>
      <p:sp>
        <p:nvSpPr>
          <p:cNvPr id="7" name="Shape 5"/>
          <p:cNvSpPr/>
          <p:nvPr/>
        </p:nvSpPr>
        <p:spPr>
          <a:xfrm>
            <a:off x="496119" y="2922538"/>
            <a:ext cx="3902943" cy="8860"/>
          </a:xfrm>
          <a:prstGeom prst="rect">
            <a:avLst/>
          </a:prstGeom>
          <a:solidFill>
            <a:srgbClr val="000000">
              <a:alpha val="8000"/>
            </a:srgbClr>
          </a:solidFill>
          <a:ln/>
        </p:spPr>
      </p:sp>
      <p:sp>
        <p:nvSpPr>
          <p:cNvPr id="8" name="Shape 6"/>
          <p:cNvSpPr/>
          <p:nvPr/>
        </p:nvSpPr>
        <p:spPr>
          <a:xfrm>
            <a:off x="496119" y="3333750"/>
            <a:ext cx="3902943" cy="8860"/>
          </a:xfrm>
          <a:prstGeom prst="rect">
            <a:avLst/>
          </a:prstGeom>
          <a:solidFill>
            <a:srgbClr val="000000">
              <a:alpha val="8000"/>
            </a:srgbClr>
          </a:solidFill>
          <a:ln/>
        </p:spPr>
      </p:sp>
      <p:sp>
        <p:nvSpPr>
          <p:cNvPr id="9" name="Shape 7"/>
          <p:cNvSpPr/>
          <p:nvPr/>
        </p:nvSpPr>
        <p:spPr>
          <a:xfrm>
            <a:off x="496119" y="3744962"/>
            <a:ext cx="3902943" cy="8860"/>
          </a:xfrm>
          <a:prstGeom prst="rect">
            <a:avLst/>
          </a:prstGeom>
          <a:solidFill>
            <a:srgbClr val="000000">
              <a:alpha val="8000"/>
            </a:srgbClr>
          </a:solidFill>
          <a:ln/>
        </p:spPr>
      </p:sp>
      <p:sp>
        <p:nvSpPr>
          <p:cNvPr id="10" name="Shape 8"/>
          <p:cNvSpPr/>
          <p:nvPr/>
        </p:nvSpPr>
        <p:spPr>
          <a:xfrm>
            <a:off x="496119" y="4156174"/>
            <a:ext cx="3902943" cy="8860"/>
          </a:xfrm>
          <a:prstGeom prst="rect">
            <a:avLst/>
          </a:prstGeom>
          <a:solidFill>
            <a:srgbClr val="000000">
              <a:alpha val="8000"/>
            </a:srgbClr>
          </a:solidFill>
          <a:ln/>
        </p:spPr>
      </p:sp>
      <p:sp>
        <p:nvSpPr>
          <p:cNvPr id="11" name="Text 9"/>
          <p:cNvSpPr/>
          <p:nvPr/>
        </p:nvSpPr>
        <p:spPr>
          <a:xfrm>
            <a:off x="642714" y="1781101"/>
            <a:ext cx="2120354" cy="226814"/>
          </a:xfrm>
          <a:prstGeom prst="rect">
            <a:avLst/>
          </a:prstGeom>
          <a:noFill/>
          <a:ln/>
        </p:spPr>
        <p:txBody>
          <a:bodyPr wrap="none" lIns="0" tIns="0" rIns="0" bIns="0" rtlCol="0" anchor="t"/>
          <a:lstStyle/>
          <a:p>
            <a:pPr algn="l" indent="0" marL="0">
              <a:lnSpc>
                <a:spcPct val="133000"/>
              </a:lnSpc>
              <a:buNone/>
            </a:pPr>
            <a:r>
              <a:rPr lang="en-US" sz="1100" b="1" dirty="0">
                <a:solidFill>
                  <a:srgbClr val="3C3939"/>
                </a:solidFill>
                <a:latin typeface="Roboto Bold" pitchFamily="34" charset="0"/>
                <a:ea typeface="Roboto Bold" pitchFamily="34" charset="-122"/>
                <a:cs typeface="Roboto Bold" pitchFamily="34" charset="-120"/>
              </a:rPr>
              <a:t>House Size (sq. ft.)</a:t>
            </a:r>
            <a:endParaRPr lang="en-US" sz="1100" dirty="0"/>
          </a:p>
        </p:txBody>
      </p:sp>
      <p:sp>
        <p:nvSpPr>
          <p:cNvPr id="12" name="Text 10"/>
          <p:cNvSpPr/>
          <p:nvPr/>
        </p:nvSpPr>
        <p:spPr>
          <a:xfrm>
            <a:off x="2589386" y="1781101"/>
            <a:ext cx="2120354" cy="226814"/>
          </a:xfrm>
          <a:prstGeom prst="rect">
            <a:avLst/>
          </a:prstGeom>
          <a:noFill/>
          <a:ln/>
        </p:spPr>
        <p:txBody>
          <a:bodyPr wrap="none" lIns="0" tIns="0" rIns="0" bIns="0" rtlCol="0" anchor="t"/>
          <a:lstStyle/>
          <a:p>
            <a:pPr algn="l" indent="0" marL="0">
              <a:lnSpc>
                <a:spcPct val="133000"/>
              </a:lnSpc>
              <a:buNone/>
            </a:pPr>
            <a:r>
              <a:rPr lang="en-US" sz="1100" b="1" dirty="0">
                <a:solidFill>
                  <a:srgbClr val="3C3939"/>
                </a:solidFill>
                <a:latin typeface="Roboto Bold" pitchFamily="34" charset="0"/>
                <a:ea typeface="Roboto Bold" pitchFamily="34" charset="-122"/>
                <a:cs typeface="Roboto Bold" pitchFamily="34" charset="-120"/>
              </a:rPr>
              <a:t>Price (₹ lakh)</a:t>
            </a:r>
            <a:endParaRPr lang="en-US" sz="1100" dirty="0"/>
          </a:p>
        </p:txBody>
      </p:sp>
      <p:sp>
        <p:nvSpPr>
          <p:cNvPr id="13" name="Text 11"/>
          <p:cNvSpPr/>
          <p:nvPr/>
        </p:nvSpPr>
        <p:spPr>
          <a:xfrm>
            <a:off x="642714" y="2192313"/>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500</a:t>
            </a:r>
            <a:endParaRPr lang="en-US" sz="1100" dirty="0"/>
          </a:p>
        </p:txBody>
      </p:sp>
      <p:sp>
        <p:nvSpPr>
          <p:cNvPr id="14" name="Text 12"/>
          <p:cNvSpPr/>
          <p:nvPr/>
        </p:nvSpPr>
        <p:spPr>
          <a:xfrm>
            <a:off x="2589386" y="2192313"/>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30</a:t>
            </a:r>
            <a:endParaRPr lang="en-US" sz="1100" dirty="0"/>
          </a:p>
        </p:txBody>
      </p:sp>
      <p:sp>
        <p:nvSpPr>
          <p:cNvPr id="15" name="Text 13"/>
          <p:cNvSpPr/>
          <p:nvPr/>
        </p:nvSpPr>
        <p:spPr>
          <a:xfrm>
            <a:off x="642714" y="2603525"/>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700</a:t>
            </a:r>
            <a:endParaRPr lang="en-US" sz="1100" dirty="0"/>
          </a:p>
        </p:txBody>
      </p:sp>
      <p:sp>
        <p:nvSpPr>
          <p:cNvPr id="16" name="Text 14"/>
          <p:cNvSpPr/>
          <p:nvPr/>
        </p:nvSpPr>
        <p:spPr>
          <a:xfrm>
            <a:off x="2589386" y="2603525"/>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40</a:t>
            </a:r>
            <a:endParaRPr lang="en-US" sz="1100" dirty="0"/>
          </a:p>
        </p:txBody>
      </p:sp>
      <p:sp>
        <p:nvSpPr>
          <p:cNvPr id="17" name="Text 15"/>
          <p:cNvSpPr/>
          <p:nvPr/>
        </p:nvSpPr>
        <p:spPr>
          <a:xfrm>
            <a:off x="642714" y="3014737"/>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900</a:t>
            </a:r>
            <a:endParaRPr lang="en-US" sz="1100" dirty="0"/>
          </a:p>
        </p:txBody>
      </p:sp>
      <p:sp>
        <p:nvSpPr>
          <p:cNvPr id="18" name="Text 16"/>
          <p:cNvSpPr/>
          <p:nvPr/>
        </p:nvSpPr>
        <p:spPr>
          <a:xfrm>
            <a:off x="2589386" y="3014737"/>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52</a:t>
            </a:r>
            <a:endParaRPr lang="en-US" sz="1100" dirty="0"/>
          </a:p>
        </p:txBody>
      </p:sp>
      <p:sp>
        <p:nvSpPr>
          <p:cNvPr id="19" name="Text 17"/>
          <p:cNvSpPr/>
          <p:nvPr/>
        </p:nvSpPr>
        <p:spPr>
          <a:xfrm>
            <a:off x="642714" y="3425949"/>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1100</a:t>
            </a:r>
            <a:endParaRPr lang="en-US" sz="1100" dirty="0"/>
          </a:p>
        </p:txBody>
      </p:sp>
      <p:sp>
        <p:nvSpPr>
          <p:cNvPr id="20" name="Text 18"/>
          <p:cNvSpPr/>
          <p:nvPr/>
        </p:nvSpPr>
        <p:spPr>
          <a:xfrm>
            <a:off x="2589386" y="3425949"/>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61</a:t>
            </a:r>
            <a:endParaRPr lang="en-US" sz="1100" dirty="0"/>
          </a:p>
        </p:txBody>
      </p:sp>
      <p:sp>
        <p:nvSpPr>
          <p:cNvPr id="21" name="Text 19"/>
          <p:cNvSpPr/>
          <p:nvPr/>
        </p:nvSpPr>
        <p:spPr>
          <a:xfrm>
            <a:off x="642714" y="3837161"/>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1300</a:t>
            </a:r>
            <a:endParaRPr lang="en-US" sz="1100" dirty="0"/>
          </a:p>
        </p:txBody>
      </p:sp>
      <p:sp>
        <p:nvSpPr>
          <p:cNvPr id="22" name="Text 20"/>
          <p:cNvSpPr/>
          <p:nvPr/>
        </p:nvSpPr>
        <p:spPr>
          <a:xfrm>
            <a:off x="2589386" y="3837161"/>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74</a:t>
            </a:r>
            <a:endParaRPr lang="en-US" sz="1100" dirty="0"/>
          </a:p>
        </p:txBody>
      </p:sp>
      <p:sp>
        <p:nvSpPr>
          <p:cNvPr id="23" name="Text 21"/>
          <p:cNvSpPr/>
          <p:nvPr/>
        </p:nvSpPr>
        <p:spPr>
          <a:xfrm>
            <a:off x="642714" y="4248373"/>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1500</a:t>
            </a:r>
            <a:endParaRPr lang="en-US" sz="1100" dirty="0"/>
          </a:p>
        </p:txBody>
      </p:sp>
      <p:sp>
        <p:nvSpPr>
          <p:cNvPr id="24" name="Text 22"/>
          <p:cNvSpPr/>
          <p:nvPr/>
        </p:nvSpPr>
        <p:spPr>
          <a:xfrm>
            <a:off x="2589386" y="4248373"/>
            <a:ext cx="212035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85</a:t>
            </a:r>
            <a:endParaRPr lang="en-US" sz="1100" dirty="0"/>
          </a:p>
        </p:txBody>
      </p:sp>
      <p:pic>
        <p:nvPicPr>
          <p:cNvPr id="25" name="Image 0" descr="preencoded.png">    </p:cNvPr>
          <p:cNvPicPr>
            <a:picLocks noChangeAspect="1"/>
          </p:cNvPicPr>
          <p:nvPr/>
        </p:nvPicPr>
        <p:blipFill>
          <a:blip r:embed="rId1"/>
          <a:stretch>
            <a:fillRect/>
          </a:stretch>
        </p:blipFill>
        <p:spPr>
          <a:xfrm>
            <a:off x="4749701" y="1686520"/>
            <a:ext cx="3902943" cy="280935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dirty="0">
                <a:solidFill>
                  <a:srgbClr val="1B1B27"/>
                </a:solidFill>
                <a:latin typeface="Raleway" pitchFamily="34" charset="0"/>
                <a:ea typeface="Raleway" pitchFamily="34" charset="-122"/>
                <a:cs typeface="Raleway" pitchFamily="34" charset="-120"/>
              </a:rPr>
              <a:t>Applications of Linear Regression</a:t>
            </a:r>
            <a:endParaRPr lang="en-US" sz="1350" dirty="0"/>
          </a:p>
        </p:txBody>
      </p:sp>
      <p:sp>
        <p:nvSpPr>
          <p:cNvPr id="3" name="Text 1"/>
          <p:cNvSpPr/>
          <p:nvPr/>
        </p:nvSpPr>
        <p:spPr>
          <a:xfrm>
            <a:off x="496119" y="682154"/>
            <a:ext cx="8608963" cy="85055"/>
          </a:xfrm>
          <a:prstGeom prst="rect">
            <a:avLst/>
          </a:prstGeom>
          <a:noFill/>
          <a:ln/>
        </p:spPr>
        <p:txBody>
          <a:bodyPr wrap="none" lIns="0" tIns="0" rIns="0" bIns="0" rtlCol="0" anchor="t"/>
          <a:lstStyle/>
          <a:p>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Beyond house prices, Linear Regression powers predictions across many real-world domains.</a:t>
            </a:r>
            <a:endParaRPr lang="en-US" sz="550" dirty="0"/>
          </a:p>
        </p:txBody>
      </p:sp>
      <p:pic>
        <p:nvPicPr>
          <p:cNvPr id="4" name="Image 0" descr="preencoded.png">    </p:cNvPr>
          <p:cNvPicPr>
            <a:picLocks noChangeAspect="1"/>
          </p:cNvPicPr>
          <p:nvPr/>
        </p:nvPicPr>
        <p:blipFill>
          <a:blip r:embed="rId1"/>
          <a:stretch>
            <a:fillRect/>
          </a:stretch>
        </p:blipFill>
        <p:spPr>
          <a:xfrm>
            <a:off x="496119" y="807021"/>
            <a:ext cx="882030" cy="882030"/>
          </a:xfrm>
          <a:prstGeom prst="rect">
            <a:avLst/>
          </a:prstGeom>
        </p:spPr>
      </p:pic>
      <p:sp>
        <p:nvSpPr>
          <p:cNvPr id="5" name="Text 2"/>
          <p:cNvSpPr/>
          <p:nvPr/>
        </p:nvSpPr>
        <p:spPr>
          <a:xfrm>
            <a:off x="496119" y="1733327"/>
            <a:ext cx="2004715"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Salary Prediction</a:t>
            </a:r>
            <a:endParaRPr lang="en-US" sz="650" dirty="0"/>
          </a:p>
        </p:txBody>
      </p:sp>
      <p:sp>
        <p:nvSpPr>
          <p:cNvPr id="6" name="Text 3"/>
          <p:cNvSpPr/>
          <p:nvPr/>
        </p:nvSpPr>
        <p:spPr>
          <a:xfrm>
            <a:off x="496119" y="1865263"/>
            <a:ext cx="2004715" cy="85055"/>
          </a:xfrm>
          <a:prstGeom prst="rect">
            <a:avLst/>
          </a:prstGeom>
          <a:noFill/>
          <a:ln/>
        </p:spPr>
        <p:txBody>
          <a:bodyPr wrap="none" lIns="0" tIns="0" rIns="0" bIns="0" rtlCol="0" anchor="t"/>
          <a:lstStyle/>
          <a:p>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Years of experience → Expected salary.</a:t>
            </a:r>
            <a:endParaRPr lang="en-US" sz="550" dirty="0"/>
          </a:p>
        </p:txBody>
      </p:sp>
      <p:pic>
        <p:nvPicPr>
          <p:cNvPr id="7" name="Image 1" descr="preencoded.png">    </p:cNvPr>
          <p:cNvPicPr>
            <a:picLocks noChangeAspect="1"/>
          </p:cNvPicPr>
          <p:nvPr/>
        </p:nvPicPr>
        <p:blipFill>
          <a:blip r:embed="rId2"/>
          <a:stretch>
            <a:fillRect/>
          </a:stretch>
        </p:blipFill>
        <p:spPr>
          <a:xfrm>
            <a:off x="2545110" y="807021"/>
            <a:ext cx="882030" cy="882030"/>
          </a:xfrm>
          <a:prstGeom prst="rect">
            <a:avLst/>
          </a:prstGeom>
        </p:spPr>
      </p:pic>
      <p:sp>
        <p:nvSpPr>
          <p:cNvPr id="8" name="Text 4"/>
          <p:cNvSpPr/>
          <p:nvPr/>
        </p:nvSpPr>
        <p:spPr>
          <a:xfrm>
            <a:off x="2545110" y="1733327"/>
            <a:ext cx="2004715"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Sales Forecasting</a:t>
            </a:r>
            <a:endParaRPr lang="en-US" sz="650" dirty="0"/>
          </a:p>
        </p:txBody>
      </p:sp>
      <p:sp>
        <p:nvSpPr>
          <p:cNvPr id="9" name="Text 5"/>
          <p:cNvSpPr/>
          <p:nvPr/>
        </p:nvSpPr>
        <p:spPr>
          <a:xfrm>
            <a:off x="2545110" y="1865263"/>
            <a:ext cx="2004715" cy="85055"/>
          </a:xfrm>
          <a:prstGeom prst="rect">
            <a:avLst/>
          </a:prstGeom>
          <a:noFill/>
          <a:ln/>
        </p:spPr>
        <p:txBody>
          <a:bodyPr wrap="none" lIns="0" tIns="0" rIns="0" bIns="0" rtlCol="0" anchor="t"/>
          <a:lstStyle/>
          <a:p>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Historical sales data → Future revenue estimates.</a:t>
            </a:r>
            <a:endParaRPr lang="en-US" sz="550" dirty="0"/>
          </a:p>
        </p:txBody>
      </p:sp>
      <p:pic>
        <p:nvPicPr>
          <p:cNvPr id="10" name="Image 2" descr="preencoded.png">    </p:cNvPr>
          <p:cNvPicPr>
            <a:picLocks noChangeAspect="1"/>
          </p:cNvPicPr>
          <p:nvPr/>
        </p:nvPicPr>
        <p:blipFill>
          <a:blip r:embed="rId3"/>
          <a:stretch>
            <a:fillRect/>
          </a:stretch>
        </p:blipFill>
        <p:spPr>
          <a:xfrm>
            <a:off x="4594101" y="807021"/>
            <a:ext cx="882030" cy="882030"/>
          </a:xfrm>
          <a:prstGeom prst="rect">
            <a:avLst/>
          </a:prstGeom>
        </p:spPr>
      </p:pic>
      <p:sp>
        <p:nvSpPr>
          <p:cNvPr id="11" name="Text 6"/>
          <p:cNvSpPr/>
          <p:nvPr/>
        </p:nvSpPr>
        <p:spPr>
          <a:xfrm>
            <a:off x="4594101" y="1733327"/>
            <a:ext cx="2004715"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Demand Prediction</a:t>
            </a:r>
            <a:endParaRPr lang="en-US" sz="650" dirty="0"/>
          </a:p>
        </p:txBody>
      </p:sp>
      <p:sp>
        <p:nvSpPr>
          <p:cNvPr id="12" name="Text 7"/>
          <p:cNvSpPr/>
          <p:nvPr/>
        </p:nvSpPr>
        <p:spPr>
          <a:xfrm>
            <a:off x="4594101" y="1865263"/>
            <a:ext cx="2004715" cy="85055"/>
          </a:xfrm>
          <a:prstGeom prst="rect">
            <a:avLst/>
          </a:prstGeom>
          <a:noFill/>
          <a:ln/>
        </p:spPr>
        <p:txBody>
          <a:bodyPr wrap="none" lIns="0" tIns="0" rIns="0" bIns="0" rtlCol="0" anchor="t"/>
          <a:lstStyle/>
          <a:p>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Market signals → Product demand forecasts.</a:t>
            </a:r>
            <a:endParaRPr lang="en-US" sz="550" dirty="0"/>
          </a:p>
        </p:txBody>
      </p:sp>
      <p:pic>
        <p:nvPicPr>
          <p:cNvPr id="13" name="Image 3" descr="preencoded.png">    </p:cNvPr>
          <p:cNvPicPr>
            <a:picLocks noChangeAspect="1"/>
          </p:cNvPicPr>
          <p:nvPr/>
        </p:nvPicPr>
        <p:blipFill>
          <a:blip r:embed="rId4"/>
          <a:stretch>
            <a:fillRect/>
          </a:stretch>
        </p:blipFill>
        <p:spPr>
          <a:xfrm>
            <a:off x="6643092" y="807021"/>
            <a:ext cx="882104" cy="882104"/>
          </a:xfrm>
          <a:prstGeom prst="rect">
            <a:avLst/>
          </a:prstGeom>
        </p:spPr>
      </p:pic>
      <p:sp>
        <p:nvSpPr>
          <p:cNvPr id="14" name="Text 8"/>
          <p:cNvSpPr/>
          <p:nvPr/>
        </p:nvSpPr>
        <p:spPr>
          <a:xfrm>
            <a:off x="6643092" y="1733401"/>
            <a:ext cx="2004789"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Temperature Analysis</a:t>
            </a:r>
            <a:endParaRPr lang="en-US" sz="650" dirty="0"/>
          </a:p>
        </p:txBody>
      </p:sp>
      <p:sp>
        <p:nvSpPr>
          <p:cNvPr id="15" name="Text 9"/>
          <p:cNvSpPr/>
          <p:nvPr/>
        </p:nvSpPr>
        <p:spPr>
          <a:xfrm>
            <a:off x="6643092" y="1865337"/>
            <a:ext cx="2004789" cy="85055"/>
          </a:xfrm>
          <a:prstGeom prst="rect">
            <a:avLst/>
          </a:prstGeom>
          <a:noFill/>
          <a:ln/>
        </p:spPr>
        <p:txBody>
          <a:bodyPr wrap="none" lIns="0" tIns="0" rIns="0" bIns="0" rtlCol="0" anchor="t"/>
          <a:lstStyle/>
          <a:p>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Time and location → Temperature predictions.</a:t>
            </a:r>
            <a:endParaRPr lang="en-US" sz="550" dirty="0"/>
          </a:p>
        </p:txBody>
      </p:sp>
      <p:pic>
        <p:nvPicPr>
          <p:cNvPr id="16" name="Image 4" descr="preencoded.png">    </p:cNvPr>
          <p:cNvPicPr>
            <a:picLocks noChangeAspect="1"/>
          </p:cNvPicPr>
          <p:nvPr/>
        </p:nvPicPr>
        <p:blipFill>
          <a:blip r:embed="rId5"/>
          <a:stretch>
            <a:fillRect/>
          </a:stretch>
        </p:blipFill>
        <p:spPr>
          <a:xfrm>
            <a:off x="496119" y="2021235"/>
            <a:ext cx="882030" cy="882030"/>
          </a:xfrm>
          <a:prstGeom prst="rect">
            <a:avLst/>
          </a:prstGeom>
        </p:spPr>
      </p:pic>
      <p:sp>
        <p:nvSpPr>
          <p:cNvPr id="17" name="Text 10"/>
          <p:cNvSpPr/>
          <p:nvPr/>
        </p:nvSpPr>
        <p:spPr>
          <a:xfrm>
            <a:off x="496119" y="2947541"/>
            <a:ext cx="2004715" cy="110728"/>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Advertising vs Sales</a:t>
            </a:r>
            <a:endParaRPr lang="en-US" sz="650" dirty="0"/>
          </a:p>
        </p:txBody>
      </p:sp>
      <p:sp>
        <p:nvSpPr>
          <p:cNvPr id="18" name="Text 11"/>
          <p:cNvSpPr/>
          <p:nvPr/>
        </p:nvSpPr>
        <p:spPr>
          <a:xfrm>
            <a:off x="496119" y="3079477"/>
            <a:ext cx="2004715" cy="85055"/>
          </a:xfrm>
          <a:prstGeom prst="rect">
            <a:avLst/>
          </a:prstGeom>
          <a:noFill/>
          <a:ln/>
        </p:spPr>
        <p:txBody>
          <a:bodyPr wrap="none" lIns="0" tIns="0" rIns="0" bIns="0" rtlCol="0" anchor="t"/>
          <a:lstStyle/>
          <a:p>
            <a:pPr algn="l" indent="0" marL="0">
              <a:lnSpc>
                <a:spcPct val="100000"/>
              </a:lnSpc>
              <a:buNone/>
            </a:pPr>
            <a:r>
              <a:rPr lang="en-US" sz="550" dirty="0">
                <a:solidFill>
                  <a:srgbClr val="3C3939"/>
                </a:solidFill>
                <a:latin typeface="Roboto" pitchFamily="34" charset="0"/>
                <a:ea typeface="Roboto" pitchFamily="34" charset="-122"/>
                <a:cs typeface="Roboto" pitchFamily="34" charset="-120"/>
              </a:rPr>
              <a:t>Ad spend → Predicted sales revenue.</a:t>
            </a:r>
            <a:endParaRPr lang="en-US" sz="550" dirty="0"/>
          </a:p>
        </p:txBody>
      </p:sp>
      <p:pic>
        <p:nvPicPr>
          <p:cNvPr id="19" name="Image 5" descr="preencoded.png">    </p:cNvPr>
          <p:cNvPicPr>
            <a:picLocks noChangeAspect="1"/>
          </p:cNvPicPr>
          <p:nvPr/>
        </p:nvPicPr>
        <p:blipFill>
          <a:blip r:embed="rId6"/>
          <a:stretch>
            <a:fillRect/>
          </a:stretch>
        </p:blipFill>
        <p:spPr>
          <a:xfrm>
            <a:off x="1422797" y="3204344"/>
            <a:ext cx="6298332" cy="4340423"/>
          </a:xfrm>
          <a:prstGeom prst="rect">
            <a:avLst/>
          </a:prstGeom>
        </p:spPr>
      </p:pic>
      <p:sp>
        <p:nvSpPr>
          <p:cNvPr id="20" name="Text 12"/>
          <p:cNvSpPr/>
          <p:nvPr/>
        </p:nvSpPr>
        <p:spPr>
          <a:xfrm>
            <a:off x="1580542" y="5905110"/>
            <a:ext cx="1721164" cy="229267"/>
          </a:xfrm>
          <a:prstGeom prst="rect">
            <a:avLst/>
          </a:prstGeom>
          <a:noFill/>
          <a:ln/>
        </p:spPr>
        <p:txBody>
          <a:bodyPr wrap="none" lIns="0" tIns="0" rIns="0" bIns="0" rtlCol="0" anchor="t"/>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Historical Data</a:t>
            </a:r>
            <a:endParaRPr lang="en-US" sz="1400" dirty="0"/>
          </a:p>
        </p:txBody>
      </p:sp>
      <p:sp>
        <p:nvSpPr>
          <p:cNvPr id="21" name="Text 13"/>
          <p:cNvSpPr/>
          <p:nvPr/>
        </p:nvSpPr>
        <p:spPr>
          <a:xfrm>
            <a:off x="3047219" y="4082432"/>
            <a:ext cx="1777080" cy="229268"/>
          </a:xfrm>
          <a:prstGeom prst="rect">
            <a:avLst/>
          </a:prstGeom>
          <a:noFill/>
          <a:ln/>
        </p:spPr>
        <p:txBody>
          <a:bodyPr wrap="none" lIns="0" tIns="0" rIns="0" bIns="0" rtlCol="0" anchor="t"/>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Linear Regression</a:t>
            </a:r>
            <a:endParaRPr lang="en-US" sz="1400" dirty="0"/>
          </a:p>
        </p:txBody>
      </p:sp>
      <p:sp>
        <p:nvSpPr>
          <p:cNvPr id="22" name="Text 14"/>
          <p:cNvSpPr/>
          <p:nvPr/>
        </p:nvSpPr>
        <p:spPr>
          <a:xfrm>
            <a:off x="4240176" y="6438922"/>
            <a:ext cx="1721164" cy="458535"/>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Learned Relationship</a:t>
            </a:r>
            <a:endParaRPr lang="en-US" sz="1400" dirty="0"/>
          </a:p>
        </p:txBody>
      </p:sp>
      <p:sp>
        <p:nvSpPr>
          <p:cNvPr id="23" name="Text 15"/>
          <p:cNvSpPr/>
          <p:nvPr/>
        </p:nvSpPr>
        <p:spPr>
          <a:xfrm>
            <a:off x="5767990" y="4562238"/>
            <a:ext cx="1721164" cy="229268"/>
          </a:xfrm>
          <a:prstGeom prst="rect">
            <a:avLst/>
          </a:prstGeom>
          <a:noFill/>
          <a:ln/>
        </p:spPr>
        <p:txBody>
          <a:bodyPr wrap="none" lIns="0" tIns="0" rIns="0" bIns="0" rtlCol="0" anchor="t"/>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Prediction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393576"/>
            <a:ext cx="8151763" cy="228451"/>
          </a:xfrm>
          <a:prstGeom prst="rect">
            <a:avLst/>
          </a:prstGeom>
          <a:noFill/>
          <a:ln/>
        </p:spPr>
        <p:txBody>
          <a:bodyPr wrap="none" lIns="0" tIns="0" rIns="0" bIns="0" rtlCol="0" anchor="t"/>
          <a:lstStyle/>
          <a:p>
            <a:pPr algn="l" indent="0" marL="0">
              <a:lnSpc>
                <a:spcPct val="104000"/>
              </a:lnSpc>
              <a:buNone/>
            </a:pPr>
            <a:r>
              <a:rPr lang="en-US" sz="1400" dirty="0">
                <a:solidFill>
                  <a:srgbClr val="1B1B27"/>
                </a:solidFill>
                <a:latin typeface="Raleway" pitchFamily="34" charset="0"/>
                <a:ea typeface="Raleway" pitchFamily="34" charset="-122"/>
                <a:cs typeface="Raleway" pitchFamily="34" charset="-120"/>
              </a:rPr>
              <a:t>Simple vs Multiple Linear Regression</a:t>
            </a:r>
            <a:endParaRPr lang="en-US" sz="1400" dirty="0"/>
          </a:p>
        </p:txBody>
      </p:sp>
      <p:sp>
        <p:nvSpPr>
          <p:cNvPr id="3" name="Shape 1"/>
          <p:cNvSpPr/>
          <p:nvPr/>
        </p:nvSpPr>
        <p:spPr>
          <a:xfrm>
            <a:off x="496119" y="2349475"/>
            <a:ext cx="1974503" cy="729481"/>
          </a:xfrm>
          <a:prstGeom prst="roundRect">
            <a:avLst>
              <a:gd name="adj" fmla="val 4209"/>
            </a:avLst>
          </a:prstGeom>
          <a:solidFill>
            <a:srgbClr val="E1E1EA"/>
          </a:solidFill>
          <a:ln w="4763">
            <a:solidFill>
              <a:srgbClr val="C7C7D0"/>
            </a:solidFill>
            <a:prstDash val="solid"/>
          </a:ln>
        </p:spPr>
      </p:sp>
      <p:sp>
        <p:nvSpPr>
          <p:cNvPr id="4" name="Text 2"/>
          <p:cNvSpPr/>
          <p:nvPr/>
        </p:nvSpPr>
        <p:spPr>
          <a:xfrm>
            <a:off x="573956" y="2427312"/>
            <a:ext cx="1818829" cy="114226"/>
          </a:xfrm>
          <a:prstGeom prst="rect">
            <a:avLst/>
          </a:prstGeom>
          <a:noFill/>
          <a:ln/>
        </p:spPr>
        <p:txBody>
          <a:bodyPr wrap="none" lIns="0" tIns="0" rIns="0" bIns="0" rtlCol="0" anchor="t"/>
          <a:lstStyle/>
          <a:p>
            <a:pPr algn="l" indent="0" marL="0">
              <a:lnSpc>
                <a:spcPct val="104000"/>
              </a:lnSpc>
              <a:buNone/>
            </a:pPr>
            <a:r>
              <a:rPr lang="en-US" sz="700" dirty="0">
                <a:solidFill>
                  <a:srgbClr val="3C3939"/>
                </a:solidFill>
                <a:latin typeface="Raleway" pitchFamily="34" charset="0"/>
                <a:ea typeface="Raleway" pitchFamily="34" charset="-122"/>
                <a:cs typeface="Raleway" pitchFamily="34" charset="-120"/>
              </a:rPr>
              <a:t>Simple Linear Regression</a:t>
            </a:r>
            <a:endParaRPr lang="en-US" sz="700" dirty="0"/>
          </a:p>
        </p:txBody>
      </p:sp>
      <p:sp>
        <p:nvSpPr>
          <p:cNvPr id="5" name="Text 3"/>
          <p:cNvSpPr/>
          <p:nvPr/>
        </p:nvSpPr>
        <p:spPr>
          <a:xfrm>
            <a:off x="573956" y="2579191"/>
            <a:ext cx="1818829" cy="333375"/>
          </a:xfrm>
          <a:prstGeom prst="rect">
            <a:avLst/>
          </a:prstGeom>
          <a:noFill/>
          <a:ln/>
        </p:spPr>
        <p:txBody>
          <a:bodyPr wrap="square" lIns="0" tIns="0" rIns="0" bIns="0" rtlCol="0" anchor="t"/>
          <a:lstStyle/>
          <a:p>
            <a:pPr algn="l" indent="0" marL="0">
              <a:lnSpc>
                <a:spcPct val="101000"/>
              </a:lnSpc>
              <a:spcAft>
                <a:spcPts val="250"/>
              </a:spcAft>
              <a:buNone/>
            </a:pPr>
            <a:r>
              <a:rPr lang="en-US" sz="550" dirty="0">
                <a:solidFill>
                  <a:srgbClr val="3C3939"/>
                </a:solidFill>
                <a:latin typeface="Roboto" pitchFamily="34" charset="0"/>
                <a:ea typeface="Roboto" pitchFamily="34" charset="-122"/>
                <a:cs typeface="Roboto" pitchFamily="34" charset="-120"/>
              </a:rPr>
              <a:t>Uses </a:t>
            </a:r>
            <a:pPr algn="l" indent="0" marL="0">
              <a:lnSpc>
                <a:spcPct val="101000"/>
              </a:lnSpc>
              <a:spcAft>
                <a:spcPts val="250"/>
              </a:spcAft>
              <a:buNone/>
            </a:pPr>
            <a:r>
              <a:rPr lang="en-US" sz="550" b="1" dirty="0">
                <a:solidFill>
                  <a:srgbClr val="3C3939"/>
                </a:solidFill>
                <a:latin typeface="Roboto Bold" pitchFamily="34" charset="0"/>
                <a:ea typeface="Roboto Bold" pitchFamily="34" charset="-122"/>
                <a:cs typeface="Roboto Bold" pitchFamily="34" charset="-120"/>
              </a:rPr>
              <a:t>one independent variable</a:t>
            </a:r>
            <a:pPr algn="l" indent="0" marL="0">
              <a:lnSpc>
                <a:spcPct val="101000"/>
              </a:lnSpc>
              <a:spcAft>
                <a:spcPts val="250"/>
              </a:spcAft>
              <a:buNone/>
            </a:pPr>
            <a:r>
              <a:rPr lang="en-US" sz="550" dirty="0">
                <a:solidFill>
                  <a:srgbClr val="3C3939"/>
                </a:solidFill>
                <a:latin typeface="Roboto" pitchFamily="34" charset="0"/>
                <a:ea typeface="Roboto" pitchFamily="34" charset="-122"/>
                <a:cs typeface="Roboto" pitchFamily="34" charset="-120"/>
              </a:rPr>
              <a:t>.</a:t>
            </a:r>
            <a:endParaRPr lang="en-US" sz="550" dirty="0"/>
          </a:p>
          <a:p>
            <a:pPr algn="l" indent="0" marL="0">
              <a:lnSpc>
                <a:spcPct val="101000"/>
              </a:lnSpc>
              <a:spcAft>
                <a:spcPts val="250"/>
              </a:spcAft>
              <a:buNone/>
            </a:pPr>
            <a:r>
              <a:rPr lang="en-US" sz="550" b="1" dirty="0">
                <a:solidFill>
                  <a:srgbClr val="3C3939"/>
                </a:solidFill>
                <a:latin typeface="Roboto Bold" pitchFamily="34" charset="0"/>
                <a:ea typeface="Roboto Bold" pitchFamily="34" charset="-122"/>
                <a:cs typeface="Roboto Bold" pitchFamily="34" charset="-120"/>
              </a:rPr>
              <a:t>Salary = m(Experience) + b</a:t>
            </a:r>
            <a:endParaRPr lang="en-US" sz="550" dirty="0"/>
          </a:p>
          <a:p>
            <a:pPr algn="l" indent="0" marL="0">
              <a:lnSpc>
                <a:spcPct val="101000"/>
              </a:lnSpc>
              <a:buNone/>
            </a:pPr>
            <a:r>
              <a:rPr lang="en-US" sz="550" dirty="0">
                <a:solidFill>
                  <a:srgbClr val="3C3939"/>
                </a:solidFill>
                <a:latin typeface="Roboto" pitchFamily="34" charset="0"/>
                <a:ea typeface="Roboto" pitchFamily="34" charset="-122"/>
                <a:cs typeface="Roboto" pitchFamily="34" charset="-120"/>
              </a:rPr>
              <a:t>Experience → Salary</a:t>
            </a:r>
            <a:endParaRPr lang="en-US" sz="550" dirty="0"/>
          </a:p>
        </p:txBody>
      </p:sp>
      <p:sp>
        <p:nvSpPr>
          <p:cNvPr id="6" name="Shape 4"/>
          <p:cNvSpPr/>
          <p:nvPr/>
        </p:nvSpPr>
        <p:spPr>
          <a:xfrm>
            <a:off x="2508275" y="2349475"/>
            <a:ext cx="1974577" cy="729481"/>
          </a:xfrm>
          <a:prstGeom prst="roundRect">
            <a:avLst>
              <a:gd name="adj" fmla="val 4209"/>
            </a:avLst>
          </a:prstGeom>
          <a:solidFill>
            <a:srgbClr val="E1E1EA"/>
          </a:solidFill>
          <a:ln w="4763">
            <a:solidFill>
              <a:srgbClr val="C7C7D0"/>
            </a:solidFill>
            <a:prstDash val="solid"/>
          </a:ln>
        </p:spPr>
      </p:sp>
      <p:sp>
        <p:nvSpPr>
          <p:cNvPr id="7" name="Text 5"/>
          <p:cNvSpPr/>
          <p:nvPr/>
        </p:nvSpPr>
        <p:spPr>
          <a:xfrm>
            <a:off x="2586112" y="2427312"/>
            <a:ext cx="1818903" cy="114226"/>
          </a:xfrm>
          <a:prstGeom prst="rect">
            <a:avLst/>
          </a:prstGeom>
          <a:noFill/>
          <a:ln/>
        </p:spPr>
        <p:txBody>
          <a:bodyPr wrap="none" lIns="0" tIns="0" rIns="0" bIns="0" rtlCol="0" anchor="t"/>
          <a:lstStyle/>
          <a:p>
            <a:pPr algn="l" indent="0" marL="0">
              <a:lnSpc>
                <a:spcPct val="104000"/>
              </a:lnSpc>
              <a:buNone/>
            </a:pPr>
            <a:r>
              <a:rPr lang="en-US" sz="700" dirty="0">
                <a:solidFill>
                  <a:srgbClr val="3C3939"/>
                </a:solidFill>
                <a:latin typeface="Raleway" pitchFamily="34" charset="0"/>
                <a:ea typeface="Raleway" pitchFamily="34" charset="-122"/>
                <a:cs typeface="Raleway" pitchFamily="34" charset="-120"/>
              </a:rPr>
              <a:t>Multiple Linear Regression</a:t>
            </a:r>
            <a:endParaRPr lang="en-US" sz="700" dirty="0"/>
          </a:p>
        </p:txBody>
      </p:sp>
      <p:sp>
        <p:nvSpPr>
          <p:cNvPr id="8" name="Text 6"/>
          <p:cNvSpPr/>
          <p:nvPr/>
        </p:nvSpPr>
        <p:spPr>
          <a:xfrm>
            <a:off x="2586112" y="2579191"/>
            <a:ext cx="1818903" cy="421928"/>
          </a:xfrm>
          <a:prstGeom prst="rect">
            <a:avLst/>
          </a:prstGeom>
          <a:noFill/>
          <a:ln/>
        </p:spPr>
        <p:txBody>
          <a:bodyPr wrap="square" lIns="0" tIns="0" rIns="0" bIns="0" rtlCol="0" anchor="t"/>
          <a:lstStyle/>
          <a:p>
            <a:pPr algn="l" indent="0" marL="0">
              <a:lnSpc>
                <a:spcPct val="101000"/>
              </a:lnSpc>
              <a:spcAft>
                <a:spcPts val="250"/>
              </a:spcAft>
              <a:buNone/>
            </a:pPr>
            <a:r>
              <a:rPr lang="en-US" sz="550" dirty="0">
                <a:solidFill>
                  <a:srgbClr val="3C3939"/>
                </a:solidFill>
                <a:latin typeface="Roboto" pitchFamily="34" charset="0"/>
                <a:ea typeface="Roboto" pitchFamily="34" charset="-122"/>
                <a:cs typeface="Roboto" pitchFamily="34" charset="-120"/>
              </a:rPr>
              <a:t>Uses </a:t>
            </a:r>
            <a:pPr algn="l" indent="0" marL="0">
              <a:lnSpc>
                <a:spcPct val="101000"/>
              </a:lnSpc>
              <a:spcAft>
                <a:spcPts val="250"/>
              </a:spcAft>
              <a:buNone/>
            </a:pPr>
            <a:r>
              <a:rPr lang="en-US" sz="550" b="1" dirty="0">
                <a:solidFill>
                  <a:srgbClr val="3C3939"/>
                </a:solidFill>
                <a:latin typeface="Roboto Bold" pitchFamily="34" charset="0"/>
                <a:ea typeface="Roboto Bold" pitchFamily="34" charset="-122"/>
                <a:cs typeface="Roboto Bold" pitchFamily="34" charset="-120"/>
              </a:rPr>
              <a:t>multiple independent variables</a:t>
            </a:r>
            <a:pPr algn="l" indent="0" marL="0">
              <a:lnSpc>
                <a:spcPct val="101000"/>
              </a:lnSpc>
              <a:spcAft>
                <a:spcPts val="250"/>
              </a:spcAft>
              <a:buNone/>
            </a:pPr>
            <a:r>
              <a:rPr lang="en-US" sz="550" dirty="0">
                <a:solidFill>
                  <a:srgbClr val="3C3939"/>
                </a:solidFill>
                <a:latin typeface="Roboto" pitchFamily="34" charset="0"/>
                <a:ea typeface="Roboto" pitchFamily="34" charset="-122"/>
                <a:cs typeface="Roboto" pitchFamily="34" charset="-120"/>
              </a:rPr>
              <a:t>.</a:t>
            </a:r>
            <a:endParaRPr lang="en-US" sz="550" dirty="0"/>
          </a:p>
          <a:p>
            <a:pPr algn="l" indent="0" marL="0">
              <a:lnSpc>
                <a:spcPct val="101000"/>
              </a:lnSpc>
              <a:spcAft>
                <a:spcPts val="250"/>
              </a:spcAft>
              <a:buNone/>
            </a:pPr>
            <a:r>
              <a:rPr lang="en-US" sz="550" b="1" dirty="0">
                <a:solidFill>
                  <a:srgbClr val="3C3939"/>
                </a:solidFill>
                <a:latin typeface="Roboto Bold" pitchFamily="34" charset="0"/>
                <a:ea typeface="Roboto Bold" pitchFamily="34" charset="-122"/>
                <a:cs typeface="Roboto Bold" pitchFamily="34" charset="-120"/>
              </a:rPr>
              <a:t>y = b₀ + b₁x₁ + b₂x₂ + ... + bₙxₙ</a:t>
            </a:r>
            <a:endParaRPr lang="en-US" sz="550" dirty="0"/>
          </a:p>
          <a:p>
            <a:pPr algn="l" indent="0" marL="0">
              <a:lnSpc>
                <a:spcPct val="101000"/>
              </a:lnSpc>
              <a:buNone/>
            </a:pPr>
            <a:r>
              <a:rPr lang="en-US" sz="550" b="1" dirty="0">
                <a:solidFill>
                  <a:srgbClr val="3C3939"/>
                </a:solidFill>
                <a:latin typeface="Roboto Bold" pitchFamily="34" charset="0"/>
                <a:ea typeface="Roboto Bold" pitchFamily="34" charset="-122"/>
                <a:cs typeface="Roboto Bold" pitchFamily="34" charset="-120"/>
              </a:rPr>
              <a:t>Price = b₀ + b₁(Size) + b₂(Bedrooms) + b₃(Location Score)</a:t>
            </a:r>
            <a:endParaRPr lang="en-US" sz="550" dirty="0"/>
          </a:p>
        </p:txBody>
      </p:sp>
      <p:pic>
        <p:nvPicPr>
          <p:cNvPr id="9" name="Image 0" descr="preencoded.png">    </p:cNvPr>
          <p:cNvPicPr>
            <a:picLocks noChangeAspect="1"/>
          </p:cNvPicPr>
          <p:nvPr/>
        </p:nvPicPr>
        <p:blipFill>
          <a:blip r:embed="rId1"/>
          <a:stretch>
            <a:fillRect/>
          </a:stretch>
        </p:blipFill>
        <p:spPr>
          <a:xfrm>
            <a:off x="4665911" y="720849"/>
            <a:ext cx="3986733" cy="398673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2026-08-18T02:57:11Z</dcterms:created>
  <dcterms:modified xsi:type="dcterms:W3CDTF">2026-08-18T02:57:11Z</dcterms:modified>
</cp:coreProperties>
</file>