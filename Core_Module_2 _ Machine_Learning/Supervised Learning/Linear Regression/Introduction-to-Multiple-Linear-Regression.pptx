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6" y="378693"/>
            <a:ext cx="3289474" cy="4386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11882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to Multiple Linear Regression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925119" y="1490067"/>
            <a:ext cx="472276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foundational supervised learning algorithm that predicts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 outputs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multiple input variables — extending Simple Linear Regression into the real world.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925119" y="2308920"/>
            <a:ext cx="2292697" cy="1474812"/>
          </a:xfrm>
          <a:prstGeom prst="roundRect">
            <a:avLst>
              <a:gd name="adj" fmla="val 397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69407" y="2453208"/>
            <a:ext cx="200412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It 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69407" y="2753618"/>
            <a:ext cx="200412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model that uses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multiple independent variables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predict one continuous output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184" y="2308920"/>
            <a:ext cx="2292697" cy="1474812"/>
          </a:xfrm>
          <a:prstGeom prst="roundRect">
            <a:avLst>
              <a:gd name="adj" fmla="val 397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9473" y="2453208"/>
            <a:ext cx="200412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We Need It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99473" y="2753618"/>
            <a:ext cx="200412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outcomes rarely depend on just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factor — multiple inputs give richer predictions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25119" y="3921100"/>
            <a:ext cx="4722763" cy="810444"/>
          </a:xfrm>
          <a:prstGeom prst="roundRect">
            <a:avLst>
              <a:gd name="adj" fmla="val 723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69407" y="4065389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Example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69407" y="4365799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House Size + Bedrooms + Location → House Price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Simple to Multiple Linear Regression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09736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Linear Regression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02382" y="2279749"/>
            <a:ext cx="43403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 = mx + b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496119" y="2247900"/>
            <a:ext cx="9525" cy="148754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436465"/>
            <a:ext cx="3989412" cy="20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 independent variable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make a prediction.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Years of Experience → Salary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496119" y="2695947"/>
            <a:ext cx="3989412" cy="9525"/>
          </a:xfrm>
          <a:prstGeom prst="roundRect">
            <a:avLst>
              <a:gd name="adj" fmla="val 50000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276299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Linear Regression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02382" y="2945383"/>
            <a:ext cx="43403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 = b₀ + b₁x₁ + b₂x₂ + ... + bₙxₙ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496119" y="2913534"/>
            <a:ext cx="9525" cy="148754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3102099"/>
            <a:ext cx="3989412" cy="20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multiple independent variables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simultaneously.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 + Experience + Education → Salary</a:t>
            </a:r>
            <a:endParaRPr lang="en-US" sz="5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704255"/>
            <a:ext cx="3989412" cy="39894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96119" y="4773290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a single input, Multiple Linear Regression combines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many features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produce a more accurate, real-world prediction.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5558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Multiple Linear Regression Formula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8777" y="1344439"/>
            <a:ext cx="7959105" cy="554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 = b₀ + b₁x₁ + b₂x₂ + ... + bₙxₙ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496119" y="1169863"/>
            <a:ext cx="14288" cy="903163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03996"/>
            <a:ext cx="2639616" cy="1143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5995" y="2346722"/>
            <a:ext cx="22970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Predicted Output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5995" y="2617217"/>
            <a:ext cx="229701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dependent variable the model is trying to estimate (e.g., salary, house price)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2118" y="2203996"/>
            <a:ext cx="2639690" cy="1143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1994" y="2346722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b₀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Intercept / Bias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451994" y="2617217"/>
            <a:ext cx="229708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baseline prediction when all input features equal zero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8191" y="2203996"/>
            <a:ext cx="2639690" cy="1143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8068" y="2346722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b₁, b₂, ..., bₙ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Coefficients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208068" y="2617217"/>
            <a:ext cx="2297088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coefficient measures how strongly its feature influences the prediction,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holding all other features constant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464123"/>
            <a:ext cx="2639616" cy="1143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5995" y="3606850"/>
            <a:ext cx="22970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x₁, x₂, ..., xₙ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Input Features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95995" y="3877345"/>
            <a:ext cx="229701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independent variables fed into the model (e.g., experience, education level, age)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2118" y="3464123"/>
            <a:ext cx="2639690" cy="1143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451994" y="3606850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— Number of Features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3451994" y="3877345"/>
            <a:ext cx="229708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total count of independent input variables used in the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69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Mathematical Example: Salary Calculation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61231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Trained Model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2125" y="1609279"/>
            <a:ext cx="417768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Salary = 20,000 + 5,000(Experience) + 3,000(Education Level)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500857"/>
            <a:ext cx="14288" cy="417686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054051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Known Values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6119" y="2393677"/>
            <a:ext cx="3916487" cy="2162621"/>
          </a:xfrm>
          <a:prstGeom prst="roundRect">
            <a:avLst>
              <a:gd name="adj" fmla="val 253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6119" y="2755702"/>
            <a:ext cx="3916487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115345"/>
            <a:ext cx="3916487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474988"/>
            <a:ext cx="3916487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3834631"/>
            <a:ext cx="3916487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6119" y="4194274"/>
            <a:ext cx="3916487" cy="81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1999" y="2475458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Variable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34021" y="2475458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Symbol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36044" y="2475458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1999" y="2835101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Intercept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34021" y="2835101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36044" y="2835101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20,000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1999" y="3194745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Coeff.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34021" y="3194745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36044" y="3194745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1999" y="3554388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Education Coeff.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34021" y="3554388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36044" y="3554388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999" y="3914031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34021" y="3914031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36044" y="3914031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years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1999" y="4273674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Education Level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34021" y="4273674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36044" y="4273674"/>
            <a:ext cx="149788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42098" y="1040755"/>
            <a:ext cx="4104605" cy="3651052"/>
          </a:xfrm>
          <a:prstGeom prst="roundRect">
            <a:avLst>
              <a:gd name="adj" fmla="val 257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72769" y="1161231"/>
            <a:ext cx="38432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Step-by-Step Calculation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72769" y="1485826"/>
            <a:ext cx="3843263" cy="51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Salary = 20,000 + 5,000(5) + 3,000(2)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Salary = 20,000 + 25,000 + 6,000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2769" y="2164110"/>
            <a:ext cx="3843263" cy="14288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72769" y="2346573"/>
            <a:ext cx="3843263" cy="56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Salary = ₹51,000</a:t>
            </a:r>
            <a:endParaRPr lang="en-US" sz="3550" dirty="0"/>
          </a:p>
        </p:txBody>
      </p:sp>
      <p:sp>
        <p:nvSpPr>
          <p:cNvPr id="36" name="Text 34"/>
          <p:cNvSpPr/>
          <p:nvPr/>
        </p:nvSpPr>
        <p:spPr>
          <a:xfrm>
            <a:off x="4544169" y="3030587"/>
            <a:ext cx="43004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combines all inputs into one continuous prediction.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53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Understanding the Coefficients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8185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Salary = 20,000 + 5,000(Experience) + 3,000(Education Level)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68140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19968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Intercept — b₀ = 20,000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0619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baseline salary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predicted when all input variables are zero. It anchors the entire regression equation.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668140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199680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Experience Coefficient — b₁ = 5,000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272764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every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additional year of experience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predicted salary increases by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₹5,000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while holding education level constant.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668140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199680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Education Coefficient — b₂ = 3,000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2727647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every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one-unit increase in education level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predicted salary increases by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₹3,000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while holding experience constant.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96119" y="3794373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995142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6816" y="3971553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coefficient isolates the effect of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 feature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while assuming all other features remain unchanged — this is the "ceteris paribus" principle in regression.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803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Example: House Price Prediction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26988" y="984200"/>
            <a:ext cx="844949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Price = b₀ + b₁(Size) + b₂(Bedrooms) + b₃(Age) + b₄(Distance)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894531"/>
            <a:ext cx="14288" cy="328166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12366"/>
            <a:ext cx="531614" cy="637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7430" y="1418630"/>
            <a:ext cx="754045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House Size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7430" y="1632496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Square footage — larger homes command higher prices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950318"/>
            <a:ext cx="531614" cy="6379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7430" y="2056581"/>
            <a:ext cx="754045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🛏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Bedrooms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7430" y="2270447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bedrooms — more rooms, higher value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88270"/>
            <a:ext cx="531614" cy="6379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7430" y="2694533"/>
            <a:ext cx="754045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Age of House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07430" y="2908399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Older homes may depreciate — negative coefficient expected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226222"/>
            <a:ext cx="531614" cy="6379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07430" y="3332485"/>
            <a:ext cx="754045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📍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Distance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07430" y="3546351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 from city center — farther often means lower price</a:t>
            </a:r>
            <a:endParaRPr lang="en-US" sz="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864173"/>
            <a:ext cx="531614" cy="6379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07430" y="3970437"/>
            <a:ext cx="754045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Predicted Price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1107430" y="4184303"/>
            <a:ext cx="754045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combines all features into one continuous output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496119" y="4591794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multiple variables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far more predictive power than relying on house size alone.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937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the Model Learns the Coefficients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16360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Learning Process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433438"/>
            <a:ext cx="264936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do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not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manually choose b₀, b₁, b₂ ... The machine learning algorithm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learns them from training data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137618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Residual / Error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8777" y="2574057"/>
            <a:ext cx="29139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Error = Actual − Predicted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2469282"/>
            <a:ext cx="14288" cy="405482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3005733"/>
            <a:ext cx="264936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gap between what the model predicts and the true observed value is called the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residual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3513981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Ordinary Least Squares (OLS)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6119" y="3831059"/>
            <a:ext cx="26493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Regression finds the coefficients that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minimize the total squared error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training examples — making predictions as close to actual values as possible.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963" y="1437903"/>
            <a:ext cx="5128245" cy="23470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20678" y="3134845"/>
            <a:ext cx="962786" cy="37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Learned Coefficients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07305" y="3134845"/>
            <a:ext cx="962785" cy="37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Minimize Error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00525" y="3134845"/>
            <a:ext cx="962786" cy="37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OLS Algorithm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767368" y="3227579"/>
            <a:ext cx="962786" cy="185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 Data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463677" y="3915891"/>
            <a:ext cx="518889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algorithm iterates over training data, comparing actual vs. predicted values, and adjusts coefficients to shrink residual error lines.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542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Regression Visualization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75333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Geometry helps build intuition for what the model is actually doing in feature space.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097756"/>
            <a:ext cx="8151763" cy="696516"/>
          </a:xfrm>
          <a:prstGeom prst="roundRect">
            <a:avLst>
              <a:gd name="adj" fmla="val 614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102519"/>
            <a:ext cx="2714030" cy="686991"/>
          </a:xfrm>
          <a:custGeom>
            <a:avLst/>
            <a:gdLst/>
            <a:ahLst/>
            <a:cxnLst/>
            <a:rect l="l" t="t" r="r" b="b"/>
            <a:pathLst>
              <a:path w="2714030" h="686991">
                <a:moveTo>
                  <a:pt x="35663" y="0"/>
                </a:moveTo>
                <a:lnTo>
                  <a:pt x="2714030" y="0"/>
                </a:lnTo>
                <a:lnTo>
                  <a:pt x="2714030" y="686991"/>
                </a:lnTo>
                <a:lnTo>
                  <a:pt x="35663" y="686991"/>
                </a:lnTo>
                <a:arcTo hR="35663" wR="35663" stAng="5400000" swAng="5400000"/>
                <a:lnTo>
                  <a:pt x="0" y="35663"/>
                </a:lnTo>
                <a:arcTo hR="35663" wR="35663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602754" y="1204392"/>
            <a:ext cx="251028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Linear Regression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2754" y="1407542"/>
            <a:ext cx="251028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feature → fits a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line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 2D data points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14911" y="1102519"/>
            <a:ext cx="2714104" cy="686991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3214911" y="1102519"/>
            <a:ext cx="14288" cy="686991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3316784" y="1204392"/>
            <a:ext cx="251035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Regression (2 features)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16784" y="1407542"/>
            <a:ext cx="251035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features → fits a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plane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 3D data points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29015" y="1102519"/>
            <a:ext cx="2714104" cy="686991"/>
          </a:xfrm>
          <a:custGeom>
            <a:avLst/>
            <a:gdLst/>
            <a:ahLst/>
            <a:cxnLst/>
            <a:rect l="l" t="t" r="r" b="b"/>
            <a:pathLst>
              <a:path w="2714104" h="686991">
                <a:moveTo>
                  <a:pt x="0" y="0"/>
                </a:moveTo>
                <a:lnTo>
                  <a:pt x="2678441" y="0"/>
                </a:lnTo>
                <a:arcTo hR="35663" wR="35663" stAng="16200000" swAng="5400000"/>
                <a:lnTo>
                  <a:pt x="2714104" y="651327"/>
                </a:lnTo>
                <a:arcTo hR="35663" wR="35663" stAng="0" swAng="5400000"/>
                <a:lnTo>
                  <a:pt x="0" y="686991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29015" y="1102519"/>
            <a:ext cx="14288" cy="686991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14" name="Text 12"/>
          <p:cNvSpPr/>
          <p:nvPr/>
        </p:nvSpPr>
        <p:spPr>
          <a:xfrm>
            <a:off x="6030888" y="1204392"/>
            <a:ext cx="251035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Regression (n features)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0888" y="1407542"/>
            <a:ext cx="251035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features → fits a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hyperplane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n+1 dimensional space</a:t>
            </a:r>
            <a:endParaRPr lang="en-US" sz="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59025"/>
            <a:ext cx="2691557" cy="269155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440981" y="2610594"/>
            <a:ext cx="5211589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3D Example: House Price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40981" y="2843064"/>
            <a:ext cx="5211589" cy="471339"/>
          </a:xfrm>
          <a:prstGeom prst="rect">
            <a:avLst/>
          </a:prstGeom>
          <a:noFill/>
          <a:ln/>
        </p:spPr>
        <p:txBody>
          <a:bodyPr wrap="square" lIns="0" tIns="40758" rIns="0" bIns="0" rtlCol="0" anchor="t">
            <a:normAutofit/>
          </a:bodyPr>
          <a:lstStyle/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X₁ axis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House Size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X₂ axis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Number of Bedrooms</a:t>
            </a:r>
            <a:endParaRPr lang="en-US" sz="800" dirty="0"/>
          </a:p>
          <a:p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 axis</a:t>
            </a:r>
            <a:pPr algn="l" marL="162560" indent="-162560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House Price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440981" y="3380259"/>
            <a:ext cx="5211589" cy="626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data point floats in 3D space. The regression algorithm fits a </a:t>
            </a:r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flat plane</a:t>
            </a:r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passes as close as possible to all data points — minimizing the vertical distance (residuals) from each point to the plane.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more than 2 features, the plane extends into higher dimensions — impossible to visualize, but mathematically identical.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458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vs. Multiple Linear Regression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088901"/>
            <a:ext cx="8151763" cy="2222897"/>
          </a:xfrm>
          <a:prstGeom prst="roundRect">
            <a:avLst>
              <a:gd name="adj" fmla="val 25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460971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830660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00349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70038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939728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1030" y="1093663"/>
            <a:ext cx="2035522" cy="367308"/>
          </a:xfrm>
          <a:custGeom>
            <a:avLst/>
            <a:gdLst/>
            <a:ahLst/>
            <a:cxnLst/>
            <a:rect l="l" t="t" r="r" b="b"/>
            <a:pathLst>
              <a:path w="2035522" h="367308">
                <a:moveTo>
                  <a:pt x="46517" y="0"/>
                </a:moveTo>
                <a:lnTo>
                  <a:pt x="2035522" y="0"/>
                </a:lnTo>
                <a:lnTo>
                  <a:pt x="2035522" y="367308"/>
                </a:lnTo>
                <a:lnTo>
                  <a:pt x="0" y="367308"/>
                </a:lnTo>
                <a:lnTo>
                  <a:pt x="0" y="46517"/>
                </a:lnTo>
                <a:arcTo hR="46517" wR="46517" stAng="10800000" swAng="5400000"/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33933" y="1173138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6552" y="1093663"/>
            <a:ext cx="3012579" cy="36730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2669456" y="1173138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Simple Linear Regression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49131" y="1093663"/>
            <a:ext cx="3093988" cy="367308"/>
          </a:xfrm>
          <a:custGeom>
            <a:avLst/>
            <a:gdLst/>
            <a:ahLst/>
            <a:cxnLst/>
            <a:rect l="l" t="t" r="r" b="b"/>
            <a:pathLst>
              <a:path w="3093988" h="367308">
                <a:moveTo>
                  <a:pt x="0" y="0"/>
                </a:moveTo>
                <a:lnTo>
                  <a:pt x="3047470" y="0"/>
                </a:lnTo>
                <a:arcTo hR="46517" wR="46517" stAng="16200000" swAng="5400000"/>
                <a:lnTo>
                  <a:pt x="3093988" y="367308"/>
                </a:lnTo>
                <a:lnTo>
                  <a:pt x="0" y="367308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5682035" y="1173138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Multiple Linear Regression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3933" y="1542827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Number of Inputs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69456" y="1542827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82035" y="1542827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or more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3933" y="1912516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Formula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69456" y="1912516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= mx + 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82035" y="1912516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= b₀ + b₁x₁ + ... + bₙxₙ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3933" y="2282205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69456" y="2282205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→ Salary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82035" y="2282205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+ Education → Salary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3933" y="2651894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69456" y="2651894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 (2D)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82035" y="2651894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Plane / Hyperplane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3933" y="3021583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69456" y="3021583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82035" y="3021583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6119" y="3451920"/>
            <a:ext cx="8151763" cy="714970"/>
          </a:xfrm>
          <a:prstGeom prst="roundRect">
            <a:avLst>
              <a:gd name="adj" fmla="val 7807"/>
            </a:avLst>
          </a:prstGeom>
          <a:solidFill>
            <a:srgbClr val="FCF2B5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22" y="3631481"/>
            <a:ext cx="166092" cy="13290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28018" y="3609677"/>
            <a:ext cx="758696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More features ≠ better model.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Feature quality, data quality, multicollinearity, overfitting, and proper model evaluation all matter significantly.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96119" y="4307012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Simple Linear Regression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one input is sufficient. Use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Multiple Linear Regression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multiple independent variables each contribute meaningful predictive information.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2026-08-18T03:25:10Z</dcterms:created>
  <dcterms:modified xsi:type="dcterms:W3CDTF">2026-08-18T03:25:10Z</dcterms:modified>
</cp:coreProperties>
</file>