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5.png"/><Relationship Id="rId8" Type="http://schemas.openxmlformats.org/officeDocument/2006/relationships/image" Target="../media/image-5-6.svg"/><Relationship Id="rId9" Type="http://schemas.openxmlformats.org/officeDocument/2006/relationships/image" Target="../media/image-5-5.png"/><Relationship Id="rId10" Type="http://schemas.openxmlformats.org/officeDocument/2006/relationships/image" Target="../media/image-5-6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356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Trees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10978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beginner-friendly introduction to one of Machine Learning's most intuitive algorithms — making predictions through a sequence of smart decisions.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927251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832" y="31226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53129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categories like Pass / Fail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04359" y="2927251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99715" y="31226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99715" y="3531295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continuous values like house prices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52050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832" y="471586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Interpretable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56832" y="512454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Decisions you can read and explain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Does a Decision Tree Work?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674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Decision Tree is a flowchart-like structure where each internal node asks a question, each branch represents an answer, and each leaf delivers a prediction.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09105"/>
            <a:ext cx="6943551" cy="3413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59133" y="2519188"/>
            <a:ext cx="1587932" cy="19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Rainy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59133" y="2774146"/>
            <a:ext cx="3211151" cy="13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play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059133" y="3316703"/>
            <a:ext cx="1587932" cy="19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Humidity?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059133" y="3571660"/>
            <a:ext cx="3211151" cy="138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or Normal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59133" y="4114217"/>
            <a:ext cx="1587932" cy="19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Sunny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59133" y="4369175"/>
            <a:ext cx="3211151" cy="138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humidity next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66191" y="4911732"/>
            <a:ext cx="1587932" cy="19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Weather?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66191" y="5166689"/>
            <a:ext cx="3211150" cy="13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decision point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7244" y="1664295"/>
            <a:ext cx="3579227" cy="104606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50319" y="205442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8649575" y="1825030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Node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649575" y="2152749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very first question asked — the most informative feature in the dataset.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7244" y="2816622"/>
            <a:ext cx="3579227" cy="10460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0319" y="320675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649575" y="2977356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Node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649575" y="3305076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internal node that asks a follow-up question and branches further.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7244" y="3968948"/>
            <a:ext cx="3579227" cy="104606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50319" y="4359077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649575" y="4129683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Branch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49575" y="4457402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path taken based on the answer to a question (Yes / No, High / Low).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7244" y="5121275"/>
            <a:ext cx="3579227" cy="104606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50319" y="55114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8649575" y="5282009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Leaf Node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649575" y="5609729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node — delivers the prediction or class label.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21308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Decision Tree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223764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whether a student will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Fail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three features: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Hours Studied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Attendance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Previous Score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3012083"/>
            <a:ext cx="3971826" cy="19525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76877" y="3189455"/>
            <a:ext cx="908320" cy="11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176877" y="3335294"/>
            <a:ext cx="1836823" cy="7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branch outcome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7176877" y="3645644"/>
            <a:ext cx="908320" cy="11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Attendance &gt; 75%?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6877" y="3791483"/>
            <a:ext cx="1836823" cy="7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Secondary decision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7176877" y="4101833"/>
            <a:ext cx="908320" cy="11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Fail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176877" y="4247673"/>
            <a:ext cx="1836823" cy="7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branch outcome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7180914" y="4558023"/>
            <a:ext cx="908320" cy="11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Hours Studied &gt; 5?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180914" y="4703862"/>
            <a:ext cx="1836823" cy="7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decision check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9557404" y="1846461"/>
            <a:ext cx="19790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Step-by-Step Prediction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9557404" y="2187476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610534" y="2214017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9982546" y="2236192"/>
            <a:ext cx="15539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at the Root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9982546" y="2563912"/>
            <a:ext cx="155392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Ask: Did the student study more than 5 hours?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557404" y="3371850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10534" y="339839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9982546" y="3420566"/>
            <a:ext cx="15539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Follow the Branch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9982546" y="3748286"/>
            <a:ext cx="155392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predict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Fail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immediately.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557404" y="435778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610534" y="438432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2"/>
          <p:cNvSpPr/>
          <p:nvPr/>
        </p:nvSpPr>
        <p:spPr>
          <a:xfrm>
            <a:off x="9982546" y="4406503"/>
            <a:ext cx="15539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Decision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9982546" y="4734223"/>
            <a:ext cx="155392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Yes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ask: Is attendance above 75%?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9557404" y="534372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610534" y="537026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9982546" y="5392440"/>
            <a:ext cx="15539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Reach the Leaf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9982546" y="5720159"/>
            <a:ext cx="155392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→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No →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Fail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Prediction complete.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Does the Tree Choose a Question?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tree repeatedly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splits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dataset into smaller groups. The goal is to create groups that are as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possible — where one class dominates.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084" y="1076027"/>
            <a:ext cx="10263526" cy="42078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6562" y="1659247"/>
            <a:ext cx="2445416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Purer Groups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16562" y="2051882"/>
            <a:ext cx="49451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group is more homogeneous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16562" y="2876551"/>
            <a:ext cx="2445416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16562" y="3269186"/>
            <a:ext cx="49451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question divides the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16562" y="4104724"/>
            <a:ext cx="2445416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Mixed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16562" y="4497359"/>
            <a:ext cx="49451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classes jumbled together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533697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mathematical criteria guide the tree in choosing the best split at every node: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61475" y="5503466"/>
            <a:ext cx="3591430" cy="935038"/>
          </a:xfrm>
          <a:prstGeom prst="roundRect">
            <a:avLst>
              <a:gd name="adj" fmla="val 42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2279" y="5604272"/>
            <a:ext cx="283461" cy="283468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263" y="5682258"/>
            <a:ext cx="127493" cy="1274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2279" y="5934968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Gini Impurity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62279" y="6110883"/>
            <a:ext cx="33898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Measures how often a randomly chosen element would be incorrectly classified. Lower is better.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300132" y="5503466"/>
            <a:ext cx="3591430" cy="935038"/>
          </a:xfrm>
          <a:prstGeom prst="roundRect">
            <a:avLst>
              <a:gd name="adj" fmla="val 42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00936" y="5604272"/>
            <a:ext cx="283461" cy="283468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920" y="5682258"/>
            <a:ext cx="127493" cy="1274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00936" y="5934968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Entropy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400936" y="6110883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Measures disorder or uncertainty in a node. A pure node has entropy = 0.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7938790" y="5503466"/>
            <a:ext cx="3591430" cy="935038"/>
          </a:xfrm>
          <a:prstGeom prst="roundRect">
            <a:avLst>
              <a:gd name="adj" fmla="val 42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9593" y="5604272"/>
            <a:ext cx="283461" cy="283468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7577" y="5682258"/>
            <a:ext cx="127493" cy="1274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39593" y="5934968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Gain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039593" y="6110883"/>
            <a:ext cx="33898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reduction in impurity achieved by a split. The tree always picks the highest gain.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30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Gini Impurity — Mathematical Example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84114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Formula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36849"/>
            <a:ext cx="5228995" cy="366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93169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pᵢ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proportion of observations belonging to class </a:t>
            </a:r>
            <a:pPr algn="l" indent="0" marL="0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Σ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sums across all classes.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3152279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Node Contains: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3565227"/>
            <a:ext cx="5228995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Pass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students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 Fail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students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316512"/>
            <a:ext cx="5228995" cy="45997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966196"/>
            <a:ext cx="5228995" cy="29408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449987"/>
            <a:ext cx="5228995" cy="3123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7575" y="1484114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Interpreting Gini Impurity</a:t>
            </a:r>
            <a:endParaRPr lang="en-US" sz="16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7575" y="1915815"/>
            <a:ext cx="5228995" cy="129678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571093" y="2103140"/>
            <a:ext cx="477815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Gini = 0 → Perfectly Pure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6571093" y="2516088"/>
            <a:ext cx="477815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observations belong to a single class. The node is completely homogeneous — ideal outcome.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7575" y="3362523"/>
            <a:ext cx="5228995" cy="129678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571093" y="3549848"/>
            <a:ext cx="477815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Gini = 0.48 → Mixed Node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6571093" y="3962797"/>
            <a:ext cx="477815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example node is fairly mixed — 60% Pass, 40% Fail. The tree will try to split this further.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7575" y="4809232"/>
            <a:ext cx="5228995" cy="129678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571093" y="4996557"/>
            <a:ext cx="477815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Higher Gini → More Mixed</a:t>
            </a:r>
            <a:endParaRPr lang="en-US" sz="1650" dirty="0"/>
          </a:p>
        </p:txBody>
      </p:sp>
      <p:sp>
        <p:nvSpPr>
          <p:cNvPr id="20" name="Text 11"/>
          <p:cNvSpPr/>
          <p:nvPr/>
        </p:nvSpPr>
        <p:spPr>
          <a:xfrm>
            <a:off x="6571093" y="5409505"/>
            <a:ext cx="477815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closer Gini is to 0.5 (binary case), the more impure and uncertain the node is.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116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Gain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55911"/>
            <a:ext cx="1147833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tree evaluates every candidate split and selects the one that reduces impurity the most.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00498"/>
            <a:ext cx="10868745" cy="2491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55" y="2563019"/>
            <a:ext cx="6860011" cy="31396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54696" y="4833069"/>
            <a:ext cx="1287915" cy="49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Pick Best Gain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4331570" y="4833069"/>
            <a:ext cx="1287915" cy="49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Weighted Child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2717265" y="4957122"/>
            <a:ext cx="1287915" cy="24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Try Splits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067676" y="4833069"/>
            <a:ext cx="1287915" cy="49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Parent Impurity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961907" y="2100560"/>
            <a:ext cx="357456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Comparing Two Splits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61907" y="2451199"/>
            <a:ext cx="3574564" cy="2690614"/>
          </a:xfrm>
          <a:prstGeom prst="roundRect">
            <a:avLst>
              <a:gd name="adj" fmla="val 22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968257" y="2457549"/>
            <a:ext cx="3561864" cy="1338957"/>
          </a:xfrm>
          <a:custGeom>
            <a:avLst/>
            <a:gdLst/>
            <a:ahLst/>
            <a:cxnLst/>
            <a:rect l="l" t="t" r="r" b="b"/>
            <a:pathLst>
              <a:path w="3561864" h="1338957">
                <a:moveTo>
                  <a:pt x="50651" y="0"/>
                </a:moveTo>
                <a:lnTo>
                  <a:pt x="3511213" y="0"/>
                </a:lnTo>
                <a:arcTo hR="50652" wR="50651" stAng="16200000" swAng="5400000"/>
                <a:lnTo>
                  <a:pt x="3561864" y="1338957"/>
                </a:lnTo>
                <a:lnTo>
                  <a:pt x="0" y="1338957"/>
                </a:lnTo>
                <a:lnTo>
                  <a:pt x="0" y="50652"/>
                </a:lnTo>
                <a:arcTo hR="50652" wR="50651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Text 9"/>
          <p:cNvSpPr/>
          <p:nvPr/>
        </p:nvSpPr>
        <p:spPr>
          <a:xfrm>
            <a:off x="8112914" y="2602210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 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12914" y="2938959"/>
            <a:ext cx="3272549" cy="71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Gain = </a:t>
            </a:r>
            <a:pPr algn="l" indent="0" marL="0">
              <a:lnSpc>
                <a:spcPct val="118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0.20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reduction in impurity. Acceptable but not optimal.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68257" y="3796506"/>
            <a:ext cx="3561864" cy="1338957"/>
          </a:xfrm>
          <a:custGeom>
            <a:avLst/>
            <a:gdLst/>
            <a:ahLst/>
            <a:cxnLst/>
            <a:rect l="l" t="t" r="r" b="b"/>
            <a:pathLst>
              <a:path w="3561864" h="1338957">
                <a:moveTo>
                  <a:pt x="0" y="0"/>
                </a:moveTo>
                <a:lnTo>
                  <a:pt x="3561864" y="0"/>
                </a:lnTo>
                <a:lnTo>
                  <a:pt x="3561864" y="1288305"/>
                </a:lnTo>
                <a:arcTo hR="50652" wR="50651" stAng="0" swAng="5400000"/>
                <a:lnTo>
                  <a:pt x="50651" y="1338957"/>
                </a:lnTo>
                <a:arcTo hR="50652" wR="50651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2"/>
          <p:cNvSpPr/>
          <p:nvPr/>
        </p:nvSpPr>
        <p:spPr>
          <a:xfrm>
            <a:off x="7968257" y="3796506"/>
            <a:ext cx="3561864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Text 13"/>
          <p:cNvSpPr/>
          <p:nvPr/>
        </p:nvSpPr>
        <p:spPr>
          <a:xfrm>
            <a:off x="8112914" y="3941167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 B ✓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12914" y="4277916"/>
            <a:ext cx="3272549" cy="71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Gain = </a:t>
            </a:r>
            <a:pPr algn="l" indent="0" marL="0">
              <a:lnSpc>
                <a:spcPct val="118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0.35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gain — creates purer child nodes.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Split B is preferred.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961907" y="5266432"/>
            <a:ext cx="3574564" cy="884833"/>
          </a:xfrm>
          <a:prstGeom prst="roundRect">
            <a:avLst>
              <a:gd name="adj" fmla="val 6869"/>
            </a:avLst>
          </a:prstGeom>
          <a:solidFill>
            <a:srgbClr val="B6FCB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564" y="5432723"/>
            <a:ext cx="180871" cy="1446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2093" y="5402263"/>
            <a:ext cx="295972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choose the split with the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highest Information Gain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it creates the purest child nodes and leads to better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87" y="467519"/>
            <a:ext cx="4442111" cy="5922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7225"/>
            <a:ext cx="6296860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Tree for Regression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233360" y="1197173"/>
            <a:ext cx="6296860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Trees are not only used for classification. For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regression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tree predicts a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 numerical value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such as a house price — rather than a category.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945904"/>
            <a:ext cx="3982045" cy="1957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81879" y="3125181"/>
            <a:ext cx="910628" cy="11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Yes → Avg Price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181879" y="3271391"/>
            <a:ext cx="1841490" cy="7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₹90 lakh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7181879" y="3582529"/>
            <a:ext cx="910628" cy="11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Bedrooms &gt; 3?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81879" y="3728739"/>
            <a:ext cx="1841490" cy="7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Secondary decision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7181879" y="4039878"/>
            <a:ext cx="910628" cy="11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→ Avg Price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181879" y="4186088"/>
            <a:ext cx="1841490" cy="7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₹50 lakh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7185927" y="4497227"/>
            <a:ext cx="910627" cy="11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House Size &gt; 1000?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185927" y="4643437"/>
            <a:ext cx="1841490" cy="7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decision split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9538652" y="1737816"/>
            <a:ext cx="1997918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Regression Trees Predict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538652" y="2233116"/>
            <a:ext cx="1997918" cy="877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leaf node stores the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average value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training observations that fall into it. A new data point travels down the tree and receives that average as its prediction.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538652" y="3199507"/>
            <a:ext cx="19979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Splitting Criterion: MSE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652" y="3515519"/>
            <a:ext cx="1997918" cy="5181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38652" y="4146649"/>
            <a:ext cx="1997918" cy="1052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Gini or Entropy, regression trees minimize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Mean Squared Error (MSE)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each split — choosing the question that makes the resulting groups as uniform in value as possible.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538652" y="5288459"/>
            <a:ext cx="19979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 Used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538652" y="5580757"/>
            <a:ext cx="1997918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House Size (sq.ft)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Bedrooms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388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Overfitting and Tree Depth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44984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of the most important challenges with Decision Trees is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overfitting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when the tree memorizes training data instead of learning general patterns.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8563"/>
            <a:ext cx="6953771" cy="3721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984" y="2255949"/>
            <a:ext cx="1123703" cy="192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Shallow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5984" y="2503478"/>
            <a:ext cx="1123703" cy="26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Underfits, misses patterns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25984" y="4229331"/>
            <a:ext cx="1123703" cy="192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Deep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5984" y="4476860"/>
            <a:ext cx="1123703" cy="260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Overfits, learns noise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21166" y="3242640"/>
            <a:ext cx="1123703" cy="192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 Right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21166" y="3490169"/>
            <a:ext cx="1123703" cy="26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complexity, generalizes well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938492" y="1510209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Hyperparameters to Control Depth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38492" y="1813719"/>
            <a:ext cx="3598078" cy="771922"/>
          </a:xfrm>
          <a:prstGeom prst="roundRect">
            <a:avLst>
              <a:gd name="adj" fmla="val 707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87416" y="1962646"/>
            <a:ext cx="3300231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87416" y="2261295"/>
            <a:ext cx="3300231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 how many levels deep the tree can grow.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38492" y="2674938"/>
            <a:ext cx="3598078" cy="771922"/>
          </a:xfrm>
          <a:prstGeom prst="roundRect">
            <a:avLst>
              <a:gd name="adj" fmla="val 707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87416" y="2823865"/>
            <a:ext cx="3300231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87416" y="3122513"/>
            <a:ext cx="3300231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samples required to split an internal node.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38492" y="3536156"/>
            <a:ext cx="3598078" cy="771922"/>
          </a:xfrm>
          <a:prstGeom prst="roundRect">
            <a:avLst>
              <a:gd name="adj" fmla="val 707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7416" y="3685084"/>
            <a:ext cx="3300231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87416" y="3983732"/>
            <a:ext cx="3300231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samples required to be at a leaf node.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38492" y="4397375"/>
            <a:ext cx="3598078" cy="947341"/>
          </a:xfrm>
          <a:prstGeom prst="roundRect">
            <a:avLst>
              <a:gd name="adj" fmla="val 576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87416" y="4546302"/>
            <a:ext cx="3300231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87416" y="4844951"/>
            <a:ext cx="3300231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features to consider when looking for the best split.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38492" y="5445224"/>
            <a:ext cx="3598078" cy="751880"/>
          </a:xfrm>
          <a:prstGeom prst="roundRect">
            <a:avLst>
              <a:gd name="adj" fmla="val 7259"/>
            </a:avLst>
          </a:prstGeom>
          <a:solidFill>
            <a:srgbClr val="FCF2B5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366" y="5580261"/>
            <a:ext cx="162417" cy="12987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360657" y="5558036"/>
            <a:ext cx="3046039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tree with no depth limit will perfectly fit training data but perform poorly on unseen data. Always tune these hyperparameters.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813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Tree Evaluation &amp; Advantages/Disadvantages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18220"/>
            <a:ext cx="1086874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Evaluating decision trees involves understanding various metrics for both classification and regression tasks, alongside considering their inherent strengths and weaknesses.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2051348"/>
            <a:ext cx="5243481" cy="391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61475" y="2572147"/>
            <a:ext cx="5243481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metrics are used depending on whether the decision tree is performing classification (predicting categories) or regression (predicting continuous values).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3404592"/>
            <a:ext cx="2556902" cy="2051050"/>
          </a:xfrm>
          <a:prstGeom prst="roundRect">
            <a:avLst>
              <a:gd name="adj" fmla="val 32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988" y="3580110"/>
            <a:ext cx="220587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Metrics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6988" y="3954264"/>
            <a:ext cx="2205875" cy="132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Score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47954" y="3404592"/>
            <a:ext cx="2557002" cy="2051050"/>
          </a:xfrm>
          <a:prstGeom prst="roundRect">
            <a:avLst>
              <a:gd name="adj" fmla="val 32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3467" y="3580110"/>
            <a:ext cx="220597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Metrics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3467" y="3954264"/>
            <a:ext cx="2205975" cy="1280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Absolute Error (MAE)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Squared Error (MSE)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Mean Squared Error (RMSE)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R-squared (R²)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93089" y="2051348"/>
            <a:ext cx="5243481" cy="391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 &amp; Disadvantages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6293089" y="2572147"/>
            <a:ext cx="5243481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trees offer significant benefits in interpretability and versatility, but also come with challenges, particularly regarding model complexity and generalization.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3089" y="3404592"/>
            <a:ext cx="2556902" cy="27377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44801" y="3580110"/>
            <a:ext cx="21296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44801" y="3954264"/>
            <a:ext cx="2129677" cy="2012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understand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visualize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nonlinear relationships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little preprocessing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work with numerical and categorical features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9568" y="3404592"/>
            <a:ext cx="2557002" cy="27377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31280" y="3580110"/>
            <a:ext cx="212977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9231280" y="3954264"/>
            <a:ext cx="2129776" cy="196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easily overfit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Sensitive to small changes in data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trees can become difficult to interpret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trees may have weaker generalization than ensemble methods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 &amp; Real-World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Here's a comprehensive overview of the Decision Tree workflow, key concepts, and practical applications.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472468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1170" y="1170484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643062"/>
            <a:ext cx="472468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1170" y="1737519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Best Feature/Split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10098"/>
            <a:ext cx="472468" cy="567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1170" y="2304554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 Dataset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77133"/>
            <a:ext cx="472468" cy="567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1170" y="2871589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 Splitting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344168"/>
            <a:ext cx="472468" cy="5670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1170" y="3438624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Reach Leaf Node</a:t>
            </a:r>
            <a:endParaRPr lang="en-US" sz="9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11203"/>
            <a:ext cx="472468" cy="5670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81170" y="4005659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Make Prediction</a:t>
            </a:r>
            <a:endParaRPr lang="en-US" sz="900" dirty="0"/>
          </a:p>
        </p:txBody>
      </p:sp>
      <p:sp>
        <p:nvSpPr>
          <p:cNvPr id="16" name="Shape 8"/>
          <p:cNvSpPr/>
          <p:nvPr/>
        </p:nvSpPr>
        <p:spPr>
          <a:xfrm>
            <a:off x="661475" y="4554934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7" name="Text 9"/>
          <p:cNvSpPr/>
          <p:nvPr/>
        </p:nvSpPr>
        <p:spPr>
          <a:xfrm>
            <a:off x="661475" y="4691559"/>
            <a:ext cx="531908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Concepts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661475" y="4975027"/>
            <a:ext cx="5319083" cy="115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Node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Node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Branch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Leaf Node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Gini Impurity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Entropy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Gain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 Depth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Overfitting</a:t>
            </a:r>
            <a:endParaRPr lang="en-US" sz="700" dirty="0"/>
          </a:p>
        </p:txBody>
      </p:sp>
      <p:sp>
        <p:nvSpPr>
          <p:cNvPr id="19" name="Text 11"/>
          <p:cNvSpPr/>
          <p:nvPr/>
        </p:nvSpPr>
        <p:spPr>
          <a:xfrm>
            <a:off x="6217487" y="4691559"/>
            <a:ext cx="531908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Applications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6217487" y="4975027"/>
            <a:ext cx="5319083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Loan approval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detection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diagnosis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churn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Spam detection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performance prediction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House price prediction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risk assessment</a:t>
            </a:r>
            <a:endParaRPr lang="en-US" sz="700" dirty="0"/>
          </a:p>
        </p:txBody>
      </p:sp>
      <p:sp>
        <p:nvSpPr>
          <p:cNvPr id="21" name="Text 13"/>
          <p:cNvSpPr/>
          <p:nvPr/>
        </p:nvSpPr>
        <p:spPr>
          <a:xfrm>
            <a:off x="356682" y="6197005"/>
            <a:ext cx="11478330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 Features → Questions → Branches → Leaf →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2026-09-16T05:30:47Z</dcterms:created>
  <dcterms:modified xsi:type="dcterms:W3CDTF">2026-09-16T05:30:47Z</dcterms:modified>
</cp:coreProperties>
</file>