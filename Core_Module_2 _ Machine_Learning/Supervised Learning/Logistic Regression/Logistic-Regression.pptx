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3.png"/><Relationship Id="rId6" Type="http://schemas.openxmlformats.org/officeDocument/2006/relationships/image" Target="../media/image-4-4.svg"/><Relationship Id="rId7" Type="http://schemas.openxmlformats.org/officeDocument/2006/relationships/image" Target="../media/image-4-3.png"/><Relationship Id="rId8" Type="http://schemas.openxmlformats.org/officeDocument/2006/relationships/image" Target="../media/image-4-4.svg"/><Relationship Id="rId9" Type="http://schemas.openxmlformats.org/officeDocument/2006/relationships/image" Target="../media/image-4-3.png"/><Relationship Id="rId10" Type="http://schemas.openxmlformats.org/officeDocument/2006/relationships/image" Target="../media/image-4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3.png"/><Relationship Id="rId6" Type="http://schemas.openxmlformats.org/officeDocument/2006/relationships/image" Target="../media/image-8-4.sv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3.png"/><Relationship Id="rId6" Type="http://schemas.openxmlformats.org/officeDocument/2006/relationships/image" Target="../media/image-10-4.svg"/><Relationship Id="rId7" Type="http://schemas.openxmlformats.org/officeDocument/2006/relationships/image" Target="../media/image-10-3.png"/><Relationship Id="rId8" Type="http://schemas.openxmlformats.org/officeDocument/2006/relationships/image" Target="../media/image-10-4.svg"/><Relationship Id="rId9" Type="http://schemas.openxmlformats.org/officeDocument/2006/relationships/image" Target="../media/image-10-3.png"/><Relationship Id="rId10" Type="http://schemas.openxmlformats.org/officeDocument/2006/relationships/image" Target="../media/image-10-4.svg"/><Relationship Id="rId11" Type="http://schemas.openxmlformats.org/officeDocument/2006/relationships/image" Target="../media/image-10-3.png"/><Relationship Id="rId12" Type="http://schemas.openxmlformats.org/officeDocument/2006/relationships/image" Target="../media/image-10-4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9934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Logistic Regression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280120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foundational Machine Learning algorithm for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classification problems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predicting which </a:t>
            </a:r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 input belongs to, not a continuous number.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1901726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7265" y="2067520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Spam / Not Spam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7265" y="2397323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classification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2932807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265" y="309860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Fraud / Not Fraud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27265" y="3428405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security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3963888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265" y="4129683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Disease / No Disease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7265" y="4459486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diagnosis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1475" y="4994970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265" y="5160764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 / Fail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7265" y="5490567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prediction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56682" y="6042819"/>
            <a:ext cx="690644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 Features → Model → Probability → Class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6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vs Classification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160687"/>
            <a:ext cx="5476043" cy="3410744"/>
          </a:xfrm>
          <a:prstGeom prst="roundRect">
            <a:avLst>
              <a:gd name="adj" fmla="val 399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34969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 Regression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833985"/>
            <a:ext cx="5098029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a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continuous numerical value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Years of Experience →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Salary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₹65,000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4357" y="4341217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14357" y="4626471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is unbounded — can be any number on the number line.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3496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Logistic Regression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2833985"/>
            <a:ext cx="5203794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the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probability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belonging to a class.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Hours Studied →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Probability of Passing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0.87 → 87% probability of passing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32776" y="4341217"/>
            <a:ext cx="5203794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32776" y="4626471"/>
            <a:ext cx="5203794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is always between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 and 1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Probability → Classification Threshold →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162" y="473472"/>
            <a:ext cx="4433181" cy="5911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6545"/>
            <a:ext cx="6296860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Can't We Directly Use Linear Regression?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61475" y="1728688"/>
            <a:ext cx="2979167" cy="669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Suppose we want to predict: 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 = Fail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= Pass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Regression can produce predictions such as: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1475" y="2512715"/>
            <a:ext cx="2979167" cy="827088"/>
          </a:xfrm>
          <a:prstGeom prst="roundRect">
            <a:avLst>
              <a:gd name="adj" fmla="val 704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9328" y="2670572"/>
            <a:ext cx="266346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−0.4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9328" y="2989362"/>
            <a:ext cx="266346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Below 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1475" y="3441700"/>
            <a:ext cx="2979167" cy="827088"/>
          </a:xfrm>
          <a:prstGeom prst="roundRect">
            <a:avLst>
              <a:gd name="adj" fmla="val 704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9328" y="3599557"/>
            <a:ext cx="266346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0.3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9328" y="3918347"/>
            <a:ext cx="266346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61475" y="4370685"/>
            <a:ext cx="2979167" cy="827088"/>
          </a:xfrm>
          <a:prstGeom prst="roundRect">
            <a:avLst>
              <a:gd name="adj" fmla="val 704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9328" y="4528542"/>
            <a:ext cx="266346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0.8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19328" y="4847332"/>
            <a:ext cx="266346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1475" y="5299670"/>
            <a:ext cx="2979167" cy="827088"/>
          </a:xfrm>
          <a:prstGeom prst="roundRect">
            <a:avLst>
              <a:gd name="adj" fmla="val 704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9328" y="5457527"/>
            <a:ext cx="266346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19328" y="5776317"/>
            <a:ext cx="266346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Above 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985517" y="1751608"/>
            <a:ext cx="2979167" cy="830362"/>
          </a:xfrm>
          <a:prstGeom prst="roundRect">
            <a:avLst>
              <a:gd name="adj" fmla="val 7021"/>
            </a:avLst>
          </a:prstGeom>
          <a:solidFill>
            <a:srgbClr val="FFB3B4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1" y="1906290"/>
            <a:ext cx="173430" cy="13880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436555" y="1877913"/>
            <a:ext cx="2389326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Probabilities must always be between </a:t>
            </a:r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 and 1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Linear Regression does not guarantee this.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985517" y="2696567"/>
            <a:ext cx="2979167" cy="1054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need a function that 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squashes any real number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the range [0, 1].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solution: </a:t>
            </a:r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The Sigmoid Function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which maps every value of z to a probability between 0 and 1.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544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Sigmoid Function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26468"/>
            <a:ext cx="10868745" cy="50432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67670"/>
            <a:ext cx="3523070" cy="35231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23081" y="2307134"/>
            <a:ext cx="691339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Every Component Explained</a:t>
            </a:r>
            <a:endParaRPr lang="en-US" sz="17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081" y="2770882"/>
            <a:ext cx="3373651" cy="13847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895529" y="2967137"/>
            <a:ext cx="29049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σ(z)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4895529" y="3410148"/>
            <a:ext cx="290495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Sigmoid output — the predicted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probability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2820" y="2770882"/>
            <a:ext cx="3373651" cy="13847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435268" y="2967137"/>
            <a:ext cx="29049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8435268" y="3410148"/>
            <a:ext cx="290495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combination of input features: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b₀ + b₁x₁ + … + bₙxₙ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081" y="4321770"/>
            <a:ext cx="3373651" cy="13847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95529" y="4518025"/>
            <a:ext cx="29049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4895529" y="4961037"/>
            <a:ext cx="2904953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Euler's number ≈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2.71828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62820" y="4321770"/>
            <a:ext cx="3373651" cy="138479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435268" y="4518025"/>
            <a:ext cx="290495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−z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8435268" y="4961037"/>
            <a:ext cx="290495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value of z — drives the S-shape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4623081" y="5893395"/>
            <a:ext cx="752297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z → +∞, σ(z) →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As z → −∞, σ(z) →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At z = 0, σ(z) =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0.5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46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 Mathematical Example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1621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whether a student will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based on study hours.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37048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 — Define the Linear Equation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78670"/>
            <a:ext cx="3541822" cy="289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850952"/>
            <a:ext cx="3541822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Hours Studied, coefficient =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intercept =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−5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3491706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2 — Plug in x = 3 hours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933329"/>
            <a:ext cx="3541822" cy="2891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4405610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3 — Apply the Sigmoid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847233"/>
            <a:ext cx="3541822" cy="4706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5501084"/>
            <a:ext cx="354182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4 — Apply Threshold (0.5)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61475" y="5904210"/>
            <a:ext cx="415140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0.731 &gt; 0.5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Prediction =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441" y="2282428"/>
            <a:ext cx="6842549" cy="31316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892786" y="4670403"/>
            <a:ext cx="1284618" cy="247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Class: PASS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273814" y="4546667"/>
            <a:ext cx="1284618" cy="494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Sigmoid: σ(z)=0.731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663642" y="4670403"/>
            <a:ext cx="1284618" cy="247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Linear: z=1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5018275" y="4670403"/>
            <a:ext cx="1284619" cy="247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Input: x=3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4613060" y="5576788"/>
            <a:ext cx="753299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probability of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73.1%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exceeds the 0.5 threshold, so the model confidently predicts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PASS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924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Threshold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664990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outputs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probability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threshold converts it into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label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56036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Threshold: 0.5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1475" y="2698254"/>
            <a:ext cx="5225423" cy="1039217"/>
          </a:xfrm>
          <a:prstGeom prst="roundRect">
            <a:avLst>
              <a:gd name="adj" fmla="val 692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2704604"/>
            <a:ext cx="2606312" cy="1026517"/>
          </a:xfrm>
          <a:custGeom>
            <a:avLst/>
            <a:gdLst/>
            <a:ahLst/>
            <a:cxnLst/>
            <a:rect l="l" t="t" r="r" b="b"/>
            <a:pathLst>
              <a:path w="2606312" h="1026517">
                <a:moveTo>
                  <a:pt x="59954" y="0"/>
                </a:moveTo>
                <a:lnTo>
                  <a:pt x="2606312" y="0"/>
                </a:lnTo>
                <a:lnTo>
                  <a:pt x="2606312" y="1026517"/>
                </a:lnTo>
                <a:lnTo>
                  <a:pt x="59954" y="1026517"/>
                </a:lnTo>
                <a:arcTo hR="59956" wR="59954" stAng="5400000" swAng="5400000"/>
                <a:lnTo>
                  <a:pt x="0" y="59956"/>
                </a:lnTo>
                <a:arcTo hR="59956" wR="59954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5"/>
          <p:cNvSpPr/>
          <p:nvPr/>
        </p:nvSpPr>
        <p:spPr>
          <a:xfrm>
            <a:off x="839072" y="2875855"/>
            <a:ext cx="226381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Probability ≥ 0.5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9072" y="3298627"/>
            <a:ext cx="226381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Predict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1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(Positive)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4137" y="2704604"/>
            <a:ext cx="2606411" cy="1026517"/>
          </a:xfrm>
          <a:custGeom>
            <a:avLst/>
            <a:gdLst/>
            <a:ahLst/>
            <a:cxnLst/>
            <a:rect l="l" t="t" r="r" b="b"/>
            <a:pathLst>
              <a:path w="2606411" h="1026517">
                <a:moveTo>
                  <a:pt x="0" y="0"/>
                </a:moveTo>
                <a:lnTo>
                  <a:pt x="2546457" y="0"/>
                </a:lnTo>
                <a:arcTo hR="59956" wR="59954" stAng="16200000" swAng="5400000"/>
                <a:lnTo>
                  <a:pt x="2606411" y="966561"/>
                </a:lnTo>
                <a:arcTo hR="59956" wR="59954" stAng="0" swAng="5400000"/>
                <a:lnTo>
                  <a:pt x="0" y="102651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8"/>
          <p:cNvSpPr/>
          <p:nvPr/>
        </p:nvSpPr>
        <p:spPr>
          <a:xfrm>
            <a:off x="3274137" y="2704604"/>
            <a:ext cx="19050" cy="102651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9"/>
          <p:cNvSpPr/>
          <p:nvPr/>
        </p:nvSpPr>
        <p:spPr>
          <a:xfrm>
            <a:off x="3445384" y="2875855"/>
            <a:ext cx="226391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Probability &lt; 0.5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445384" y="3298627"/>
            <a:ext cx="226391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Predict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 0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(Negative)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912096"/>
            <a:ext cx="5225423" cy="887413"/>
          </a:xfrm>
          <a:prstGeom prst="roundRect">
            <a:avLst>
              <a:gd name="adj" fmla="val 8107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722" y="4144268"/>
            <a:ext cx="214109" cy="17125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18078" y="4094559"/>
            <a:ext cx="449757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threshold can be adjusted depending on the problem. A medical test may use 0.3 to catch more true positives.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1147" y="2275483"/>
          <a:ext cx="9143771" cy="914400"/>
        </p:xfrm>
        <a:graphic>
          <a:graphicData uri="http://schemas.openxmlformats.org/drawingml/2006/table">
            <a:tbl>
              <a:tblPr/>
              <a:tblGrid>
                <a:gridCol w="1741808"/>
                <a:gridCol w="1741808"/>
                <a:gridCol w="1741808"/>
              </a:tblGrid>
              <a:tr h="463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Probability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Threshold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Prediction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27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0.92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Class 1 — PASS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27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0.73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Class 1 — PASS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27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Class 1 — PASS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66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0.49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Class 0 — FAIL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63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0.21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0.5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Class 0 — FAIL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76" y="469503"/>
            <a:ext cx="4439134" cy="59189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8998"/>
            <a:ext cx="6296860" cy="830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Logistic Regression with Multiple Features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529755"/>
            <a:ext cx="6296860" cy="2296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3360" y="1877715"/>
            <a:ext cx="6906444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Predict whether a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will churn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163862"/>
            <a:ext cx="332176" cy="3321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2612827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Monthly Charges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233360" y="2876451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 charges → higher churn risk.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Positive coefficient.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244354"/>
            <a:ext cx="332176" cy="3321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3693319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Tenure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5233360" y="3956943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Longer tenure → lower churn risk.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 coefficient.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4324846"/>
            <a:ext cx="332176" cy="3321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33360" y="4773811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Calls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233360" y="5037435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calls → higher churn risk.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Positive coefficient.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3360" y="5405338"/>
            <a:ext cx="332176" cy="33218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33360" y="5854303"/>
            <a:ext cx="6296860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Type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5233360" y="6117927"/>
            <a:ext cx="629686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contract → lower churn risk.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Negative coefficient.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Logistic Regression Learns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3384"/>
            <a:ext cx="6920831" cy="2984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7171" y="4731911"/>
            <a:ext cx="1570105" cy="19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Probability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7171" y="4041048"/>
            <a:ext cx="1570105" cy="19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Apply Sigmoid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7171" y="3357163"/>
            <a:ext cx="1570105" cy="19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Calculate z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27171" y="2666299"/>
            <a:ext cx="1570105" cy="19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99411" y="1420614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 Loss / Binary Cross-Entropy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411" y="1873349"/>
            <a:ext cx="3537060" cy="588169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9411" y="2651224"/>
            <a:ext cx="3537060" cy="10421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2929" y="2838549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262929" y="3251498"/>
            <a:ext cx="30862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 class label (0 or 1)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9411" y="3843338"/>
            <a:ext cx="3537060" cy="10421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2929" y="4030663"/>
            <a:ext cx="30862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8262929" y="4443611"/>
            <a:ext cx="3086221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Predicted probability from sigmoid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999411" y="5054203"/>
            <a:ext cx="3537060" cy="1117798"/>
          </a:xfrm>
          <a:prstGeom prst="roundRect">
            <a:avLst>
              <a:gd name="adj" fmla="val 6325"/>
            </a:avLst>
          </a:prstGeom>
          <a:solidFill>
            <a:srgbClr val="FCF2B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682" y="5283101"/>
            <a:ext cx="210338" cy="1682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546291" y="5231209"/>
            <a:ext cx="28219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Confidently incorrect predictions receive a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very large penalty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model learns by minimizing this loss.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95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Evaluation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00188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Confusion Matrix</a:t>
            </a:r>
            <a:endParaRPr lang="en-US" sz="16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42405"/>
          <a:ext cx="9143771" cy="914400"/>
        </p:xfrm>
        <a:graphic>
          <a:graphicData uri="http://schemas.openxmlformats.org/drawingml/2006/table">
            <a:tbl>
              <a:tblPr/>
              <a:tblGrid>
                <a:gridCol w="1741808"/>
                <a:gridCol w="1741808"/>
                <a:gridCol w="1741808"/>
              </a:tblGrid>
              <a:tr h="46324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Predicted: 1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Predicted: 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</a:tr>
              <a:tr h="7276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Actual: 1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True Positive (TP)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False Negative (FN)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724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Actual: 0</a:t>
                      </a:r>
                      <a:endParaRPr lang="en-US" sz="13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False Positive (FP)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 True Negative (TN)</a:t>
                      </a:r>
                      <a:endParaRPr lang="en-US" sz="13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045148"/>
            <a:ext cx="522542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Disease Detection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False Negatives are especially costly. Accuracy alone may not be sufficient.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11147" y="1500188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Evaluation Metrics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311147" y="1942405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1677" y="2001242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851677" y="2424013"/>
            <a:ext cx="468489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(TP + TN) / Total — overall correctness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11147" y="2995712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1677" y="3054548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Precision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851677" y="3477320"/>
            <a:ext cx="468489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TP / (TP + FP) — of predicted positives, how many are correct?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11147" y="4310261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1677" y="4369098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Recall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851677" y="4791869"/>
            <a:ext cx="468489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TP / (TP + FN) — of actual positives, how many did we catch?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311147" y="5363567"/>
            <a:ext cx="385356" cy="38536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1677" y="5422404"/>
            <a:ext cx="46848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 Score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6851677" y="5845175"/>
            <a:ext cx="4684893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Harmonic mean of Precision and Recall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401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Summary &amp; Real-World Applications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739205"/>
            <a:ext cx="69259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Pipeline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49971"/>
            <a:ext cx="6925990" cy="2598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7544" y="4117991"/>
            <a:ext cx="1044615" cy="20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41044" y="4117991"/>
            <a:ext cx="1044615" cy="20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Probability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31698" y="4117991"/>
            <a:ext cx="1044615" cy="20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Sigmoid σ(z)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322352" y="4117991"/>
            <a:ext cx="1044615" cy="20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Linear z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84387" y="4117991"/>
            <a:ext cx="1044615" cy="20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1475" y="4905871"/>
            <a:ext cx="69259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Formula</a:t>
            </a:r>
            <a:endParaRPr lang="en-US" sz="1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5336282"/>
            <a:ext cx="6925990" cy="4622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90084" y="1427857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Applications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1003" y="1843732"/>
            <a:ext cx="243576" cy="2435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17915" y="1838623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Spam Detection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517915" y="2231926"/>
            <a:ext cx="3018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→ Spam / Not Spam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1003" y="2757736"/>
            <a:ext cx="243576" cy="2435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17915" y="2752626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Fraud Detection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8517915" y="3145929"/>
            <a:ext cx="3018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→ Fraud / Legitimate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51003" y="3671739"/>
            <a:ext cx="243576" cy="24358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517915" y="3666629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 Diagnosis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8517915" y="4059932"/>
            <a:ext cx="3018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Symptoms → Disease / No Disease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51003" y="4585742"/>
            <a:ext cx="243576" cy="24358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517915" y="4580632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Churn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8517915" y="4973935"/>
            <a:ext cx="3018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Behaviour → Churn / No Churn</a:t>
            </a:r>
            <a:endParaRPr lang="en-US" sz="12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51003" y="5499745"/>
            <a:ext cx="243576" cy="24358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517915" y="5494635"/>
            <a:ext cx="301865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Loan Default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8517915" y="5887938"/>
            <a:ext cx="3018655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 → Default / No Default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3773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374378"/>
            <a:ext cx="5374347" cy="1409502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435" y="1531342"/>
            <a:ext cx="451831" cy="45184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654" y="1655564"/>
            <a:ext cx="203294" cy="203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8435" y="2103140"/>
            <a:ext cx="50604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First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8435" y="2410420"/>
            <a:ext cx="50604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 is primarily a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classification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algorithm despite its name.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55774" y="1374378"/>
            <a:ext cx="5374446" cy="1409502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12734" y="1531342"/>
            <a:ext cx="451831" cy="45184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6953" y="1655564"/>
            <a:ext cx="203294" cy="2032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12734" y="2103140"/>
            <a:ext cx="50605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Outputs Probabilities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12734" y="2410420"/>
            <a:ext cx="50605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always outputs a value between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 and 1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probability.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1475" y="2903835"/>
            <a:ext cx="5374347" cy="1409502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8435" y="3060799"/>
            <a:ext cx="451831" cy="45184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654" y="3185021"/>
            <a:ext cx="203294" cy="203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435" y="3632597"/>
            <a:ext cx="50604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Sigmoid is Key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18435" y="3939877"/>
            <a:ext cx="50604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Sigmoid function squashes any real number into the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[0, 1]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range.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55774" y="2903835"/>
            <a:ext cx="5374446" cy="1409502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12734" y="3060799"/>
            <a:ext cx="451831" cy="45184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6953" y="3185021"/>
            <a:ext cx="203294" cy="2032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2734" y="3632597"/>
            <a:ext cx="50605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Threshold Decides Class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12734" y="3939877"/>
            <a:ext cx="50605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threshold (default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0.5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converts probability into a final class label.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4433292"/>
            <a:ext cx="5374347" cy="1409502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18435" y="4590256"/>
            <a:ext cx="451831" cy="45184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654" y="4714478"/>
            <a:ext cx="203294" cy="20329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8435" y="5162054"/>
            <a:ext cx="50604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Features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18435" y="5469334"/>
            <a:ext cx="5060427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models use many features, each with its own learned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coefficient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155774" y="4433292"/>
            <a:ext cx="5374446" cy="1409502"/>
          </a:xfrm>
          <a:prstGeom prst="roundRect">
            <a:avLst>
              <a:gd name="adj" fmla="val 44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12734" y="4590256"/>
            <a:ext cx="451831" cy="451842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6953" y="4714478"/>
            <a:ext cx="203294" cy="20329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312734" y="5162054"/>
            <a:ext cx="5060526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Carefully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6312734" y="5469334"/>
            <a:ext cx="506052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Precision, Recall, F1, and a Confusion Matrix — not just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Accuracy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56682" y="5977731"/>
            <a:ext cx="11478330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Features → Logistic Regression → Probability → Threshold → Class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2026-09-16T05:27:10Z</dcterms:created>
  <dcterms:modified xsi:type="dcterms:W3CDTF">2026-09-16T05:27:10Z</dcterms:modified>
</cp:coreProperties>
</file>