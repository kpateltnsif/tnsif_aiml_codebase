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3.png"/><Relationship Id="rId6" Type="http://schemas.openxmlformats.org/officeDocument/2006/relationships/image" Target="../media/image-2-4.svg"/><Relationship Id="rId7" Type="http://schemas.openxmlformats.org/officeDocument/2006/relationships/image" Target="../media/image-2-3.png"/><Relationship Id="rId8" Type="http://schemas.openxmlformats.org/officeDocument/2006/relationships/image" Target="../media/image-2-4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3.png"/><Relationship Id="rId8" Type="http://schemas.openxmlformats.org/officeDocument/2006/relationships/image" Target="../media/image-7-4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3.png"/><Relationship Id="rId16" Type="http://schemas.openxmlformats.org/officeDocument/2006/relationships/image" Target="../media/image-7-4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3.png"/><Relationship Id="rId6" Type="http://schemas.openxmlformats.org/officeDocument/2006/relationships/image" Target="../media/image-8-4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8999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 Vector Machine (SVM)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35475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powerful supervised learning algorithm used primarily for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classification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and also for regression (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SVR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The core idea: find the best boundary that separates different classes with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maximum possible margin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474641"/>
            <a:ext cx="6296860" cy="2493367"/>
          </a:xfrm>
          <a:prstGeom prst="roundRect">
            <a:avLst>
              <a:gd name="adj" fmla="val 318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3480991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66156" y="0"/>
                </a:moveTo>
                <a:lnTo>
                  <a:pt x="3142080" y="0"/>
                </a:lnTo>
                <a:lnTo>
                  <a:pt x="3142080" y="1391543"/>
                </a:lnTo>
                <a:lnTo>
                  <a:pt x="0" y="1391543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8" name="Text 5"/>
          <p:cNvSpPr/>
          <p:nvPr/>
        </p:nvSpPr>
        <p:spPr>
          <a:xfrm>
            <a:off x="856832" y="3670002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Classification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4078684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 classes with an optimal decision boundary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809905" y="3480991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0" y="0"/>
                </a:moveTo>
                <a:lnTo>
                  <a:pt x="3075924" y="0"/>
                </a:lnTo>
                <a:arcTo hR="66158" wR="66156" stAng="16200000" swAng="5400000"/>
                <a:lnTo>
                  <a:pt x="3142080" y="1391543"/>
                </a:lnTo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3480991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2" name="Text 9"/>
          <p:cNvSpPr/>
          <p:nvPr/>
        </p:nvSpPr>
        <p:spPr>
          <a:xfrm>
            <a:off x="3998912" y="3670002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Regression (SVR)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3998912" y="4078684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continuous values within a margin of tolerance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67825" y="4872534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hR="66158" wR="66156" stAng="0" swAng="5400000"/>
                <a:lnTo>
                  <a:pt x="66156" y="1089124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487253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6" name="Text 13"/>
          <p:cNvSpPr/>
          <p:nvPr/>
        </p:nvSpPr>
        <p:spPr>
          <a:xfrm>
            <a:off x="856832" y="506154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Maximum Margin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856832" y="547022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SVM finds the boundary with the widest gap between classes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066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Understanding the Decision Boundary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54336"/>
            <a:ext cx="3555812" cy="3555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5421" y="2431355"/>
            <a:ext cx="6931050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Given a 2D dataset with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Class 0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Class 1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many lines can separate the classes — but which one is best?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605421" y="3034903"/>
            <a:ext cx="6931050" cy="769144"/>
          </a:xfrm>
          <a:prstGeom prst="roundRect">
            <a:avLst>
              <a:gd name="adj" fmla="val 8548"/>
            </a:avLst>
          </a:prstGeom>
          <a:solidFill>
            <a:srgbClr val="E1E1E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885" y="3231753"/>
            <a:ext cx="195654" cy="156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14003" y="3190577"/>
            <a:ext cx="6266003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SVM always prefers the boundary with the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maximum margin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it generalizes better to unseen data.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201741"/>
            <a:ext cx="3536465" cy="11310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3187" y="5377259"/>
            <a:ext cx="310923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Boundary A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913187" y="5699522"/>
            <a:ext cx="3109239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Separates classes but has a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small margin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risky for new data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27516" y="5201741"/>
            <a:ext cx="3536564" cy="113109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9228" y="5377259"/>
            <a:ext cx="310933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Boundary B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4579228" y="5699522"/>
            <a:ext cx="3109339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Separates classes with a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larger margin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more robust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93656" y="5201741"/>
            <a:ext cx="3536465" cy="113109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45368" y="5377259"/>
            <a:ext cx="310923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Boundary C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8245368" y="5699522"/>
            <a:ext cx="310923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Another valid separator, but not optimal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2" y="485279"/>
            <a:ext cx="4415422" cy="5887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46398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 Vectors and Margin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5233360" y="1359495"/>
            <a:ext cx="2957538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 Vectors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233360" y="1733649"/>
            <a:ext cx="2957538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data points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closest to the decision boundary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These are the critical points that determine the position of the optimal boundary. Moving a support vector changes the boundary; moving any other point usually does not.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233360" y="3236615"/>
            <a:ext cx="2957538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Margin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33360" y="3610769"/>
            <a:ext cx="2957538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distance between the decision boundary and the nearest data points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each class. SVM maximizes this distance.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579032" y="1375668"/>
            <a:ext cx="2957538" cy="928687"/>
          </a:xfrm>
          <a:prstGeom prst="roundRect">
            <a:avLst>
              <a:gd name="adj" fmla="val 70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41846" y="1538486"/>
            <a:ext cx="263191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Decision Boundary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741846" y="1912640"/>
            <a:ext cx="263191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central separating hyperplane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579032" y="2433935"/>
            <a:ext cx="2957538" cy="1157585"/>
          </a:xfrm>
          <a:prstGeom prst="roundRect">
            <a:avLst>
              <a:gd name="adj" fmla="val 56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41846" y="2596753"/>
            <a:ext cx="263191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Upper Margin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741846" y="2970907"/>
            <a:ext cx="2631910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Boundary touching Class 1 support vectors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579032" y="3721100"/>
            <a:ext cx="2957538" cy="1157585"/>
          </a:xfrm>
          <a:prstGeom prst="roundRect">
            <a:avLst>
              <a:gd name="adj" fmla="val 56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41846" y="3883918"/>
            <a:ext cx="263191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Lower Margin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741846" y="4258072"/>
            <a:ext cx="2631910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Boundary touching Class 0 support vectors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579032" y="5008265"/>
            <a:ext cx="2957538" cy="1157585"/>
          </a:xfrm>
          <a:prstGeom prst="roundRect">
            <a:avLst>
              <a:gd name="adj" fmla="val 56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41846" y="5171083"/>
            <a:ext cx="263191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 Vectors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741846" y="5545237"/>
            <a:ext cx="2631910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Highlighted critical data points on each margin line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22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Maximum Margin Intuition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9091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larger margin generally provides better separation and improves generalization to unseen data.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618581"/>
            <a:ext cx="2507394" cy="2379960"/>
          </a:xfrm>
          <a:prstGeom prst="roundRect">
            <a:avLst>
              <a:gd name="adj" fmla="val 333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2813943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A — Small Margin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593505"/>
            <a:ext cx="211668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Boundary sits close to data points. Sensitive to noise and new observations.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357875" y="2618581"/>
            <a:ext cx="2507394" cy="2379960"/>
          </a:xfrm>
          <a:prstGeom prst="roundRect">
            <a:avLst>
              <a:gd name="adj" fmla="val 333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3232" y="2813943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B — Large Margin ✓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3553232" y="3593505"/>
            <a:ext cx="211668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Boundary is far from both classes. More robust and generalizes better.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259496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Three Hyperplanes</a:t>
            </a:r>
            <a:endParaRPr lang="en-US" sz="18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3129459"/>
            <a:ext cx="5203794" cy="32772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776" y="3696395"/>
            <a:ext cx="5203794" cy="32772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4263330"/>
            <a:ext cx="5203794" cy="3277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32776" y="4830266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weight vector (orientation of the boundary)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x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feature vector (input data point)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bias / intercept (shifts the boundary)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531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SVM Mathematical Example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453455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Suppose the decision boundary is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x₁ + x₂ − 5 = 0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where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 = [1, 1]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 = −5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41066"/>
            <a:ext cx="3523070" cy="35231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23081" y="2081014"/>
            <a:ext cx="691339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Point P = (2, 4)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081" y="2568178"/>
            <a:ext cx="6913390" cy="3021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23081" y="3080544"/>
            <a:ext cx="752297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 is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positive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Prediction: Class +1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4623081" y="3586262"/>
            <a:ext cx="6913390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4623081" y="3836392"/>
            <a:ext cx="691339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Point P = (1, 2)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081" y="4323556"/>
            <a:ext cx="6913390" cy="302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23081" y="4835922"/>
            <a:ext cx="752297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 is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negative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Prediction: Class −1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4623081" y="5341640"/>
            <a:ext cx="6913390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4623081" y="5591770"/>
            <a:ext cx="691339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sign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determines which side of the boundary a point falls on — and therefore its predicted class.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035" y="5629870"/>
            <a:ext cx="638159" cy="2217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972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 Margin vs Soft Margin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61475" y="1484709"/>
            <a:ext cx="10868745" cy="2158702"/>
          </a:xfrm>
          <a:prstGeom prst="roundRect">
            <a:avLst>
              <a:gd name="adj" fmla="val 362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1491059"/>
            <a:ext cx="5428023" cy="2146002"/>
          </a:xfrm>
          <a:custGeom>
            <a:avLst/>
            <a:gdLst/>
            <a:ahLst/>
            <a:cxnLst/>
            <a:rect l="l" t="t" r="r" b="b"/>
            <a:pathLst>
              <a:path w="5428023" h="2146002">
                <a:moveTo>
                  <a:pt x="65123" y="0"/>
                </a:moveTo>
                <a:lnTo>
                  <a:pt x="5428023" y="0"/>
                </a:lnTo>
                <a:lnTo>
                  <a:pt x="5428023" y="2146002"/>
                </a:lnTo>
                <a:lnTo>
                  <a:pt x="65123" y="2146002"/>
                </a:lnTo>
                <a:arcTo hR="65124" wR="65123" stAng="5400000" swAng="5400000"/>
                <a:lnTo>
                  <a:pt x="0" y="65124"/>
                </a:lnTo>
                <a:arcTo hR="65124" wR="65123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5" name="Text 3"/>
          <p:cNvSpPr/>
          <p:nvPr/>
        </p:nvSpPr>
        <p:spPr>
          <a:xfrm>
            <a:off x="853855" y="1677095"/>
            <a:ext cx="505596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 Margin SVM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3855" y="2077641"/>
            <a:ext cx="5055962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perfect separation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misclassification allowed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only when classes are clearly separable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Very sensitive to outliers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1491059"/>
            <a:ext cx="5428023" cy="2146002"/>
          </a:xfrm>
          <a:custGeom>
            <a:avLst/>
            <a:gdLst/>
            <a:ahLst/>
            <a:cxnLst/>
            <a:rect l="l" t="t" r="r" b="b"/>
            <a:pathLst>
              <a:path w="5428023" h="2146002">
                <a:moveTo>
                  <a:pt x="0" y="0"/>
                </a:moveTo>
                <a:lnTo>
                  <a:pt x="5362900" y="0"/>
                </a:lnTo>
                <a:arcTo hR="65124" wR="65123" stAng="16200000" swAng="5400000"/>
                <a:lnTo>
                  <a:pt x="5428023" y="2080878"/>
                </a:lnTo>
                <a:arcTo hR="65124" wR="65123" stAng="0" swAng="5400000"/>
                <a:lnTo>
                  <a:pt x="0" y="2146002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1491059"/>
            <a:ext cx="25399" cy="2146002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9" name="Text 7"/>
          <p:cNvSpPr/>
          <p:nvPr/>
        </p:nvSpPr>
        <p:spPr>
          <a:xfrm>
            <a:off x="6281878" y="1677095"/>
            <a:ext cx="505596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Soft Margin SVM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81878" y="2077641"/>
            <a:ext cx="5055962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Allows 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some classification errors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More practical for real-world datasets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Controlled by the parameter 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Balances margin width vs. misclassification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3918148"/>
            <a:ext cx="1086874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 Parameter — Intuition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1475" y="4483596"/>
            <a:ext cx="5342796" cy="1837432"/>
          </a:xfrm>
          <a:prstGeom prst="roundRect">
            <a:avLst>
              <a:gd name="adj" fmla="val 4253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2905" y="4695031"/>
            <a:ext cx="491993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Large 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2905" y="5095577"/>
            <a:ext cx="4919936" cy="1014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penalty for misclassification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Tries harder to classify training points correctly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lead to a 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smaller, tighter margin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87424" y="4483596"/>
            <a:ext cx="5342796" cy="1837432"/>
          </a:xfrm>
          <a:prstGeom prst="roundRect">
            <a:avLst>
              <a:gd name="adj" fmla="val 4253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8854" y="4695031"/>
            <a:ext cx="491993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Small 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98854" y="5095577"/>
            <a:ext cx="4919936" cy="1014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Allows more violations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Encourages a </a:t>
            </a:r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wider margin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improve generalization on new data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8342213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7" y="1186061"/>
            <a:ext cx="4477333" cy="5969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19807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Kernel Trick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885924"/>
            <a:ext cx="6296860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happens when data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cannot be separated by a straight line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? A linear boundary fails on nonlinear datasets like concentric circles. The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Kernel Trick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solves this by mapping data into a higher-dimensional space where linear separation becomes possible.</a:t>
            </a:r>
            <a:endParaRPr lang="en-US" sz="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1165820"/>
            <a:ext cx="6296860" cy="30779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0101" y="2224844"/>
            <a:ext cx="1467968" cy="183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Original 2D Data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8861340" y="1520202"/>
            <a:ext cx="1467968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Apply Kernel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9414886" y="2968634"/>
            <a:ext cx="1809067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Higher-Dimensional Space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427775" y="3686325"/>
            <a:ext cx="1467968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Linear Separation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233360" y="4296866"/>
            <a:ext cx="6296860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kernel function computes similarity in the higher-dimensional space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without explicitly computing the transformation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making it computationally efficient.</a:t>
            </a:r>
            <a:endParaRPr lang="en-US" sz="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576762"/>
            <a:ext cx="6296860" cy="774402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5088" y="4661694"/>
            <a:ext cx="113404" cy="1134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40514" y="4954687"/>
            <a:ext cx="60825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Linear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5340514" y="5130602"/>
            <a:ext cx="60825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linearly separable data</a:t>
            </a:r>
            <a:endParaRPr lang="en-US" sz="7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3360" y="5398393"/>
            <a:ext cx="6296860" cy="774402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25088" y="5483324"/>
            <a:ext cx="113404" cy="11340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40514" y="5776317"/>
            <a:ext cx="60825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Polynomial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5340514" y="5952232"/>
            <a:ext cx="60825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Captures polynomial relationships</a:t>
            </a:r>
            <a:endParaRPr lang="en-US" sz="7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3360" y="6220023"/>
            <a:ext cx="6296860" cy="780752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25088" y="6304955"/>
            <a:ext cx="113404" cy="113407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340514" y="6597948"/>
            <a:ext cx="6082553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RBF 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</a:t>
            </a:r>
            <a:endParaRPr lang="en-US" sz="900" dirty="0"/>
          </a:p>
        </p:txBody>
      </p:sp>
      <p:sp>
        <p:nvSpPr>
          <p:cNvPr id="23" name="Text 13"/>
          <p:cNvSpPr/>
          <p:nvPr/>
        </p:nvSpPr>
        <p:spPr>
          <a:xfrm>
            <a:off x="5340514" y="6780213"/>
            <a:ext cx="60825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commonly used nonlinear kernel</a:t>
            </a:r>
            <a:endParaRPr lang="en-US" sz="7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33360" y="7048004"/>
            <a:ext cx="6296860" cy="774402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25088" y="7132935"/>
            <a:ext cx="113404" cy="113407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340514" y="7425928"/>
            <a:ext cx="60825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Sigmoid</a:t>
            </a:r>
            <a:endParaRPr lang="en-US" sz="900" dirty="0"/>
          </a:p>
        </p:txBody>
      </p:sp>
      <p:sp>
        <p:nvSpPr>
          <p:cNvPr id="27" name="Text 15"/>
          <p:cNvSpPr/>
          <p:nvPr/>
        </p:nvSpPr>
        <p:spPr>
          <a:xfrm>
            <a:off x="5340514" y="7601843"/>
            <a:ext cx="60825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Similar to neural network activation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849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SVM Classification Workflow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44563"/>
            <a:ext cx="6925990" cy="29866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7561" y="4164859"/>
            <a:ext cx="1571254" cy="19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 SVM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27561" y="3473490"/>
            <a:ext cx="1571254" cy="19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Choose Kernel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27561" y="2789105"/>
            <a:ext cx="1571254" cy="19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Scaling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27561" y="2097736"/>
            <a:ext cx="1571254" cy="196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90084" y="1396305"/>
            <a:ext cx="35464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Feature Scaling Matters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90084" y="1789609"/>
            <a:ext cx="3546485" cy="2299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SVM relies on geometric distances. When features have very different scales, the optimization is dominated by the larger-scale feature.</a:t>
            </a:r>
            <a:endParaRPr lang="en-US" sz="12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scaling, Income dominates the distance calculation. After scaling (e.g., StandardScaler), both features contribute equally to the decision boundary — leading to a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fairer, more accurate model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990084" y="4246563"/>
            <a:ext cx="3546485" cy="815578"/>
          </a:xfrm>
          <a:prstGeom prst="roundRect">
            <a:avLst>
              <a:gd name="adj" fmla="val 8365"/>
            </a:avLst>
          </a:prstGeom>
          <a:solidFill>
            <a:srgbClr val="FCF2B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502" y="4462264"/>
            <a:ext cx="202996" cy="1624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17915" y="4412754"/>
            <a:ext cx="2856238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scale features before training an SVM.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376069"/>
            <a:ext cx="5364624" cy="9420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9140" y="5557540"/>
            <a:ext cx="492549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1: Age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919140" y="5895082"/>
            <a:ext cx="492549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Range: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 – 60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5597" y="5376069"/>
            <a:ext cx="5364624" cy="94208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23261" y="5557540"/>
            <a:ext cx="492549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2: Income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6423261" y="5895082"/>
            <a:ext cx="492549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Range: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₹20,000 – ₹2,00,000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SVM Hyperparameters + Evaluation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3376017"/>
            <a:ext cx="698393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Hyperparameters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21322" y="3609181"/>
            <a:ext cx="320260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21322" y="3804047"/>
            <a:ext cx="320260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Controls the penalty for classification errors. Large C = strict; Small C = lenient.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442805" y="3609181"/>
            <a:ext cx="320260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Kernel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442805" y="3804047"/>
            <a:ext cx="320260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Controls the type of decision boundary: Linear, Polynomial, RBF, Sigmoid.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21322" y="4157762"/>
            <a:ext cx="672408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Gamma (RBF)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21322" y="4352627"/>
            <a:ext cx="672408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 Gamma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More complex, local boundary (risk of overfitting)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Low Gamma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Smoother, broader boundary (better generalization)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882336" y="933152"/>
            <a:ext cx="365413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Metrics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336" y="1133872"/>
            <a:ext cx="3654135" cy="365422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882336" y="4841180"/>
            <a:ext cx="3654135" cy="509885"/>
          </a:xfrm>
          <a:prstGeom prst="roundRect">
            <a:avLst>
              <a:gd name="adj" fmla="val 778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83139" y="4941987"/>
            <a:ext cx="345252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Accuracy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83139" y="5136852"/>
            <a:ext cx="345252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correct predictions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882336" y="5398294"/>
            <a:ext cx="3654135" cy="509885"/>
          </a:xfrm>
          <a:prstGeom prst="roundRect">
            <a:avLst>
              <a:gd name="adj" fmla="val 778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83139" y="5499100"/>
            <a:ext cx="345252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983139" y="5693966"/>
            <a:ext cx="345252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 positive predictions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7882336" y="5955407"/>
            <a:ext cx="3654135" cy="509885"/>
          </a:xfrm>
          <a:prstGeom prst="roundRect">
            <a:avLst>
              <a:gd name="adj" fmla="val 778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83139" y="6056213"/>
            <a:ext cx="345252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Recall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83139" y="6251079"/>
            <a:ext cx="345252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True positives captured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7882336" y="6512520"/>
            <a:ext cx="3654135" cy="509885"/>
          </a:xfrm>
          <a:prstGeom prst="roundRect">
            <a:avLst>
              <a:gd name="adj" fmla="val 778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83139" y="6613327"/>
            <a:ext cx="345252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F1 Score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983139" y="6808192"/>
            <a:ext cx="345252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Harmonic mean of Precision &amp; Recall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Summary &amp; Real-World Applications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3315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SVM Concept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3156" y="1176338"/>
            <a:ext cx="5786987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the decision boundary that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maximizes the margin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between classes.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61475" y="1133872"/>
            <a:ext cx="12700" cy="198338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38529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Concepts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1475" y="1551781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SVM Workflow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1475" y="1746647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 → Scale Features → Choose Kernel → Train SVM → Maximum-Margin Boundary → Predict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217487" y="93315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Real-World Applications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7487" y="1133872"/>
            <a:ext cx="236234" cy="236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17487" y="1429147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Image &amp; Face Recognition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17487" y="1624013"/>
            <a:ext cx="531908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Classifying images and identifying faces in photos</a:t>
            </a:r>
            <a:endParaRPr lang="en-US" sz="7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7487" y="1831876"/>
            <a:ext cx="236234" cy="236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487" y="2127151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Text &amp; Spam Detection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217487" y="2322016"/>
            <a:ext cx="531908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Classifying emails, sentiment, and documents</a:t>
            </a:r>
            <a:endParaRPr lang="en-US" sz="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7487" y="2529880"/>
            <a:ext cx="236234" cy="236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487" y="2825155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Medical Classification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217487" y="3020020"/>
            <a:ext cx="531908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Diagnosing diseases from clinical data</a:t>
            </a:r>
            <a:endParaRPr lang="en-US" sz="7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7487" y="3227884"/>
            <a:ext cx="236234" cy="236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17487" y="3523159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Fraud Detection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217487" y="3718024"/>
            <a:ext cx="531908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Identifying fraudulent transactions in finance</a:t>
            </a:r>
            <a:endParaRPr lang="en-US" sz="700" dirty="0"/>
          </a:p>
        </p:txBody>
      </p:sp>
      <p:sp>
        <p:nvSpPr>
          <p:cNvPr id="22" name="Shape 16"/>
          <p:cNvSpPr/>
          <p:nvPr/>
        </p:nvSpPr>
        <p:spPr>
          <a:xfrm>
            <a:off x="6217487" y="3884513"/>
            <a:ext cx="945134" cy="143470"/>
          </a:xfrm>
          <a:prstGeom prst="roundRect">
            <a:avLst>
              <a:gd name="adj" fmla="val 22134"/>
            </a:avLst>
          </a:prstGeom>
          <a:solidFill>
            <a:srgbClr val="E1E1EA"/>
          </a:solidFill>
          <a:ln/>
        </p:spPr>
      </p:sp>
      <p:sp>
        <p:nvSpPr>
          <p:cNvPr id="23" name="Text 17"/>
          <p:cNvSpPr/>
          <p:nvPr/>
        </p:nvSpPr>
        <p:spPr>
          <a:xfrm>
            <a:off x="6274139" y="3912791"/>
            <a:ext cx="1441414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SVC → CLASSIFICATION</a:t>
            </a:r>
            <a:endParaRPr lang="en-US" sz="550" dirty="0"/>
          </a:p>
        </p:txBody>
      </p:sp>
      <p:sp>
        <p:nvSpPr>
          <p:cNvPr id="24" name="Shape 18"/>
          <p:cNvSpPr/>
          <p:nvPr/>
        </p:nvSpPr>
        <p:spPr>
          <a:xfrm>
            <a:off x="7209848" y="3884513"/>
            <a:ext cx="812085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266500" y="3912791"/>
            <a:ext cx="1308365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SVR → REGRESSION</a:t>
            </a:r>
            <a:endParaRPr lang="en-US" sz="550" dirty="0"/>
          </a:p>
        </p:txBody>
      </p:sp>
      <p:sp>
        <p:nvSpPr>
          <p:cNvPr id="26" name="Shape 20"/>
          <p:cNvSpPr/>
          <p:nvPr/>
        </p:nvSpPr>
        <p:spPr>
          <a:xfrm>
            <a:off x="661475" y="4134148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086716" y="4228604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Decision Boundary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61475" y="4748411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086716" y="4842867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Margin &amp; Support Vectors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61475" y="5362674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86716" y="5457130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 / Soft Margin + C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61475" y="5976937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1086716" y="6071394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Kernel Trick + RBF + Gamma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661475" y="6591201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086716" y="6685657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Scaling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2026-09-16T05:29:57Z</dcterms:created>
  <dcterms:modified xsi:type="dcterms:W3CDTF">2026-09-16T05:29:57Z</dcterms:modified>
</cp:coreProperties>
</file>